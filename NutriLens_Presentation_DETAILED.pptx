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9" r:id="rId4"/>
    <p:sldId id="260" r:id="rId5"/>
    <p:sldId id="261" r:id="rId6"/>
    <p:sldId id="263" r:id="rId7"/>
    <p:sldId id="274" r:id="rId8"/>
    <p:sldId id="279" r:id="rId9"/>
    <p:sldId id="266" r:id="rId10"/>
    <p:sldId id="267" r:id="rId11"/>
    <p:sldId id="268" r:id="rId12"/>
    <p:sldId id="269" r:id="rId13"/>
    <p:sldId id="280" r:id="rId14"/>
    <p:sldId id="281" r:id="rId15"/>
    <p:sldId id="282" r:id="rId16"/>
    <p:sldId id="283" r:id="rId17"/>
    <p:sldId id="284" r:id="rId18"/>
    <p:sldId id="285" r:id="rId19"/>
    <p:sldId id="271" r:id="rId20"/>
    <p:sldId id="272" r:id="rId21"/>
    <p:sldId id="273" r:id="rId22"/>
    <p:sldId id="275" r:id="rId23"/>
    <p:sldId id="277" r:id="rId24"/>
    <p:sldId id="278"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54"/>
    <p:restoredTop sz="94610"/>
  </p:normalViewPr>
  <p:slideViewPr>
    <p:cSldViewPr snapToGrid="0" snapToObjects="1">
      <p:cViewPr>
        <p:scale>
          <a:sx n="144" d="100"/>
          <a:sy n="144" d="100"/>
        </p:scale>
        <p:origin x="-240"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Top-1 Accuracy (%)</c:v>
                </c:pt>
              </c:strCache>
            </c:strRef>
          </c:tx>
          <c:spPr>
            <a:solidFill>
              <a:srgbClr val="1F7A54"/>
            </a:solidFill>
            <a:effectLst/>
          </c:spPr>
          <c:invertIfNegative val="0"/>
          <c:dLbls>
            <c:numFmt formatCode="0&quot;%&quot;" sourceLinked="0"/>
            <c:spPr>
              <a:noFill/>
              <a:ln>
                <a:noFill/>
              </a:ln>
              <a:effectLst/>
            </c:spPr>
            <c:txPr>
              <a:bodyPr/>
              <a:lstStyle/>
              <a:p>
                <a:pPr>
                  <a:defRPr sz="1200" b="0" i="0" u="none" strike="noStrike">
                    <a:solidFill>
                      <a:srgbClr val="16201C"/>
                    </a:solidFill>
                    <a:latin typeface="Arial"/>
                  </a:defRPr>
                </a:pPr>
                <a:endParaRPr lang="en-J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NutriLens
(EfficientNet-B4)</c:v>
                </c:pt>
                <c:pt idx="1">
                  <c:v>ResNet-50
Baseline</c:v>
                </c:pt>
                <c:pt idx="2">
                  <c:v>80% Target
(NFR)</c:v>
                </c:pt>
                <c:pt idx="3">
                  <c:v>Commercial
Apps (avg.)</c:v>
                </c:pt>
              </c:strCache>
            </c:strRef>
          </c:cat>
          <c:val>
            <c:numRef>
              <c:f>Sheet1!$B$2:$B$5</c:f>
              <c:numCache>
                <c:formatCode>General</c:formatCode>
                <c:ptCount val="4"/>
                <c:pt idx="0">
                  <c:v>91.4</c:v>
                </c:pt>
                <c:pt idx="1">
                  <c:v>83</c:v>
                </c:pt>
                <c:pt idx="2">
                  <c:v>80</c:v>
                </c:pt>
                <c:pt idx="3">
                  <c:v>46</c:v>
                </c:pt>
              </c:numCache>
            </c:numRef>
          </c:val>
          <c:extLst>
            <c:ext xmlns:c16="http://schemas.microsoft.com/office/drawing/2014/chart" uri="{C3380CC4-5D6E-409C-BE32-E72D297353CC}">
              <c16:uniqueId val="{00000000-6FC5-CF4A-B442-3B48EBCC955D}"/>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4650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image" Target="../media/image17.jpeg"/></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1.jpeg"/><Relationship Id="rId4" Type="http://schemas.openxmlformats.org/officeDocument/2006/relationships/image" Target="../media/image20.jpe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1E2623"/>
          </a:solidFill>
          <a:ln/>
        </p:spPr>
      </p:sp>
      <p:sp>
        <p:nvSpPr>
          <p:cNvPr id="3" name="Shape 1"/>
          <p:cNvSpPr/>
          <p:nvPr/>
        </p:nvSpPr>
        <p:spPr>
          <a:xfrm>
            <a:off x="-1645920" y="4937760"/>
            <a:ext cx="4206240" cy="4206240"/>
          </a:xfrm>
          <a:prstGeom prst="ellipse">
            <a:avLst/>
          </a:prstGeom>
          <a:solidFill>
            <a:srgbClr val="1E2623"/>
          </a:solidFill>
          <a:ln/>
        </p:spPr>
      </p:sp>
      <p:sp>
        <p:nvSpPr>
          <p:cNvPr id="4" name="Shape 2"/>
          <p:cNvSpPr/>
          <p:nvPr/>
        </p:nvSpPr>
        <p:spPr>
          <a:xfrm>
            <a:off x="822960" y="1234440"/>
            <a:ext cx="566928" cy="566928"/>
          </a:xfrm>
          <a:prstGeom prst="roundRect">
            <a:avLst>
              <a:gd name="adj" fmla="val 25806"/>
            </a:avLst>
          </a:prstGeom>
          <a:solidFill>
            <a:srgbClr val="3DDC97"/>
          </a:solidFill>
          <a:ln/>
        </p:spPr>
      </p:sp>
      <p:sp>
        <p:nvSpPr>
          <p:cNvPr id="5" name="Text 3"/>
          <p:cNvSpPr/>
          <p:nvPr/>
        </p:nvSpPr>
        <p:spPr>
          <a:xfrm>
            <a:off x="822960" y="1234440"/>
            <a:ext cx="566928" cy="566928"/>
          </a:xfrm>
          <a:prstGeom prst="rect">
            <a:avLst/>
          </a:prstGeom>
          <a:noFill/>
          <a:ln/>
        </p:spPr>
        <p:txBody>
          <a:bodyPr wrap="square" rtlCol="0" anchor="ctr"/>
          <a:lstStyle/>
          <a:p>
            <a:pPr marL="0" indent="0" algn="ctr">
              <a:buNone/>
            </a:pPr>
            <a:r>
              <a:rPr lang="en-US" sz="2600" b="1" dirty="0">
                <a:solidFill>
                  <a:srgbClr val="14181A"/>
                </a:solidFill>
                <a:latin typeface="Cambria" pitchFamily="34" charset="0"/>
                <a:ea typeface="Cambria" pitchFamily="34" charset="-122"/>
                <a:cs typeface="Cambria" pitchFamily="34" charset="-120"/>
              </a:rPr>
              <a:t>N</a:t>
            </a:r>
            <a:endParaRPr lang="en-US" sz="2600" dirty="0"/>
          </a:p>
        </p:txBody>
      </p:sp>
      <p:sp>
        <p:nvSpPr>
          <p:cNvPr id="6" name="Text 4"/>
          <p:cNvSpPr/>
          <p:nvPr/>
        </p:nvSpPr>
        <p:spPr>
          <a:xfrm>
            <a:off x="777240" y="1965960"/>
            <a:ext cx="9144000" cy="100584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NutriLens</a:t>
            </a:r>
            <a:endParaRPr lang="en-US" sz="5400" dirty="0"/>
          </a:p>
        </p:txBody>
      </p:sp>
      <p:sp>
        <p:nvSpPr>
          <p:cNvPr id="7" name="Text 5"/>
          <p:cNvSpPr/>
          <p:nvPr/>
        </p:nvSpPr>
        <p:spPr>
          <a:xfrm>
            <a:off x="822960" y="2880360"/>
            <a:ext cx="8686800" cy="548640"/>
          </a:xfrm>
          <a:prstGeom prst="rect">
            <a:avLst/>
          </a:prstGeom>
          <a:noFill/>
          <a:ln/>
        </p:spPr>
        <p:txBody>
          <a:bodyPr wrap="square" rtlCol="0" anchor="ctr"/>
          <a:lstStyle/>
          <a:p>
            <a:pPr marL="0" indent="0">
              <a:buNone/>
            </a:pPr>
            <a:r>
              <a:rPr lang="en-US" sz="2000" dirty="0">
                <a:solidFill>
                  <a:srgbClr val="3DDC97"/>
                </a:solidFill>
                <a:latin typeface="Calibri" pitchFamily="34" charset="0"/>
                <a:ea typeface="Calibri" pitchFamily="34" charset="-122"/>
                <a:cs typeface="Calibri" pitchFamily="34" charset="-120"/>
              </a:rPr>
              <a:t>AI Food Recognition System</a:t>
            </a:r>
            <a:endParaRPr lang="en-US" sz="2000" dirty="0"/>
          </a:p>
        </p:txBody>
      </p:sp>
      <p:sp>
        <p:nvSpPr>
          <p:cNvPr id="8" name="Text 6"/>
          <p:cNvSpPr/>
          <p:nvPr/>
        </p:nvSpPr>
        <p:spPr>
          <a:xfrm>
            <a:off x="822960" y="3429000"/>
            <a:ext cx="7863840" cy="640080"/>
          </a:xfrm>
          <a:prstGeom prst="rect">
            <a:avLst/>
          </a:prstGeom>
          <a:noFill/>
          <a:ln/>
        </p:spPr>
        <p:txBody>
          <a:bodyPr wrap="square" rtlCol="0" anchor="ctr"/>
          <a:lstStyle/>
          <a:p>
            <a:pPr marL="0" indent="0">
              <a:buNone/>
            </a:pPr>
            <a:r>
              <a:rPr lang="en-US" sz="1350" dirty="0">
                <a:solidFill>
                  <a:srgbClr val="C7CFCB"/>
                </a:solidFill>
                <a:latin typeface="Calibri" pitchFamily="34" charset="0"/>
                <a:ea typeface="Calibri" pitchFamily="34" charset="-122"/>
                <a:cs typeface="Calibri" pitchFamily="34" charset="-120"/>
              </a:rPr>
              <a:t>Photograph a meal. Get an AI-verified nutrition breakdown and personalised guidance — no manual food search.</a:t>
            </a:r>
            <a:endParaRPr lang="en-US" sz="1350" dirty="0"/>
          </a:p>
        </p:txBody>
      </p:sp>
      <p:sp>
        <p:nvSpPr>
          <p:cNvPr id="9" name="Shape 7"/>
          <p:cNvSpPr/>
          <p:nvPr/>
        </p:nvSpPr>
        <p:spPr>
          <a:xfrm>
            <a:off x="822960" y="4297680"/>
            <a:ext cx="3840480" cy="0"/>
          </a:xfrm>
          <a:prstGeom prst="line">
            <a:avLst/>
          </a:prstGeom>
          <a:noFill/>
          <a:ln w="12700">
            <a:solidFill>
              <a:srgbClr val="34403B"/>
            </a:solidFill>
            <a:prstDash val="solid"/>
          </a:ln>
        </p:spPr>
      </p:sp>
      <p:sp>
        <p:nvSpPr>
          <p:cNvPr id="10" name="Text 8"/>
          <p:cNvSpPr/>
          <p:nvPr/>
        </p:nvSpPr>
        <p:spPr>
          <a:xfrm>
            <a:off x="822960" y="4480560"/>
            <a:ext cx="731520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Mohannad Alhemsi</a:t>
            </a:r>
            <a:r>
              <a:rPr lang="en-US" sz="1500" dirty="0">
                <a:solidFill>
                  <a:srgbClr val="6B7280"/>
                </a:solidFill>
                <a:latin typeface="Calibri" pitchFamily="34" charset="0"/>
                <a:ea typeface="Calibri" pitchFamily="34" charset="-122"/>
                <a:cs typeface="Calibri" pitchFamily="34" charset="-120"/>
              </a:rPr>
              <a:t>  &amp;  </a:t>
            </a:r>
            <a:r>
              <a:rPr lang="en-US" sz="1500" b="1" dirty="0">
                <a:solidFill>
                  <a:srgbClr val="FFFFFF"/>
                </a:solidFill>
                <a:latin typeface="Calibri" pitchFamily="34" charset="0"/>
                <a:ea typeface="Calibri" pitchFamily="34" charset="-122"/>
                <a:cs typeface="Calibri" pitchFamily="34" charset="-120"/>
              </a:rPr>
              <a:t>Shatha Alghrair</a:t>
            </a:r>
            <a:endParaRPr lang="en-US" sz="1500" dirty="0"/>
          </a:p>
        </p:txBody>
      </p:sp>
      <p:sp>
        <p:nvSpPr>
          <p:cNvPr id="11" name="Text 9"/>
          <p:cNvSpPr/>
          <p:nvPr/>
        </p:nvSpPr>
        <p:spPr>
          <a:xfrm>
            <a:off x="822960" y="4846320"/>
            <a:ext cx="7315200" cy="32004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Middle East University  ·  Faculty of Information Technology</a:t>
            </a:r>
            <a:endParaRPr lang="en-US" sz="1250" dirty="0"/>
          </a:p>
        </p:txBody>
      </p:sp>
      <p:sp>
        <p:nvSpPr>
          <p:cNvPr id="12" name="Text 10"/>
          <p:cNvSpPr/>
          <p:nvPr/>
        </p:nvSpPr>
        <p:spPr>
          <a:xfrm>
            <a:off x="822960" y="5138928"/>
            <a:ext cx="7315200" cy="32004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Supervised by Prof. Maria Yousef </a:t>
            </a:r>
            <a:endParaRPr lang="en-US" sz="1250" dirty="0"/>
          </a:p>
        </p:txBody>
      </p:sp>
      <p:sp>
        <p:nvSpPr>
          <p:cNvPr id="13" name="Shape 11"/>
          <p:cNvSpPr/>
          <p:nvPr/>
        </p:nvSpPr>
        <p:spPr>
          <a:xfrm>
            <a:off x="8677656" y="905256"/>
            <a:ext cx="2393442" cy="5184648"/>
          </a:xfrm>
          <a:prstGeom prst="roundRect">
            <a:avLst>
              <a:gd name="adj" fmla="val 5349"/>
            </a:avLst>
          </a:prstGeom>
          <a:solidFill>
            <a:srgbClr val="FFFFFF"/>
          </a:solidFill>
          <a:ln w="12700">
            <a:solidFill>
              <a:srgbClr val="E3E9E6"/>
            </a:solidFill>
            <a:prstDash val="solid"/>
          </a:ln>
          <a:effectLst>
            <a:outerShdw blurRad="127000" dist="38100" dir="5400000" algn="bl" rotWithShape="0">
              <a:srgbClr val="000000">
                <a:alpha val="25000"/>
              </a:srgbClr>
            </a:outerShdw>
          </a:effectLst>
        </p:spPr>
      </p:sp>
      <p:pic>
        <p:nvPicPr>
          <p:cNvPr id="14" name="Image 0" descr="assets/home.jpeg"/>
          <p:cNvPicPr>
            <a:picLocks noChangeAspect="1"/>
          </p:cNvPicPr>
          <p:nvPr/>
        </p:nvPicPr>
        <p:blipFill>
          <a:blip r:embed="rId3"/>
          <a:stretch>
            <a:fillRect/>
          </a:stretch>
        </p:blipFill>
        <p:spPr>
          <a:xfrm>
            <a:off x="8732520" y="960120"/>
            <a:ext cx="2283714" cy="5074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1F7A54"/>
                </a:solidFill>
                <a:latin typeface="Calibri" pitchFamily="34" charset="0"/>
                <a:ea typeface="Calibri" pitchFamily="34" charset="-122"/>
                <a:cs typeface="Calibri" pitchFamily="34" charset="-120"/>
              </a:rPr>
              <a:t>AGENDA</a:t>
            </a:r>
            <a:endParaRPr lang="en-US" sz="1300" dirty="0"/>
          </a:p>
        </p:txBody>
      </p:sp>
      <p:sp>
        <p:nvSpPr>
          <p:cNvPr id="3" name="Text 1"/>
          <p:cNvSpPr/>
          <p:nvPr/>
        </p:nvSpPr>
        <p:spPr>
          <a:xfrm>
            <a:off x="548640" y="658368"/>
            <a:ext cx="9601200" cy="822960"/>
          </a:xfrm>
          <a:prstGeom prst="rect">
            <a:avLst/>
          </a:prstGeom>
          <a:noFill/>
          <a:ln/>
        </p:spPr>
        <p:txBody>
          <a:bodyPr wrap="square" rtlCol="0" anchor="ctr"/>
          <a:lstStyle/>
          <a:p>
            <a:pPr marL="0" indent="0">
              <a:buNone/>
            </a:pPr>
            <a:r>
              <a:rPr lang="en-US" sz="3200" b="1" dirty="0">
                <a:solidFill>
                  <a:srgbClr val="16201C"/>
                </a:solidFill>
                <a:latin typeface="Cambria" pitchFamily="34" charset="0"/>
                <a:ea typeface="Cambria" pitchFamily="34" charset="-122"/>
                <a:cs typeface="Cambria" pitchFamily="34" charset="-120"/>
              </a:rPr>
              <a:t>What we'll cover</a:t>
            </a:r>
            <a:endParaRPr lang="en-US" sz="3200" dirty="0"/>
          </a:p>
        </p:txBody>
      </p:sp>
      <p:sp>
        <p:nvSpPr>
          <p:cNvPr id="4" name="Shape 2"/>
          <p:cNvSpPr/>
          <p:nvPr/>
        </p:nvSpPr>
        <p:spPr>
          <a:xfrm>
            <a:off x="548640" y="1965960"/>
            <a:ext cx="5349240" cy="1691640"/>
          </a:xfrm>
          <a:prstGeom prst="roundRect">
            <a:avLst>
              <a:gd name="adj" fmla="val 5405"/>
            </a:avLst>
          </a:prstGeom>
          <a:solidFill>
            <a:srgbClr val="F1F5F3"/>
          </a:solidFill>
          <a:ln/>
        </p:spPr>
      </p:sp>
      <p:sp>
        <p:nvSpPr>
          <p:cNvPr id="5" name="Shape 3"/>
          <p:cNvSpPr/>
          <p:nvPr/>
        </p:nvSpPr>
        <p:spPr>
          <a:xfrm>
            <a:off x="868680" y="2258568"/>
            <a:ext cx="658368" cy="658368"/>
          </a:xfrm>
          <a:prstGeom prst="ellipse">
            <a:avLst/>
          </a:prstGeom>
          <a:solidFill>
            <a:srgbClr val="FFFFFF"/>
          </a:solidFill>
          <a:ln/>
        </p:spPr>
      </p:sp>
      <p:pic>
        <p:nvPicPr>
          <p:cNvPr id="6" name="Image 0" descr="assets/icon_target_14181A.png"/>
          <p:cNvPicPr>
            <a:picLocks noChangeAspect="1"/>
          </p:cNvPicPr>
          <p:nvPr/>
        </p:nvPicPr>
        <p:blipFill>
          <a:blip r:embed="rId3"/>
          <a:stretch>
            <a:fillRect/>
          </a:stretch>
        </p:blipFill>
        <p:spPr>
          <a:xfrm>
            <a:off x="1039856" y="2429744"/>
            <a:ext cx="316017" cy="316017"/>
          </a:xfrm>
          <a:prstGeom prst="rect">
            <a:avLst/>
          </a:prstGeom>
        </p:spPr>
      </p:pic>
      <p:sp>
        <p:nvSpPr>
          <p:cNvPr id="7" name="Text 4"/>
          <p:cNvSpPr/>
          <p:nvPr/>
        </p:nvSpPr>
        <p:spPr>
          <a:xfrm>
            <a:off x="1737360" y="2221992"/>
            <a:ext cx="3886200" cy="457200"/>
          </a:xfrm>
          <a:prstGeom prst="rect">
            <a:avLst/>
          </a:prstGeom>
          <a:noFill/>
          <a:ln/>
        </p:spPr>
        <p:txBody>
          <a:bodyPr wrap="square" rtlCol="0" anchor="ctr"/>
          <a:lstStyle/>
          <a:p>
            <a:pPr marL="0" indent="0">
              <a:buNone/>
            </a:pPr>
            <a:r>
              <a:rPr lang="en-US" sz="1650" b="1" dirty="0">
                <a:solidFill>
                  <a:srgbClr val="16201C"/>
                </a:solidFill>
                <a:latin typeface="Calibri" pitchFamily="34" charset="0"/>
                <a:ea typeface="Calibri" pitchFamily="34" charset="-122"/>
                <a:cs typeface="Calibri" pitchFamily="34" charset="-120"/>
              </a:rPr>
              <a:t>The Problem &amp; Our Solution</a:t>
            </a:r>
            <a:endParaRPr lang="en-US" sz="1650" dirty="0"/>
          </a:p>
        </p:txBody>
      </p:sp>
      <p:sp>
        <p:nvSpPr>
          <p:cNvPr id="8" name="Text 5"/>
          <p:cNvSpPr/>
          <p:nvPr/>
        </p:nvSpPr>
        <p:spPr>
          <a:xfrm>
            <a:off x="1737360" y="2679192"/>
            <a:ext cx="3886200" cy="822960"/>
          </a:xfrm>
          <a:prstGeom prst="rect">
            <a:avLst/>
          </a:prstGeom>
          <a:noFill/>
          <a:ln/>
        </p:spPr>
        <p:txBody>
          <a:bodyPr wrap="square" rtlCol="0" anchor="t"/>
          <a:lstStyle/>
          <a:p>
            <a:pPr marL="0" indent="0">
              <a:buNone/>
            </a:pPr>
            <a:r>
              <a:rPr lang="en-US" sz="1200" dirty="0">
                <a:solidFill>
                  <a:srgbClr val="6B7280"/>
                </a:solidFill>
                <a:latin typeface="Calibri" pitchFamily="34" charset="0"/>
                <a:ea typeface="Calibri" pitchFamily="34" charset="-122"/>
                <a:cs typeface="Calibri" pitchFamily="34" charset="-120"/>
              </a:rPr>
              <a:t>Why dietary tracking apps fall short, and what NutriLens does differently</a:t>
            </a:r>
            <a:endParaRPr lang="en-US" sz="1200" dirty="0"/>
          </a:p>
        </p:txBody>
      </p:sp>
      <p:sp>
        <p:nvSpPr>
          <p:cNvPr id="9" name="Text 6"/>
          <p:cNvSpPr/>
          <p:nvPr/>
        </p:nvSpPr>
        <p:spPr>
          <a:xfrm>
            <a:off x="5120640" y="2103120"/>
            <a:ext cx="640080" cy="457200"/>
          </a:xfrm>
          <a:prstGeom prst="rect">
            <a:avLst/>
          </a:prstGeom>
          <a:noFill/>
          <a:ln/>
        </p:spPr>
        <p:txBody>
          <a:bodyPr wrap="square" rtlCol="0" anchor="ctr"/>
          <a:lstStyle/>
          <a:p>
            <a:pPr marL="0" indent="0" algn="r">
              <a:buNone/>
            </a:pPr>
            <a:r>
              <a:rPr lang="en-US" sz="2000" b="1" dirty="0">
                <a:solidFill>
                  <a:srgbClr val="1F7A54"/>
                </a:solidFill>
                <a:latin typeface="Cambria" pitchFamily="34" charset="0"/>
                <a:ea typeface="Cambria" pitchFamily="34" charset="-122"/>
                <a:cs typeface="Cambria" pitchFamily="34" charset="-120"/>
              </a:rPr>
              <a:t>01</a:t>
            </a:r>
            <a:endParaRPr lang="en-US" sz="2000" dirty="0"/>
          </a:p>
        </p:txBody>
      </p:sp>
      <p:sp>
        <p:nvSpPr>
          <p:cNvPr id="10" name="Shape 7"/>
          <p:cNvSpPr/>
          <p:nvPr/>
        </p:nvSpPr>
        <p:spPr>
          <a:xfrm>
            <a:off x="6217920" y="1965960"/>
            <a:ext cx="5349240" cy="1691640"/>
          </a:xfrm>
          <a:prstGeom prst="roundRect">
            <a:avLst>
              <a:gd name="adj" fmla="val 5405"/>
            </a:avLst>
          </a:prstGeom>
          <a:solidFill>
            <a:srgbClr val="F1F5F3"/>
          </a:solidFill>
          <a:ln/>
        </p:spPr>
      </p:sp>
      <p:sp>
        <p:nvSpPr>
          <p:cNvPr id="11" name="Shape 8"/>
          <p:cNvSpPr/>
          <p:nvPr/>
        </p:nvSpPr>
        <p:spPr>
          <a:xfrm>
            <a:off x="6537960" y="2258568"/>
            <a:ext cx="658368" cy="658368"/>
          </a:xfrm>
          <a:prstGeom prst="ellipse">
            <a:avLst/>
          </a:prstGeom>
          <a:solidFill>
            <a:srgbClr val="FFFFFF"/>
          </a:solidFill>
          <a:ln/>
        </p:spPr>
      </p:sp>
      <p:pic>
        <p:nvPicPr>
          <p:cNvPr id="12" name="Image 1" descr="assets/icon_layers_14181A.png"/>
          <p:cNvPicPr>
            <a:picLocks noChangeAspect="1"/>
          </p:cNvPicPr>
          <p:nvPr/>
        </p:nvPicPr>
        <p:blipFill>
          <a:blip r:embed="rId4"/>
          <a:stretch>
            <a:fillRect/>
          </a:stretch>
        </p:blipFill>
        <p:spPr>
          <a:xfrm>
            <a:off x="6709136" y="2429744"/>
            <a:ext cx="316017" cy="316017"/>
          </a:xfrm>
          <a:prstGeom prst="rect">
            <a:avLst/>
          </a:prstGeom>
        </p:spPr>
      </p:pic>
      <p:sp>
        <p:nvSpPr>
          <p:cNvPr id="13" name="Text 9"/>
          <p:cNvSpPr/>
          <p:nvPr/>
        </p:nvSpPr>
        <p:spPr>
          <a:xfrm>
            <a:off x="7406640" y="2221992"/>
            <a:ext cx="3886200" cy="457200"/>
          </a:xfrm>
          <a:prstGeom prst="rect">
            <a:avLst/>
          </a:prstGeom>
          <a:noFill/>
          <a:ln/>
        </p:spPr>
        <p:txBody>
          <a:bodyPr wrap="square" rtlCol="0" anchor="ctr"/>
          <a:lstStyle/>
          <a:p>
            <a:pPr marL="0" indent="0">
              <a:buNone/>
            </a:pPr>
            <a:r>
              <a:rPr lang="en-US" sz="1650" b="1" dirty="0">
                <a:solidFill>
                  <a:srgbClr val="16201C"/>
                </a:solidFill>
                <a:latin typeface="Calibri" pitchFamily="34" charset="0"/>
                <a:ea typeface="Calibri" pitchFamily="34" charset="-122"/>
                <a:cs typeface="Calibri" pitchFamily="34" charset="-120"/>
              </a:rPr>
              <a:t>Architecture &amp; the AI Model</a:t>
            </a:r>
            <a:endParaRPr lang="en-US" sz="1650" dirty="0"/>
          </a:p>
        </p:txBody>
      </p:sp>
      <p:sp>
        <p:nvSpPr>
          <p:cNvPr id="14" name="Text 10"/>
          <p:cNvSpPr/>
          <p:nvPr/>
        </p:nvSpPr>
        <p:spPr>
          <a:xfrm>
            <a:off x="7406640" y="2679192"/>
            <a:ext cx="3886200" cy="822960"/>
          </a:xfrm>
          <a:prstGeom prst="rect">
            <a:avLst/>
          </a:prstGeom>
          <a:noFill/>
          <a:ln/>
        </p:spPr>
        <p:txBody>
          <a:bodyPr wrap="square" rtlCol="0" anchor="t"/>
          <a:lstStyle/>
          <a:p>
            <a:pPr marL="0" indent="0">
              <a:buNone/>
            </a:pPr>
            <a:r>
              <a:rPr lang="en-US" sz="1200" dirty="0">
                <a:solidFill>
                  <a:srgbClr val="6B7280"/>
                </a:solidFill>
                <a:latin typeface="Calibri" pitchFamily="34" charset="0"/>
                <a:ea typeface="Calibri" pitchFamily="34" charset="-122"/>
                <a:cs typeface="Calibri" pitchFamily="34" charset="-120"/>
              </a:rPr>
              <a:t>How the system is built, and how the classifier was trained and evaluated</a:t>
            </a:r>
            <a:endParaRPr lang="en-US" sz="1200" dirty="0"/>
          </a:p>
        </p:txBody>
      </p:sp>
      <p:sp>
        <p:nvSpPr>
          <p:cNvPr id="15" name="Text 11"/>
          <p:cNvSpPr/>
          <p:nvPr/>
        </p:nvSpPr>
        <p:spPr>
          <a:xfrm>
            <a:off x="10789920" y="2103120"/>
            <a:ext cx="640080" cy="457200"/>
          </a:xfrm>
          <a:prstGeom prst="rect">
            <a:avLst/>
          </a:prstGeom>
          <a:noFill/>
          <a:ln/>
        </p:spPr>
        <p:txBody>
          <a:bodyPr wrap="square" rtlCol="0" anchor="ctr"/>
          <a:lstStyle/>
          <a:p>
            <a:pPr marL="0" indent="0" algn="r">
              <a:buNone/>
            </a:pPr>
            <a:r>
              <a:rPr lang="en-US" sz="2000" b="1" dirty="0">
                <a:solidFill>
                  <a:srgbClr val="1F7A54"/>
                </a:solidFill>
                <a:latin typeface="Cambria" pitchFamily="34" charset="0"/>
                <a:ea typeface="Cambria" pitchFamily="34" charset="-122"/>
                <a:cs typeface="Cambria" pitchFamily="34" charset="-120"/>
              </a:rPr>
              <a:t>02</a:t>
            </a:r>
            <a:endParaRPr lang="en-US" sz="2000" dirty="0"/>
          </a:p>
        </p:txBody>
      </p:sp>
      <p:sp>
        <p:nvSpPr>
          <p:cNvPr id="16" name="Shape 12"/>
          <p:cNvSpPr/>
          <p:nvPr/>
        </p:nvSpPr>
        <p:spPr>
          <a:xfrm>
            <a:off x="548640" y="3931920"/>
            <a:ext cx="5349240" cy="1691640"/>
          </a:xfrm>
          <a:prstGeom prst="roundRect">
            <a:avLst>
              <a:gd name="adj" fmla="val 5405"/>
            </a:avLst>
          </a:prstGeom>
          <a:solidFill>
            <a:srgbClr val="F1F5F3"/>
          </a:solidFill>
          <a:ln/>
        </p:spPr>
      </p:sp>
      <p:sp>
        <p:nvSpPr>
          <p:cNvPr id="17" name="Shape 13"/>
          <p:cNvSpPr/>
          <p:nvPr/>
        </p:nvSpPr>
        <p:spPr>
          <a:xfrm>
            <a:off x="868680" y="4224528"/>
            <a:ext cx="658368" cy="658368"/>
          </a:xfrm>
          <a:prstGeom prst="ellipse">
            <a:avLst/>
          </a:prstGeom>
          <a:solidFill>
            <a:srgbClr val="FFFFFF"/>
          </a:solidFill>
          <a:ln/>
        </p:spPr>
      </p:sp>
      <p:pic>
        <p:nvPicPr>
          <p:cNvPr id="18" name="Image 2" descr="assets/icon_smartphone_14181A.png"/>
          <p:cNvPicPr>
            <a:picLocks noChangeAspect="1"/>
          </p:cNvPicPr>
          <p:nvPr/>
        </p:nvPicPr>
        <p:blipFill>
          <a:blip r:embed="rId5"/>
          <a:stretch>
            <a:fillRect/>
          </a:stretch>
        </p:blipFill>
        <p:spPr>
          <a:xfrm>
            <a:off x="1039856" y="4395704"/>
            <a:ext cx="316017" cy="316017"/>
          </a:xfrm>
          <a:prstGeom prst="rect">
            <a:avLst/>
          </a:prstGeom>
        </p:spPr>
      </p:pic>
      <p:sp>
        <p:nvSpPr>
          <p:cNvPr id="19" name="Text 14"/>
          <p:cNvSpPr/>
          <p:nvPr/>
        </p:nvSpPr>
        <p:spPr>
          <a:xfrm>
            <a:off x="1737360" y="4187952"/>
            <a:ext cx="3886200" cy="457200"/>
          </a:xfrm>
          <a:prstGeom prst="rect">
            <a:avLst/>
          </a:prstGeom>
          <a:noFill/>
          <a:ln/>
        </p:spPr>
        <p:txBody>
          <a:bodyPr wrap="square" rtlCol="0" anchor="ctr"/>
          <a:lstStyle/>
          <a:p>
            <a:pPr marL="0" indent="0">
              <a:buNone/>
            </a:pPr>
            <a:r>
              <a:rPr lang="en-US" sz="1650" b="1" dirty="0">
                <a:solidFill>
                  <a:srgbClr val="16201C"/>
                </a:solidFill>
                <a:latin typeface="Calibri" pitchFamily="34" charset="0"/>
                <a:ea typeface="Calibri" pitchFamily="34" charset="-122"/>
                <a:cs typeface="Calibri" pitchFamily="34" charset="-120"/>
              </a:rPr>
              <a:t>The Vision Pipeline in Depth</a:t>
            </a:r>
            <a:endParaRPr lang="en-US" sz="1650" dirty="0"/>
          </a:p>
        </p:txBody>
      </p:sp>
      <p:sp>
        <p:nvSpPr>
          <p:cNvPr id="20" name="Text 15"/>
          <p:cNvSpPr/>
          <p:nvPr/>
        </p:nvSpPr>
        <p:spPr>
          <a:xfrm>
            <a:off x="1737360" y="4645152"/>
            <a:ext cx="3886200" cy="822960"/>
          </a:xfrm>
          <a:prstGeom prst="rect">
            <a:avLst/>
          </a:prstGeom>
          <a:noFill/>
          <a:ln/>
        </p:spPr>
        <p:txBody>
          <a:bodyPr wrap="square" rtlCol="0" anchor="t"/>
          <a:lstStyle/>
          <a:p>
            <a:pPr marL="0" indent="0">
              <a:buNone/>
            </a:pPr>
            <a:r>
              <a:rPr lang="en-US" sz="1200" dirty="0">
                <a:solidFill>
                  <a:srgbClr val="6B7280"/>
                </a:solidFill>
                <a:latin typeface="Calibri" pitchFamily="34" charset="0"/>
                <a:ea typeface="Calibri" pitchFamily="34" charset="-122"/>
                <a:cs typeface="Calibri" pitchFamily="34" charset="-120"/>
              </a:rPr>
              <a:t>Input gates, portion estimation, USDA nutrition, and personalised insights</a:t>
            </a:r>
            <a:endParaRPr lang="en-US" sz="1200" dirty="0"/>
          </a:p>
        </p:txBody>
      </p:sp>
      <p:sp>
        <p:nvSpPr>
          <p:cNvPr id="21" name="Text 16"/>
          <p:cNvSpPr/>
          <p:nvPr/>
        </p:nvSpPr>
        <p:spPr>
          <a:xfrm>
            <a:off x="5120640" y="4069080"/>
            <a:ext cx="640080" cy="457200"/>
          </a:xfrm>
          <a:prstGeom prst="rect">
            <a:avLst/>
          </a:prstGeom>
          <a:noFill/>
          <a:ln/>
        </p:spPr>
        <p:txBody>
          <a:bodyPr wrap="square" rtlCol="0" anchor="ctr"/>
          <a:lstStyle/>
          <a:p>
            <a:pPr marL="0" indent="0" algn="r">
              <a:buNone/>
            </a:pPr>
            <a:r>
              <a:rPr lang="en-US" sz="2000" b="1" dirty="0">
                <a:solidFill>
                  <a:srgbClr val="1F7A54"/>
                </a:solidFill>
                <a:latin typeface="Cambria" pitchFamily="34" charset="0"/>
                <a:ea typeface="Cambria" pitchFamily="34" charset="-122"/>
                <a:cs typeface="Cambria" pitchFamily="34" charset="-120"/>
              </a:rPr>
              <a:t>03</a:t>
            </a:r>
            <a:endParaRPr lang="en-US" sz="2000" dirty="0"/>
          </a:p>
        </p:txBody>
      </p:sp>
      <p:sp>
        <p:nvSpPr>
          <p:cNvPr id="22" name="Shape 17"/>
          <p:cNvSpPr/>
          <p:nvPr/>
        </p:nvSpPr>
        <p:spPr>
          <a:xfrm>
            <a:off x="6217920" y="3931920"/>
            <a:ext cx="5349240" cy="1691640"/>
          </a:xfrm>
          <a:prstGeom prst="roundRect">
            <a:avLst>
              <a:gd name="adj" fmla="val 5405"/>
            </a:avLst>
          </a:prstGeom>
          <a:solidFill>
            <a:srgbClr val="F1F5F3"/>
          </a:solidFill>
          <a:ln/>
        </p:spPr>
      </p:sp>
      <p:sp>
        <p:nvSpPr>
          <p:cNvPr id="23" name="Shape 18"/>
          <p:cNvSpPr/>
          <p:nvPr/>
        </p:nvSpPr>
        <p:spPr>
          <a:xfrm>
            <a:off x="6537960" y="4224528"/>
            <a:ext cx="658368" cy="658368"/>
          </a:xfrm>
          <a:prstGeom prst="ellipse">
            <a:avLst/>
          </a:prstGeom>
          <a:solidFill>
            <a:srgbClr val="FFFFFF"/>
          </a:solidFill>
          <a:ln/>
        </p:spPr>
      </p:sp>
      <p:pic>
        <p:nvPicPr>
          <p:cNvPr id="24" name="Image 3" descr="assets/icon_shield_14181A.png"/>
          <p:cNvPicPr>
            <a:picLocks noChangeAspect="1"/>
          </p:cNvPicPr>
          <p:nvPr/>
        </p:nvPicPr>
        <p:blipFill>
          <a:blip r:embed="rId6"/>
          <a:stretch>
            <a:fillRect/>
          </a:stretch>
        </p:blipFill>
        <p:spPr>
          <a:xfrm>
            <a:off x="6709136" y="4395704"/>
            <a:ext cx="316017" cy="316017"/>
          </a:xfrm>
          <a:prstGeom prst="rect">
            <a:avLst/>
          </a:prstGeom>
        </p:spPr>
      </p:pic>
      <p:sp>
        <p:nvSpPr>
          <p:cNvPr id="25" name="Text 19"/>
          <p:cNvSpPr/>
          <p:nvPr/>
        </p:nvSpPr>
        <p:spPr>
          <a:xfrm>
            <a:off x="7406640" y="4187952"/>
            <a:ext cx="3886200" cy="457200"/>
          </a:xfrm>
          <a:prstGeom prst="rect">
            <a:avLst/>
          </a:prstGeom>
          <a:noFill/>
          <a:ln/>
        </p:spPr>
        <p:txBody>
          <a:bodyPr wrap="square" rtlCol="0" anchor="ctr"/>
          <a:lstStyle/>
          <a:p>
            <a:pPr marL="0" indent="0">
              <a:buNone/>
            </a:pPr>
            <a:r>
              <a:rPr lang="en-US" sz="1650" b="1" dirty="0">
                <a:solidFill>
                  <a:srgbClr val="16201C"/>
                </a:solidFill>
                <a:latin typeface="Calibri" pitchFamily="34" charset="0"/>
                <a:ea typeface="Calibri" pitchFamily="34" charset="-122"/>
                <a:cs typeface="Calibri" pitchFamily="34" charset="-120"/>
              </a:rPr>
              <a:t>The App, Testing &amp; What's Next</a:t>
            </a:r>
            <a:endParaRPr lang="en-US" sz="1650" dirty="0"/>
          </a:p>
        </p:txBody>
      </p:sp>
      <p:sp>
        <p:nvSpPr>
          <p:cNvPr id="26" name="Text 20"/>
          <p:cNvSpPr/>
          <p:nvPr/>
        </p:nvSpPr>
        <p:spPr>
          <a:xfrm>
            <a:off x="7406640" y="4645152"/>
            <a:ext cx="3886200" cy="822960"/>
          </a:xfrm>
          <a:prstGeom prst="rect">
            <a:avLst/>
          </a:prstGeom>
          <a:noFill/>
          <a:ln/>
        </p:spPr>
        <p:txBody>
          <a:bodyPr wrap="square" rtlCol="0" anchor="t"/>
          <a:lstStyle/>
          <a:p>
            <a:pPr marL="0" indent="0">
              <a:buNone/>
            </a:pPr>
            <a:r>
              <a:rPr lang="en-US" sz="1200" dirty="0">
                <a:solidFill>
                  <a:srgbClr val="6B7280"/>
                </a:solidFill>
                <a:latin typeface="Calibri" pitchFamily="34" charset="0"/>
                <a:ea typeface="Calibri" pitchFamily="34" charset="-122"/>
                <a:cs typeface="Calibri" pitchFamily="34" charset="-120"/>
              </a:rPr>
              <a:t>A tour on real hardware, the evidence it works, and its honest limits</a:t>
            </a:r>
            <a:endParaRPr lang="en-US" sz="1200" dirty="0"/>
          </a:p>
        </p:txBody>
      </p:sp>
      <p:sp>
        <p:nvSpPr>
          <p:cNvPr id="27" name="Text 21"/>
          <p:cNvSpPr/>
          <p:nvPr/>
        </p:nvSpPr>
        <p:spPr>
          <a:xfrm>
            <a:off x="10789920" y="4069080"/>
            <a:ext cx="640080" cy="457200"/>
          </a:xfrm>
          <a:prstGeom prst="rect">
            <a:avLst/>
          </a:prstGeom>
          <a:noFill/>
          <a:ln/>
        </p:spPr>
        <p:txBody>
          <a:bodyPr wrap="square" rtlCol="0" anchor="ctr"/>
          <a:lstStyle/>
          <a:p>
            <a:pPr marL="0" indent="0" algn="r">
              <a:buNone/>
            </a:pPr>
            <a:r>
              <a:rPr lang="en-US" sz="2000" b="1" dirty="0">
                <a:solidFill>
                  <a:srgbClr val="1F7A54"/>
                </a:solidFill>
                <a:latin typeface="Cambria" pitchFamily="34" charset="0"/>
                <a:ea typeface="Cambria" pitchFamily="34" charset="-122"/>
                <a:cs typeface="Cambria" pitchFamily="34" charset="-120"/>
              </a:rPr>
              <a:t>04</a:t>
            </a:r>
            <a:endParaRPr lang="en-US" sz="2000" dirty="0"/>
          </a:p>
        </p:txBody>
      </p:sp>
      <p:sp>
        <p:nvSpPr>
          <p:cNvPr id="28" name="Text 22"/>
          <p:cNvSpPr/>
          <p:nvPr/>
        </p:nvSpPr>
        <p:spPr>
          <a:xfrm>
            <a:off x="1154887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1F7A54"/>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548640" y="658368"/>
            <a:ext cx="9601200" cy="822960"/>
          </a:xfrm>
          <a:prstGeom prst="rect">
            <a:avLst/>
          </a:prstGeom>
          <a:noFill/>
          <a:ln/>
        </p:spPr>
        <p:txBody>
          <a:bodyPr wrap="square" rtlCol="0" anchor="ctr"/>
          <a:lstStyle/>
          <a:p>
            <a:pPr marL="0" indent="0">
              <a:buNone/>
            </a:pPr>
            <a:r>
              <a:rPr lang="en-US" sz="3200" b="1" dirty="0">
                <a:solidFill>
                  <a:srgbClr val="16201C"/>
                </a:solidFill>
                <a:latin typeface="Cambria" pitchFamily="34" charset="0"/>
                <a:ea typeface="Cambria" pitchFamily="34" charset="-122"/>
                <a:cs typeface="Cambria" pitchFamily="34" charset="-120"/>
              </a:rPr>
              <a:t>Manual food logging doesn't work</a:t>
            </a:r>
            <a:endParaRPr lang="en-US" sz="3200" dirty="0"/>
          </a:p>
        </p:txBody>
      </p:sp>
      <p:sp>
        <p:nvSpPr>
          <p:cNvPr id="4" name="Text 2"/>
          <p:cNvSpPr/>
          <p:nvPr/>
        </p:nvSpPr>
        <p:spPr>
          <a:xfrm>
            <a:off x="548640" y="1417320"/>
            <a:ext cx="10515600" cy="457200"/>
          </a:xfrm>
          <a:prstGeom prst="rect">
            <a:avLst/>
          </a:prstGeom>
          <a:noFill/>
          <a:ln/>
        </p:spPr>
        <p:txBody>
          <a:bodyPr wrap="square" rtlCol="0" anchor="ctr"/>
          <a:lstStyle/>
          <a:p>
            <a:pPr marL="0" indent="0">
              <a:buNone/>
            </a:pPr>
            <a:r>
              <a:rPr lang="en-US" sz="1350" dirty="0">
                <a:solidFill>
                  <a:srgbClr val="6B7280"/>
                </a:solidFill>
                <a:latin typeface="Calibri" pitchFamily="34" charset="0"/>
                <a:ea typeface="Calibri" pitchFamily="34" charset="-122"/>
                <a:cs typeface="Calibri" pitchFamily="34" charset="-120"/>
              </a:rPr>
              <a:t>Diet-related disease is a global crisis, and the tools people are given to track their own intake are stuck in the past.</a:t>
            </a:r>
            <a:endParaRPr lang="en-US" sz="1350" dirty="0"/>
          </a:p>
        </p:txBody>
      </p:sp>
      <p:sp>
        <p:nvSpPr>
          <p:cNvPr id="5" name="Shape 3"/>
          <p:cNvSpPr/>
          <p:nvPr/>
        </p:nvSpPr>
        <p:spPr>
          <a:xfrm>
            <a:off x="548640" y="2148840"/>
            <a:ext cx="3429000" cy="1828800"/>
          </a:xfrm>
          <a:prstGeom prst="roundRect">
            <a:avLst>
              <a:gd name="adj" fmla="val 5000"/>
            </a:avLst>
          </a:prstGeom>
          <a:solidFill>
            <a:srgbClr val="14181A"/>
          </a:solidFill>
          <a:ln/>
        </p:spPr>
      </p:sp>
      <p:sp>
        <p:nvSpPr>
          <p:cNvPr id="6" name="Text 4"/>
          <p:cNvSpPr/>
          <p:nvPr/>
        </p:nvSpPr>
        <p:spPr>
          <a:xfrm>
            <a:off x="548640" y="2404872"/>
            <a:ext cx="3429000" cy="822960"/>
          </a:xfrm>
          <a:prstGeom prst="rect">
            <a:avLst/>
          </a:prstGeom>
          <a:noFill/>
          <a:ln/>
        </p:spPr>
        <p:txBody>
          <a:bodyPr wrap="square" rtlCol="0" anchor="ctr"/>
          <a:lstStyle/>
          <a:p>
            <a:pPr marL="0" indent="0" algn="ctr">
              <a:buNone/>
            </a:pPr>
            <a:r>
              <a:rPr lang="en-US" sz="3800" b="1" dirty="0">
                <a:solidFill>
                  <a:srgbClr val="3DDC97"/>
                </a:solidFill>
                <a:latin typeface="Cambria" pitchFamily="34" charset="0"/>
                <a:ea typeface="Cambria" pitchFamily="34" charset="-122"/>
                <a:cs typeface="Cambria" pitchFamily="34" charset="-120"/>
              </a:rPr>
              <a:t>1.9B+</a:t>
            </a:r>
            <a:endParaRPr lang="en-US" sz="3800" dirty="0"/>
          </a:p>
        </p:txBody>
      </p:sp>
      <p:sp>
        <p:nvSpPr>
          <p:cNvPr id="7" name="Text 5"/>
          <p:cNvSpPr/>
          <p:nvPr/>
        </p:nvSpPr>
        <p:spPr>
          <a:xfrm>
            <a:off x="822960" y="3246120"/>
            <a:ext cx="2880360" cy="640080"/>
          </a:xfrm>
          <a:prstGeom prst="rect">
            <a:avLst/>
          </a:prstGeom>
          <a:noFill/>
          <a:ln/>
        </p:spPr>
        <p:txBody>
          <a:bodyPr wrap="square" rtlCol="0" anchor="ctr"/>
          <a:lstStyle/>
          <a:p>
            <a:pPr marL="0" indent="0" algn="ctr">
              <a:buNone/>
            </a:pPr>
            <a:r>
              <a:rPr lang="en-US" sz="1200" dirty="0">
                <a:solidFill>
                  <a:srgbClr val="D4DAD7"/>
                </a:solidFill>
                <a:latin typeface="Calibri" pitchFamily="34" charset="0"/>
                <a:ea typeface="Calibri" pitchFamily="34" charset="-122"/>
                <a:cs typeface="Calibri" pitchFamily="34" charset="-120"/>
              </a:rPr>
              <a:t>Adults classified as overweight worldwide (WHO)</a:t>
            </a:r>
            <a:endParaRPr lang="en-US" sz="1200" dirty="0"/>
          </a:p>
        </p:txBody>
      </p:sp>
      <p:sp>
        <p:nvSpPr>
          <p:cNvPr id="8" name="Shape 6"/>
          <p:cNvSpPr/>
          <p:nvPr/>
        </p:nvSpPr>
        <p:spPr>
          <a:xfrm>
            <a:off x="4297680" y="2148840"/>
            <a:ext cx="3429000" cy="1828800"/>
          </a:xfrm>
          <a:prstGeom prst="roundRect">
            <a:avLst>
              <a:gd name="adj" fmla="val 5000"/>
            </a:avLst>
          </a:prstGeom>
          <a:solidFill>
            <a:srgbClr val="14181A"/>
          </a:solidFill>
          <a:ln/>
        </p:spPr>
      </p:sp>
      <p:sp>
        <p:nvSpPr>
          <p:cNvPr id="9" name="Text 7"/>
          <p:cNvSpPr/>
          <p:nvPr/>
        </p:nvSpPr>
        <p:spPr>
          <a:xfrm>
            <a:off x="4297680" y="2404872"/>
            <a:ext cx="3429000" cy="822960"/>
          </a:xfrm>
          <a:prstGeom prst="rect">
            <a:avLst/>
          </a:prstGeom>
          <a:noFill/>
          <a:ln/>
        </p:spPr>
        <p:txBody>
          <a:bodyPr wrap="square" rtlCol="0" anchor="ctr"/>
          <a:lstStyle/>
          <a:p>
            <a:pPr marL="0" indent="0" algn="ctr">
              <a:buNone/>
            </a:pPr>
            <a:r>
              <a:rPr lang="en-US" sz="3800" b="1" dirty="0">
                <a:solidFill>
                  <a:srgbClr val="3DDC97"/>
                </a:solidFill>
                <a:latin typeface="Cambria" pitchFamily="34" charset="0"/>
                <a:ea typeface="Cambria" pitchFamily="34" charset="-122"/>
                <a:cs typeface="Cambria" pitchFamily="34" charset="-120"/>
              </a:rPr>
              <a:t>~3×</a:t>
            </a:r>
            <a:endParaRPr lang="en-US" sz="3800" dirty="0"/>
          </a:p>
        </p:txBody>
      </p:sp>
      <p:sp>
        <p:nvSpPr>
          <p:cNvPr id="10" name="Text 8"/>
          <p:cNvSpPr/>
          <p:nvPr/>
        </p:nvSpPr>
        <p:spPr>
          <a:xfrm>
            <a:off x="4572000" y="3246120"/>
            <a:ext cx="2880360" cy="640080"/>
          </a:xfrm>
          <a:prstGeom prst="rect">
            <a:avLst/>
          </a:prstGeom>
          <a:noFill/>
          <a:ln/>
        </p:spPr>
        <p:txBody>
          <a:bodyPr wrap="square" rtlCol="0" anchor="ctr"/>
          <a:lstStyle/>
          <a:p>
            <a:pPr marL="0" indent="0" algn="ctr">
              <a:buNone/>
            </a:pPr>
            <a:r>
              <a:rPr lang="en-US" sz="1200" dirty="0">
                <a:solidFill>
                  <a:srgbClr val="D4DAD7"/>
                </a:solidFill>
                <a:latin typeface="Calibri" pitchFamily="34" charset="0"/>
                <a:ea typeface="Calibri" pitchFamily="34" charset="-122"/>
                <a:cs typeface="Calibri" pitchFamily="34" charset="-120"/>
              </a:rPr>
              <a:t>Rise in global obesity rates since 1975</a:t>
            </a:r>
            <a:endParaRPr lang="en-US" sz="1200" dirty="0"/>
          </a:p>
        </p:txBody>
      </p:sp>
      <p:sp>
        <p:nvSpPr>
          <p:cNvPr id="11" name="Shape 9"/>
          <p:cNvSpPr/>
          <p:nvPr/>
        </p:nvSpPr>
        <p:spPr>
          <a:xfrm>
            <a:off x="8046720" y="2148840"/>
            <a:ext cx="3429000" cy="1828800"/>
          </a:xfrm>
          <a:prstGeom prst="roundRect">
            <a:avLst>
              <a:gd name="adj" fmla="val 5000"/>
            </a:avLst>
          </a:prstGeom>
          <a:solidFill>
            <a:srgbClr val="14181A"/>
          </a:solidFill>
          <a:ln/>
        </p:spPr>
      </p:sp>
      <p:sp>
        <p:nvSpPr>
          <p:cNvPr id="12" name="Text 10"/>
          <p:cNvSpPr/>
          <p:nvPr/>
        </p:nvSpPr>
        <p:spPr>
          <a:xfrm>
            <a:off x="8046720" y="2404872"/>
            <a:ext cx="3429000" cy="822960"/>
          </a:xfrm>
          <a:prstGeom prst="rect">
            <a:avLst/>
          </a:prstGeom>
          <a:noFill/>
          <a:ln/>
        </p:spPr>
        <p:txBody>
          <a:bodyPr wrap="square" rtlCol="0" anchor="ctr"/>
          <a:lstStyle/>
          <a:p>
            <a:pPr marL="0" indent="0" algn="ctr">
              <a:buNone/>
            </a:pPr>
            <a:r>
              <a:rPr lang="en-US" sz="3800" b="1" dirty="0">
                <a:solidFill>
                  <a:srgbClr val="3DDC97"/>
                </a:solidFill>
                <a:latin typeface="Cambria" pitchFamily="34" charset="0"/>
                <a:ea typeface="Cambria" pitchFamily="34" charset="-122"/>
                <a:cs typeface="Cambria" pitchFamily="34" charset="-120"/>
              </a:rPr>
              <a:t>0</a:t>
            </a:r>
            <a:endParaRPr lang="en-US" sz="3800" dirty="0"/>
          </a:p>
        </p:txBody>
      </p:sp>
      <p:sp>
        <p:nvSpPr>
          <p:cNvPr id="13" name="Text 11"/>
          <p:cNvSpPr/>
          <p:nvPr/>
        </p:nvSpPr>
        <p:spPr>
          <a:xfrm>
            <a:off x="8321040" y="3246120"/>
            <a:ext cx="2880360" cy="640080"/>
          </a:xfrm>
          <a:prstGeom prst="rect">
            <a:avLst/>
          </a:prstGeom>
          <a:noFill/>
          <a:ln/>
        </p:spPr>
        <p:txBody>
          <a:bodyPr wrap="square" rtlCol="0" anchor="ctr"/>
          <a:lstStyle/>
          <a:p>
            <a:pPr marL="0" indent="0" algn="ctr">
              <a:buNone/>
            </a:pPr>
            <a:r>
              <a:rPr lang="en-US" sz="1200" dirty="0">
                <a:solidFill>
                  <a:srgbClr val="D4DAD7"/>
                </a:solidFill>
                <a:latin typeface="Calibri" pitchFamily="34" charset="0"/>
                <a:ea typeface="Calibri" pitchFamily="34" charset="-122"/>
                <a:cs typeface="Calibri" pitchFamily="34" charset="-120"/>
              </a:rPr>
              <a:t>Deployed apps that auto-estimate portion size from a photo</a:t>
            </a:r>
            <a:endParaRPr lang="en-US" sz="1200" dirty="0"/>
          </a:p>
        </p:txBody>
      </p:sp>
      <p:sp>
        <p:nvSpPr>
          <p:cNvPr id="14" name="Shape 12"/>
          <p:cNvSpPr/>
          <p:nvPr/>
        </p:nvSpPr>
        <p:spPr>
          <a:xfrm>
            <a:off x="548640" y="4343400"/>
            <a:ext cx="502920" cy="502920"/>
          </a:xfrm>
          <a:prstGeom prst="ellipse">
            <a:avLst/>
          </a:prstGeom>
          <a:solidFill>
            <a:srgbClr val="1F7A54"/>
          </a:solidFill>
          <a:ln/>
        </p:spPr>
      </p:sp>
      <p:pic>
        <p:nvPicPr>
          <p:cNvPr id="15" name="Image 0" descr="assets/icon_zap_FFFFFF.png"/>
          <p:cNvPicPr>
            <a:picLocks noChangeAspect="1"/>
          </p:cNvPicPr>
          <p:nvPr/>
        </p:nvPicPr>
        <p:blipFill>
          <a:blip r:embed="rId3"/>
          <a:stretch>
            <a:fillRect/>
          </a:stretch>
        </p:blipFill>
        <p:spPr>
          <a:xfrm>
            <a:off x="679399" y="4474159"/>
            <a:ext cx="241402" cy="241402"/>
          </a:xfrm>
          <a:prstGeom prst="rect">
            <a:avLst/>
          </a:prstGeom>
        </p:spPr>
      </p:pic>
      <p:sp>
        <p:nvSpPr>
          <p:cNvPr id="16" name="Text 13"/>
          <p:cNvSpPr/>
          <p:nvPr/>
        </p:nvSpPr>
        <p:spPr>
          <a:xfrm>
            <a:off x="1188720" y="4315968"/>
            <a:ext cx="2788920" cy="365760"/>
          </a:xfrm>
          <a:prstGeom prst="rect">
            <a:avLst/>
          </a:prstGeom>
          <a:noFill/>
          <a:ln/>
        </p:spPr>
        <p:txBody>
          <a:bodyPr wrap="square" rtlCol="0" anchor="ctr"/>
          <a:lstStyle/>
          <a:p>
            <a:pPr marL="0" indent="0">
              <a:buNone/>
            </a:pPr>
            <a:r>
              <a:rPr lang="en-US" sz="1450" b="1" dirty="0">
                <a:solidFill>
                  <a:srgbClr val="16201C"/>
                </a:solidFill>
                <a:latin typeface="Calibri" pitchFamily="34" charset="0"/>
                <a:ea typeface="Calibri" pitchFamily="34" charset="-122"/>
                <a:cs typeface="Calibri" pitchFamily="34" charset="-120"/>
              </a:rPr>
              <a:t>Slow</a:t>
            </a:r>
            <a:endParaRPr lang="en-US" sz="1450" dirty="0"/>
          </a:p>
        </p:txBody>
      </p:sp>
      <p:sp>
        <p:nvSpPr>
          <p:cNvPr id="17" name="Text 14"/>
          <p:cNvSpPr/>
          <p:nvPr/>
        </p:nvSpPr>
        <p:spPr>
          <a:xfrm>
            <a:off x="1188720" y="4672584"/>
            <a:ext cx="2788920" cy="54864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Manual text search for every ingredient of every meal</a:t>
            </a:r>
            <a:endParaRPr lang="en-US" sz="1150" dirty="0"/>
          </a:p>
        </p:txBody>
      </p:sp>
      <p:sp>
        <p:nvSpPr>
          <p:cNvPr id="18" name="Shape 15"/>
          <p:cNvSpPr/>
          <p:nvPr/>
        </p:nvSpPr>
        <p:spPr>
          <a:xfrm>
            <a:off x="4297680" y="4343400"/>
            <a:ext cx="502920" cy="502920"/>
          </a:xfrm>
          <a:prstGeom prst="ellipse">
            <a:avLst/>
          </a:prstGeom>
          <a:solidFill>
            <a:srgbClr val="1F7A54"/>
          </a:solidFill>
          <a:ln/>
        </p:spPr>
      </p:sp>
      <p:pic>
        <p:nvPicPr>
          <p:cNvPr id="19" name="Image 1" descr="assets/icon_eye_FFFFFF.png"/>
          <p:cNvPicPr>
            <a:picLocks noChangeAspect="1"/>
          </p:cNvPicPr>
          <p:nvPr/>
        </p:nvPicPr>
        <p:blipFill>
          <a:blip r:embed="rId4"/>
          <a:stretch>
            <a:fillRect/>
          </a:stretch>
        </p:blipFill>
        <p:spPr>
          <a:xfrm>
            <a:off x="4428439" y="4474159"/>
            <a:ext cx="241402" cy="241402"/>
          </a:xfrm>
          <a:prstGeom prst="rect">
            <a:avLst/>
          </a:prstGeom>
        </p:spPr>
      </p:pic>
      <p:sp>
        <p:nvSpPr>
          <p:cNvPr id="20" name="Text 16"/>
          <p:cNvSpPr/>
          <p:nvPr/>
        </p:nvSpPr>
        <p:spPr>
          <a:xfrm>
            <a:off x="4937760" y="4315968"/>
            <a:ext cx="2788920" cy="365760"/>
          </a:xfrm>
          <a:prstGeom prst="rect">
            <a:avLst/>
          </a:prstGeom>
          <a:noFill/>
          <a:ln/>
        </p:spPr>
        <p:txBody>
          <a:bodyPr wrap="square" rtlCol="0" anchor="ctr"/>
          <a:lstStyle/>
          <a:p>
            <a:pPr marL="0" indent="0">
              <a:buNone/>
            </a:pPr>
            <a:r>
              <a:rPr lang="en-US" sz="1450" b="1" dirty="0">
                <a:solidFill>
                  <a:srgbClr val="16201C"/>
                </a:solidFill>
                <a:latin typeface="Calibri" pitchFamily="34" charset="0"/>
                <a:ea typeface="Calibri" pitchFamily="34" charset="-122"/>
                <a:cs typeface="Calibri" pitchFamily="34" charset="-120"/>
              </a:rPr>
              <a:t>Inaccurate</a:t>
            </a:r>
            <a:endParaRPr lang="en-US" sz="1450" dirty="0"/>
          </a:p>
        </p:txBody>
      </p:sp>
      <p:sp>
        <p:nvSpPr>
          <p:cNvPr id="21" name="Text 17"/>
          <p:cNvSpPr/>
          <p:nvPr/>
        </p:nvSpPr>
        <p:spPr>
          <a:xfrm>
            <a:off x="4937760" y="4672584"/>
            <a:ext cx="2788920" cy="54864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Portion sizes are guessed, not measured</a:t>
            </a:r>
            <a:endParaRPr lang="en-US" sz="1150" dirty="0"/>
          </a:p>
        </p:txBody>
      </p:sp>
      <p:sp>
        <p:nvSpPr>
          <p:cNvPr id="22" name="Shape 18"/>
          <p:cNvSpPr/>
          <p:nvPr/>
        </p:nvSpPr>
        <p:spPr>
          <a:xfrm>
            <a:off x="8046720" y="4343400"/>
            <a:ext cx="502920" cy="502920"/>
          </a:xfrm>
          <a:prstGeom prst="ellipse">
            <a:avLst/>
          </a:prstGeom>
          <a:solidFill>
            <a:srgbClr val="1F7A54"/>
          </a:solidFill>
          <a:ln/>
        </p:spPr>
      </p:sp>
      <p:pic>
        <p:nvPicPr>
          <p:cNvPr id="23" name="Image 2" descr="assets/icon_x_FFFFFF.png"/>
          <p:cNvPicPr>
            <a:picLocks noChangeAspect="1"/>
          </p:cNvPicPr>
          <p:nvPr/>
        </p:nvPicPr>
        <p:blipFill>
          <a:blip r:embed="rId5"/>
          <a:stretch>
            <a:fillRect/>
          </a:stretch>
        </p:blipFill>
        <p:spPr>
          <a:xfrm>
            <a:off x="8177479" y="4474159"/>
            <a:ext cx="241402" cy="241402"/>
          </a:xfrm>
          <a:prstGeom prst="rect">
            <a:avLst/>
          </a:prstGeom>
        </p:spPr>
      </p:pic>
      <p:sp>
        <p:nvSpPr>
          <p:cNvPr id="24" name="Text 19"/>
          <p:cNvSpPr/>
          <p:nvPr/>
        </p:nvSpPr>
        <p:spPr>
          <a:xfrm>
            <a:off x="8686800" y="4315968"/>
            <a:ext cx="2788920" cy="365760"/>
          </a:xfrm>
          <a:prstGeom prst="rect">
            <a:avLst/>
          </a:prstGeom>
          <a:noFill/>
          <a:ln/>
        </p:spPr>
        <p:txBody>
          <a:bodyPr wrap="square" rtlCol="0" anchor="ctr"/>
          <a:lstStyle/>
          <a:p>
            <a:pPr marL="0" indent="0">
              <a:buNone/>
            </a:pPr>
            <a:r>
              <a:rPr lang="en-US" sz="1450" b="1" dirty="0">
                <a:solidFill>
                  <a:srgbClr val="16201C"/>
                </a:solidFill>
                <a:latin typeface="Calibri" pitchFamily="34" charset="0"/>
                <a:ea typeface="Calibri" pitchFamily="34" charset="-122"/>
                <a:cs typeface="Calibri" pitchFamily="34" charset="-120"/>
              </a:rPr>
              <a:t>Unverified</a:t>
            </a:r>
            <a:endParaRPr lang="en-US" sz="1450" dirty="0"/>
          </a:p>
        </p:txBody>
      </p:sp>
      <p:sp>
        <p:nvSpPr>
          <p:cNvPr id="25" name="Text 20"/>
          <p:cNvSpPr/>
          <p:nvPr/>
        </p:nvSpPr>
        <p:spPr>
          <a:xfrm>
            <a:off x="8686800" y="4672584"/>
            <a:ext cx="2788920" cy="54864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Many apps rely on user-submitted, uncorrected nutrition data</a:t>
            </a:r>
            <a:endParaRPr lang="en-US" sz="1150" dirty="0"/>
          </a:p>
        </p:txBody>
      </p:sp>
      <p:sp>
        <p:nvSpPr>
          <p:cNvPr id="26" name="Text 21"/>
          <p:cNvSpPr/>
          <p:nvPr/>
        </p:nvSpPr>
        <p:spPr>
          <a:xfrm>
            <a:off x="1154887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1F7A54"/>
                </a:solidFill>
                <a:latin typeface="Calibri" pitchFamily="34" charset="0"/>
                <a:ea typeface="Calibri" pitchFamily="34" charset="-122"/>
                <a:cs typeface="Calibri" pitchFamily="34" charset="-120"/>
              </a:rPr>
              <a:t>RELATED WORK</a:t>
            </a:r>
            <a:endParaRPr lang="en-US" sz="1300" dirty="0"/>
          </a:p>
        </p:txBody>
      </p:sp>
      <p:sp>
        <p:nvSpPr>
          <p:cNvPr id="3" name="Text 1"/>
          <p:cNvSpPr/>
          <p:nvPr/>
        </p:nvSpPr>
        <p:spPr>
          <a:xfrm>
            <a:off x="548640" y="658368"/>
            <a:ext cx="9601200" cy="822960"/>
          </a:xfrm>
          <a:prstGeom prst="rect">
            <a:avLst/>
          </a:prstGeom>
          <a:noFill/>
          <a:ln/>
        </p:spPr>
        <p:txBody>
          <a:bodyPr wrap="square" rtlCol="0" anchor="ctr"/>
          <a:lstStyle/>
          <a:p>
            <a:pPr marL="0" indent="0">
              <a:buNone/>
            </a:pPr>
            <a:r>
              <a:rPr lang="en-US" sz="3200" b="1" dirty="0">
                <a:solidFill>
                  <a:srgbClr val="16201C"/>
                </a:solidFill>
                <a:latin typeface="Cambria" pitchFamily="34" charset="0"/>
                <a:ea typeface="Cambria" pitchFamily="34" charset="-122"/>
                <a:cs typeface="Cambria" pitchFamily="34" charset="-120"/>
              </a:rPr>
              <a:t>Existing apps don't close the gap</a:t>
            </a:r>
            <a:endParaRPr lang="en-US" sz="3200" dirty="0"/>
          </a:p>
        </p:txBody>
      </p:sp>
      <p:sp>
        <p:nvSpPr>
          <p:cNvPr id="4" name="Text 2"/>
          <p:cNvSpPr/>
          <p:nvPr/>
        </p:nvSpPr>
        <p:spPr>
          <a:xfrm>
            <a:off x="3291840" y="1463040"/>
            <a:ext cx="2080260" cy="457200"/>
          </a:xfrm>
          <a:prstGeom prst="rect">
            <a:avLst/>
          </a:prstGeom>
          <a:noFill/>
          <a:ln/>
        </p:spPr>
        <p:txBody>
          <a:bodyPr wrap="square" rtlCol="0" anchor="ctr"/>
          <a:lstStyle/>
          <a:p>
            <a:pPr marL="0" indent="0" algn="ctr">
              <a:buNone/>
            </a:pPr>
            <a:r>
              <a:rPr lang="en-US" sz="1200" b="1" dirty="0">
                <a:solidFill>
                  <a:srgbClr val="6B7280"/>
                </a:solidFill>
                <a:latin typeface="Calibri" pitchFamily="34" charset="0"/>
                <a:ea typeface="Calibri" pitchFamily="34" charset="-122"/>
                <a:cs typeface="Calibri" pitchFamily="34" charset="-120"/>
              </a:rPr>
              <a:t>Auto Portion</a:t>
            </a:r>
            <a:endParaRPr lang="en-US" sz="1200" dirty="0"/>
          </a:p>
        </p:txBody>
      </p:sp>
      <p:sp>
        <p:nvSpPr>
          <p:cNvPr id="5" name="Text 3"/>
          <p:cNvSpPr/>
          <p:nvPr/>
        </p:nvSpPr>
        <p:spPr>
          <a:xfrm>
            <a:off x="5372100" y="1463040"/>
            <a:ext cx="2080260" cy="457200"/>
          </a:xfrm>
          <a:prstGeom prst="rect">
            <a:avLst/>
          </a:prstGeom>
          <a:noFill/>
          <a:ln/>
        </p:spPr>
        <p:txBody>
          <a:bodyPr wrap="square" rtlCol="0" anchor="ctr"/>
          <a:lstStyle/>
          <a:p>
            <a:pPr marL="0" indent="0" algn="ctr">
              <a:buNone/>
            </a:pPr>
            <a:r>
              <a:rPr lang="en-US" sz="1200" b="1" dirty="0">
                <a:solidFill>
                  <a:srgbClr val="6B7280"/>
                </a:solidFill>
                <a:latin typeface="Calibri" pitchFamily="34" charset="0"/>
                <a:ea typeface="Calibri" pitchFamily="34" charset="-122"/>
                <a:cs typeface="Calibri" pitchFamily="34" charset="-120"/>
              </a:rPr>
              <a:t>Multi-Dish</a:t>
            </a:r>
            <a:endParaRPr lang="en-US" sz="1200" dirty="0"/>
          </a:p>
        </p:txBody>
      </p:sp>
      <p:sp>
        <p:nvSpPr>
          <p:cNvPr id="6" name="Text 4"/>
          <p:cNvSpPr/>
          <p:nvPr/>
        </p:nvSpPr>
        <p:spPr>
          <a:xfrm>
            <a:off x="7452360" y="1463040"/>
            <a:ext cx="2080260" cy="457200"/>
          </a:xfrm>
          <a:prstGeom prst="rect">
            <a:avLst/>
          </a:prstGeom>
          <a:noFill/>
          <a:ln/>
        </p:spPr>
        <p:txBody>
          <a:bodyPr wrap="square" rtlCol="0" anchor="ctr"/>
          <a:lstStyle/>
          <a:p>
            <a:pPr marL="0" indent="0" algn="ctr">
              <a:buNone/>
            </a:pPr>
            <a:r>
              <a:rPr lang="en-US" sz="1200" b="1" dirty="0">
                <a:solidFill>
                  <a:srgbClr val="6B7280"/>
                </a:solidFill>
                <a:latin typeface="Calibri" pitchFamily="34" charset="0"/>
                <a:ea typeface="Calibri" pitchFamily="34" charset="-122"/>
                <a:cs typeface="Calibri" pitchFamily="34" charset="-120"/>
              </a:rPr>
              <a:t>Verified Data</a:t>
            </a:r>
            <a:endParaRPr lang="en-US" sz="1200" dirty="0"/>
          </a:p>
        </p:txBody>
      </p:sp>
      <p:sp>
        <p:nvSpPr>
          <p:cNvPr id="7" name="Text 5"/>
          <p:cNvSpPr/>
          <p:nvPr/>
        </p:nvSpPr>
        <p:spPr>
          <a:xfrm>
            <a:off x="9532620" y="1463040"/>
            <a:ext cx="2080260" cy="457200"/>
          </a:xfrm>
          <a:prstGeom prst="rect">
            <a:avLst/>
          </a:prstGeom>
          <a:noFill/>
          <a:ln/>
        </p:spPr>
        <p:txBody>
          <a:bodyPr wrap="square" rtlCol="0" anchor="ctr"/>
          <a:lstStyle/>
          <a:p>
            <a:pPr marL="0" indent="0" algn="ctr">
              <a:buNone/>
            </a:pPr>
            <a:r>
              <a:rPr lang="en-US" sz="1200" b="1" dirty="0">
                <a:solidFill>
                  <a:srgbClr val="6B7280"/>
                </a:solidFill>
                <a:latin typeface="Calibri" pitchFamily="34" charset="0"/>
                <a:ea typeface="Calibri" pitchFamily="34" charset="-122"/>
                <a:cs typeface="Calibri" pitchFamily="34" charset="-120"/>
              </a:rPr>
              <a:t>Personalised</a:t>
            </a:r>
            <a:endParaRPr lang="en-US" sz="1200" dirty="0"/>
          </a:p>
        </p:txBody>
      </p:sp>
      <p:sp>
        <p:nvSpPr>
          <p:cNvPr id="8" name="Text 6"/>
          <p:cNvSpPr/>
          <p:nvPr/>
        </p:nvSpPr>
        <p:spPr>
          <a:xfrm>
            <a:off x="548640" y="1965960"/>
            <a:ext cx="2743200" cy="521208"/>
          </a:xfrm>
          <a:prstGeom prst="rect">
            <a:avLst/>
          </a:prstGeom>
          <a:noFill/>
          <a:ln/>
        </p:spPr>
        <p:txBody>
          <a:bodyPr wrap="square" rtlCol="0" anchor="ctr"/>
          <a:lstStyle/>
          <a:p>
            <a:pPr marL="0" indent="0">
              <a:buNone/>
            </a:pPr>
            <a:r>
              <a:rPr lang="en-US" sz="1450" dirty="0">
                <a:solidFill>
                  <a:srgbClr val="16201C"/>
                </a:solidFill>
                <a:latin typeface="Calibri" pitchFamily="34" charset="0"/>
                <a:ea typeface="Calibri" pitchFamily="34" charset="-122"/>
                <a:cs typeface="Calibri" pitchFamily="34" charset="-120"/>
              </a:rPr>
              <a:t>MyFitnessPal</a:t>
            </a:r>
            <a:endParaRPr lang="en-US" sz="1450" dirty="0"/>
          </a:p>
        </p:txBody>
      </p:sp>
      <p:sp>
        <p:nvSpPr>
          <p:cNvPr id="9" name="Shape 7"/>
          <p:cNvSpPr/>
          <p:nvPr/>
        </p:nvSpPr>
        <p:spPr>
          <a:xfrm>
            <a:off x="4185666" y="2080260"/>
            <a:ext cx="292608" cy="292608"/>
          </a:xfrm>
          <a:prstGeom prst="ellipse">
            <a:avLst/>
          </a:prstGeom>
          <a:solidFill>
            <a:srgbClr val="F0F0F0"/>
          </a:solidFill>
          <a:ln/>
        </p:spPr>
      </p:sp>
      <p:sp>
        <p:nvSpPr>
          <p:cNvPr id="10" name="Text 8"/>
          <p:cNvSpPr/>
          <p:nvPr/>
        </p:nvSpPr>
        <p:spPr>
          <a:xfrm>
            <a:off x="4185666" y="2071116"/>
            <a:ext cx="292608" cy="292608"/>
          </a:xfrm>
          <a:prstGeom prst="rect">
            <a:avLst/>
          </a:prstGeom>
          <a:noFill/>
          <a:ln/>
        </p:spPr>
        <p:txBody>
          <a:bodyPr wrap="square" rtlCol="0" anchor="ctr"/>
          <a:lstStyle/>
          <a:p>
            <a:pPr marL="0" indent="0" algn="ctr">
              <a:buNone/>
            </a:pPr>
            <a:r>
              <a:rPr lang="en-US" sz="1300" b="1" dirty="0">
                <a:solidFill>
                  <a:srgbClr val="6B7280"/>
                </a:solidFill>
                <a:latin typeface="Calibri" pitchFamily="34" charset="0"/>
                <a:ea typeface="Calibri" pitchFamily="34" charset="-122"/>
                <a:cs typeface="Calibri" pitchFamily="34" charset="-120"/>
              </a:rPr>
              <a:t>–</a:t>
            </a:r>
            <a:endParaRPr lang="en-US" sz="1300" dirty="0"/>
          </a:p>
        </p:txBody>
      </p:sp>
      <p:sp>
        <p:nvSpPr>
          <p:cNvPr id="11" name="Shape 9"/>
          <p:cNvSpPr/>
          <p:nvPr/>
        </p:nvSpPr>
        <p:spPr>
          <a:xfrm>
            <a:off x="6265926" y="2080260"/>
            <a:ext cx="292608" cy="292608"/>
          </a:xfrm>
          <a:prstGeom prst="ellipse">
            <a:avLst/>
          </a:prstGeom>
          <a:solidFill>
            <a:srgbClr val="F0F0F0"/>
          </a:solidFill>
          <a:ln/>
        </p:spPr>
      </p:sp>
      <p:sp>
        <p:nvSpPr>
          <p:cNvPr id="12" name="Text 10"/>
          <p:cNvSpPr/>
          <p:nvPr/>
        </p:nvSpPr>
        <p:spPr>
          <a:xfrm>
            <a:off x="6265926" y="2071116"/>
            <a:ext cx="292608" cy="292608"/>
          </a:xfrm>
          <a:prstGeom prst="rect">
            <a:avLst/>
          </a:prstGeom>
          <a:noFill/>
          <a:ln/>
        </p:spPr>
        <p:txBody>
          <a:bodyPr wrap="square" rtlCol="0" anchor="ctr"/>
          <a:lstStyle/>
          <a:p>
            <a:pPr marL="0" indent="0" algn="ctr">
              <a:buNone/>
            </a:pPr>
            <a:r>
              <a:rPr lang="en-US" sz="1300" b="1" dirty="0">
                <a:solidFill>
                  <a:srgbClr val="6B7280"/>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8346186" y="2080260"/>
            <a:ext cx="292608" cy="292608"/>
          </a:xfrm>
          <a:prstGeom prst="ellipse">
            <a:avLst/>
          </a:prstGeom>
          <a:solidFill>
            <a:srgbClr val="F0F0F0"/>
          </a:solidFill>
          <a:ln/>
        </p:spPr>
      </p:sp>
      <p:sp>
        <p:nvSpPr>
          <p:cNvPr id="14" name="Text 12"/>
          <p:cNvSpPr/>
          <p:nvPr/>
        </p:nvSpPr>
        <p:spPr>
          <a:xfrm>
            <a:off x="8346186" y="2071116"/>
            <a:ext cx="292608" cy="292608"/>
          </a:xfrm>
          <a:prstGeom prst="rect">
            <a:avLst/>
          </a:prstGeom>
          <a:noFill/>
          <a:ln/>
        </p:spPr>
        <p:txBody>
          <a:bodyPr wrap="square" rtlCol="0" anchor="ctr"/>
          <a:lstStyle/>
          <a:p>
            <a:pPr marL="0" indent="0" algn="ctr">
              <a:buNone/>
            </a:pPr>
            <a:r>
              <a:rPr lang="en-US" sz="1300" b="1" dirty="0">
                <a:solidFill>
                  <a:srgbClr val="6B7280"/>
                </a:solidFill>
                <a:latin typeface="Calibri" pitchFamily="34" charset="0"/>
                <a:ea typeface="Calibri" pitchFamily="34" charset="-122"/>
                <a:cs typeface="Calibri" pitchFamily="34" charset="-120"/>
              </a:rPr>
              <a:t>–</a:t>
            </a:r>
            <a:endParaRPr lang="en-US" sz="1300" dirty="0"/>
          </a:p>
        </p:txBody>
      </p:sp>
      <p:sp>
        <p:nvSpPr>
          <p:cNvPr id="15" name="Shape 13"/>
          <p:cNvSpPr/>
          <p:nvPr/>
        </p:nvSpPr>
        <p:spPr>
          <a:xfrm>
            <a:off x="10426446" y="2080260"/>
            <a:ext cx="292608" cy="292608"/>
          </a:xfrm>
          <a:prstGeom prst="ellipse">
            <a:avLst/>
          </a:prstGeom>
          <a:solidFill>
            <a:srgbClr val="F0F0F0"/>
          </a:solidFill>
          <a:ln/>
        </p:spPr>
      </p:sp>
      <p:sp>
        <p:nvSpPr>
          <p:cNvPr id="16" name="Text 14"/>
          <p:cNvSpPr/>
          <p:nvPr/>
        </p:nvSpPr>
        <p:spPr>
          <a:xfrm>
            <a:off x="10426446" y="2071116"/>
            <a:ext cx="292608" cy="292608"/>
          </a:xfrm>
          <a:prstGeom prst="rect">
            <a:avLst/>
          </a:prstGeom>
          <a:noFill/>
          <a:ln/>
        </p:spPr>
        <p:txBody>
          <a:bodyPr wrap="square" rtlCol="0" anchor="ctr"/>
          <a:lstStyle/>
          <a:p>
            <a:pPr marL="0" indent="0" algn="ctr">
              <a:buNone/>
            </a:pPr>
            <a:r>
              <a:rPr lang="en-US" sz="1300" b="1" dirty="0">
                <a:solidFill>
                  <a:srgbClr val="6B7280"/>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548640" y="2624328"/>
            <a:ext cx="2743200" cy="521208"/>
          </a:xfrm>
          <a:prstGeom prst="rect">
            <a:avLst/>
          </a:prstGeom>
          <a:noFill/>
          <a:ln/>
        </p:spPr>
        <p:txBody>
          <a:bodyPr wrap="square" rtlCol="0" anchor="ctr"/>
          <a:lstStyle/>
          <a:p>
            <a:pPr marL="0" indent="0">
              <a:buNone/>
            </a:pPr>
            <a:r>
              <a:rPr lang="en-US" sz="1450" dirty="0">
                <a:solidFill>
                  <a:srgbClr val="16201C"/>
                </a:solidFill>
                <a:latin typeface="Calibri" pitchFamily="34" charset="0"/>
                <a:ea typeface="Calibri" pitchFamily="34" charset="-122"/>
                <a:cs typeface="Calibri" pitchFamily="34" charset="-120"/>
              </a:rPr>
              <a:t>FoodVisor</a:t>
            </a:r>
            <a:endParaRPr lang="en-US" sz="1450" dirty="0"/>
          </a:p>
        </p:txBody>
      </p:sp>
      <p:sp>
        <p:nvSpPr>
          <p:cNvPr id="18" name="Shape 16"/>
          <p:cNvSpPr/>
          <p:nvPr/>
        </p:nvSpPr>
        <p:spPr>
          <a:xfrm>
            <a:off x="4185666" y="2738628"/>
            <a:ext cx="292608" cy="292608"/>
          </a:xfrm>
          <a:prstGeom prst="ellipse">
            <a:avLst/>
          </a:prstGeom>
          <a:solidFill>
            <a:srgbClr val="F0F0F0"/>
          </a:solidFill>
          <a:ln/>
        </p:spPr>
      </p:sp>
      <p:sp>
        <p:nvSpPr>
          <p:cNvPr id="19" name="Text 17"/>
          <p:cNvSpPr/>
          <p:nvPr/>
        </p:nvSpPr>
        <p:spPr>
          <a:xfrm>
            <a:off x="4185666" y="2729484"/>
            <a:ext cx="292608" cy="292608"/>
          </a:xfrm>
          <a:prstGeom prst="rect">
            <a:avLst/>
          </a:prstGeom>
          <a:noFill/>
          <a:ln/>
        </p:spPr>
        <p:txBody>
          <a:bodyPr wrap="square" rtlCol="0" anchor="ctr"/>
          <a:lstStyle/>
          <a:p>
            <a:pPr marL="0" indent="0" algn="ctr">
              <a:buNone/>
            </a:pPr>
            <a:r>
              <a:rPr lang="en-US" sz="1300" b="1" dirty="0">
                <a:solidFill>
                  <a:srgbClr val="6B7280"/>
                </a:solidFill>
                <a:latin typeface="Calibri" pitchFamily="34" charset="0"/>
                <a:ea typeface="Calibri" pitchFamily="34" charset="-122"/>
                <a:cs typeface="Calibri" pitchFamily="34" charset="-120"/>
              </a:rPr>
              <a:t>–</a:t>
            </a:r>
            <a:endParaRPr lang="en-US" sz="1300" dirty="0"/>
          </a:p>
        </p:txBody>
      </p:sp>
      <p:sp>
        <p:nvSpPr>
          <p:cNvPr id="20" name="Shape 18"/>
          <p:cNvSpPr/>
          <p:nvPr/>
        </p:nvSpPr>
        <p:spPr>
          <a:xfrm>
            <a:off x="6265926" y="2738628"/>
            <a:ext cx="292608" cy="292608"/>
          </a:xfrm>
          <a:prstGeom prst="ellipse">
            <a:avLst/>
          </a:prstGeom>
          <a:solidFill>
            <a:srgbClr val="F0F0F0"/>
          </a:solidFill>
          <a:ln/>
        </p:spPr>
      </p:sp>
      <p:sp>
        <p:nvSpPr>
          <p:cNvPr id="21" name="Text 19"/>
          <p:cNvSpPr/>
          <p:nvPr/>
        </p:nvSpPr>
        <p:spPr>
          <a:xfrm>
            <a:off x="6265926" y="2729484"/>
            <a:ext cx="292608" cy="292608"/>
          </a:xfrm>
          <a:prstGeom prst="rect">
            <a:avLst/>
          </a:prstGeom>
          <a:noFill/>
          <a:ln/>
        </p:spPr>
        <p:txBody>
          <a:bodyPr wrap="square" rtlCol="0" anchor="ctr"/>
          <a:lstStyle/>
          <a:p>
            <a:pPr marL="0" indent="0" algn="ctr">
              <a:buNone/>
            </a:pPr>
            <a:r>
              <a:rPr lang="en-US" sz="1300" b="1" dirty="0">
                <a:solidFill>
                  <a:srgbClr val="6B7280"/>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8346186" y="2738628"/>
            <a:ext cx="292608" cy="292608"/>
          </a:xfrm>
          <a:prstGeom prst="ellipse">
            <a:avLst/>
          </a:prstGeom>
          <a:solidFill>
            <a:srgbClr val="3DDC97"/>
          </a:solidFill>
          <a:ln/>
        </p:spPr>
      </p:sp>
      <p:sp>
        <p:nvSpPr>
          <p:cNvPr id="23" name="Text 21"/>
          <p:cNvSpPr/>
          <p:nvPr/>
        </p:nvSpPr>
        <p:spPr>
          <a:xfrm>
            <a:off x="8346186" y="2729484"/>
            <a:ext cx="292608" cy="292608"/>
          </a:xfrm>
          <a:prstGeom prst="rect">
            <a:avLst/>
          </a:prstGeom>
          <a:noFill/>
          <a:ln/>
        </p:spPr>
        <p:txBody>
          <a:bodyPr wrap="square" rtlCol="0" anchor="ctr"/>
          <a:lstStyle/>
          <a:p>
            <a:pPr marL="0" indent="0" algn="ctr">
              <a:buNone/>
            </a:pPr>
            <a:r>
              <a:rPr lang="en-US" sz="1300" b="1" dirty="0">
                <a:solidFill>
                  <a:srgbClr val="14181A"/>
                </a:solidFill>
                <a:latin typeface="Calibri" pitchFamily="34" charset="0"/>
                <a:ea typeface="Calibri" pitchFamily="34" charset="-122"/>
                <a:cs typeface="Calibri" pitchFamily="34" charset="-120"/>
              </a:rPr>
              <a:t>✓</a:t>
            </a:r>
            <a:endParaRPr lang="en-US" sz="1300" dirty="0"/>
          </a:p>
        </p:txBody>
      </p:sp>
      <p:sp>
        <p:nvSpPr>
          <p:cNvPr id="24" name="Shape 22"/>
          <p:cNvSpPr/>
          <p:nvPr/>
        </p:nvSpPr>
        <p:spPr>
          <a:xfrm>
            <a:off x="10426446" y="2738628"/>
            <a:ext cx="292608" cy="292608"/>
          </a:xfrm>
          <a:prstGeom prst="ellipse">
            <a:avLst/>
          </a:prstGeom>
          <a:solidFill>
            <a:srgbClr val="F0F0F0"/>
          </a:solidFill>
          <a:ln/>
        </p:spPr>
      </p:sp>
      <p:sp>
        <p:nvSpPr>
          <p:cNvPr id="25" name="Text 23"/>
          <p:cNvSpPr/>
          <p:nvPr/>
        </p:nvSpPr>
        <p:spPr>
          <a:xfrm>
            <a:off x="10426446" y="2729484"/>
            <a:ext cx="292608" cy="292608"/>
          </a:xfrm>
          <a:prstGeom prst="rect">
            <a:avLst/>
          </a:prstGeom>
          <a:noFill/>
          <a:ln/>
        </p:spPr>
        <p:txBody>
          <a:bodyPr wrap="square" rtlCol="0" anchor="ctr"/>
          <a:lstStyle/>
          <a:p>
            <a:pPr marL="0" indent="0" algn="ctr">
              <a:buNone/>
            </a:pPr>
            <a:r>
              <a:rPr lang="en-US" sz="1300" b="1" dirty="0">
                <a:solidFill>
                  <a:srgbClr val="6B7280"/>
                </a:solidFill>
                <a:latin typeface="Calibri" pitchFamily="34" charset="0"/>
                <a:ea typeface="Calibri" pitchFamily="34" charset="-122"/>
                <a:cs typeface="Calibri" pitchFamily="34" charset="-120"/>
              </a:rPr>
              <a:t>–</a:t>
            </a:r>
            <a:endParaRPr lang="en-US" sz="1300" dirty="0"/>
          </a:p>
        </p:txBody>
      </p:sp>
      <p:sp>
        <p:nvSpPr>
          <p:cNvPr id="26" name="Text 24"/>
          <p:cNvSpPr/>
          <p:nvPr/>
        </p:nvSpPr>
        <p:spPr>
          <a:xfrm>
            <a:off x="548640" y="3282696"/>
            <a:ext cx="2743200" cy="521208"/>
          </a:xfrm>
          <a:prstGeom prst="rect">
            <a:avLst/>
          </a:prstGeom>
          <a:noFill/>
          <a:ln/>
        </p:spPr>
        <p:txBody>
          <a:bodyPr wrap="square" rtlCol="0" anchor="ctr"/>
          <a:lstStyle/>
          <a:p>
            <a:pPr marL="0" indent="0">
              <a:buNone/>
            </a:pPr>
            <a:r>
              <a:rPr lang="en-US" sz="1450" dirty="0">
                <a:solidFill>
                  <a:srgbClr val="16201C"/>
                </a:solidFill>
                <a:latin typeface="Calibri" pitchFamily="34" charset="0"/>
                <a:ea typeface="Calibri" pitchFamily="34" charset="-122"/>
                <a:cs typeface="Calibri" pitchFamily="34" charset="-120"/>
              </a:rPr>
              <a:t>Lose It!</a:t>
            </a:r>
            <a:endParaRPr lang="en-US" sz="1450" dirty="0"/>
          </a:p>
        </p:txBody>
      </p:sp>
      <p:sp>
        <p:nvSpPr>
          <p:cNvPr id="27" name="Shape 25"/>
          <p:cNvSpPr/>
          <p:nvPr/>
        </p:nvSpPr>
        <p:spPr>
          <a:xfrm>
            <a:off x="4185666" y="3396996"/>
            <a:ext cx="292608" cy="292608"/>
          </a:xfrm>
          <a:prstGeom prst="ellipse">
            <a:avLst/>
          </a:prstGeom>
          <a:solidFill>
            <a:srgbClr val="F0F0F0"/>
          </a:solidFill>
          <a:ln/>
        </p:spPr>
      </p:sp>
      <p:sp>
        <p:nvSpPr>
          <p:cNvPr id="28" name="Text 26"/>
          <p:cNvSpPr/>
          <p:nvPr/>
        </p:nvSpPr>
        <p:spPr>
          <a:xfrm>
            <a:off x="4185666" y="3387852"/>
            <a:ext cx="292608" cy="292608"/>
          </a:xfrm>
          <a:prstGeom prst="rect">
            <a:avLst/>
          </a:prstGeom>
          <a:noFill/>
          <a:ln/>
        </p:spPr>
        <p:txBody>
          <a:bodyPr wrap="square" rtlCol="0" anchor="ctr"/>
          <a:lstStyle/>
          <a:p>
            <a:pPr marL="0" indent="0" algn="ctr">
              <a:buNone/>
            </a:pPr>
            <a:r>
              <a:rPr lang="en-US" sz="1300" b="1" dirty="0">
                <a:solidFill>
                  <a:srgbClr val="6B7280"/>
                </a:solidFill>
                <a:latin typeface="Calibri" pitchFamily="34" charset="0"/>
                <a:ea typeface="Calibri" pitchFamily="34" charset="-122"/>
                <a:cs typeface="Calibri" pitchFamily="34" charset="-120"/>
              </a:rPr>
              <a:t>–</a:t>
            </a:r>
            <a:endParaRPr lang="en-US" sz="1300" dirty="0"/>
          </a:p>
        </p:txBody>
      </p:sp>
      <p:sp>
        <p:nvSpPr>
          <p:cNvPr id="29" name="Shape 27"/>
          <p:cNvSpPr/>
          <p:nvPr/>
        </p:nvSpPr>
        <p:spPr>
          <a:xfrm>
            <a:off x="6265926" y="3396996"/>
            <a:ext cx="292608" cy="292608"/>
          </a:xfrm>
          <a:prstGeom prst="ellipse">
            <a:avLst/>
          </a:prstGeom>
          <a:solidFill>
            <a:srgbClr val="F0F0F0"/>
          </a:solidFill>
          <a:ln/>
        </p:spPr>
      </p:sp>
      <p:sp>
        <p:nvSpPr>
          <p:cNvPr id="30" name="Text 28"/>
          <p:cNvSpPr/>
          <p:nvPr/>
        </p:nvSpPr>
        <p:spPr>
          <a:xfrm>
            <a:off x="6265926" y="3387852"/>
            <a:ext cx="292608" cy="292608"/>
          </a:xfrm>
          <a:prstGeom prst="rect">
            <a:avLst/>
          </a:prstGeom>
          <a:noFill/>
          <a:ln/>
        </p:spPr>
        <p:txBody>
          <a:bodyPr wrap="square" rtlCol="0" anchor="ctr"/>
          <a:lstStyle/>
          <a:p>
            <a:pPr marL="0" indent="0" algn="ctr">
              <a:buNone/>
            </a:pPr>
            <a:r>
              <a:rPr lang="en-US" sz="1300" b="1" dirty="0">
                <a:solidFill>
                  <a:srgbClr val="6B7280"/>
                </a:solidFill>
                <a:latin typeface="Calibri" pitchFamily="34" charset="0"/>
                <a:ea typeface="Calibri" pitchFamily="34" charset="-122"/>
                <a:cs typeface="Calibri" pitchFamily="34" charset="-120"/>
              </a:rPr>
              <a:t>–</a:t>
            </a:r>
            <a:endParaRPr lang="en-US" sz="1300" dirty="0"/>
          </a:p>
        </p:txBody>
      </p:sp>
      <p:sp>
        <p:nvSpPr>
          <p:cNvPr id="31" name="Shape 29"/>
          <p:cNvSpPr/>
          <p:nvPr/>
        </p:nvSpPr>
        <p:spPr>
          <a:xfrm>
            <a:off x="8346186" y="3396996"/>
            <a:ext cx="292608" cy="292608"/>
          </a:xfrm>
          <a:prstGeom prst="ellipse">
            <a:avLst/>
          </a:prstGeom>
          <a:solidFill>
            <a:srgbClr val="3DDC97"/>
          </a:solidFill>
          <a:ln/>
        </p:spPr>
      </p:sp>
      <p:sp>
        <p:nvSpPr>
          <p:cNvPr id="32" name="Text 30"/>
          <p:cNvSpPr/>
          <p:nvPr/>
        </p:nvSpPr>
        <p:spPr>
          <a:xfrm>
            <a:off x="8346186" y="3387852"/>
            <a:ext cx="292608" cy="292608"/>
          </a:xfrm>
          <a:prstGeom prst="rect">
            <a:avLst/>
          </a:prstGeom>
          <a:noFill/>
          <a:ln/>
        </p:spPr>
        <p:txBody>
          <a:bodyPr wrap="square" rtlCol="0" anchor="ctr"/>
          <a:lstStyle/>
          <a:p>
            <a:pPr marL="0" indent="0" algn="ctr">
              <a:buNone/>
            </a:pPr>
            <a:r>
              <a:rPr lang="en-US" sz="1300" b="1" dirty="0">
                <a:solidFill>
                  <a:srgbClr val="14181A"/>
                </a:solidFill>
                <a:latin typeface="Calibri" pitchFamily="34" charset="0"/>
                <a:ea typeface="Calibri" pitchFamily="34" charset="-122"/>
                <a:cs typeface="Calibri" pitchFamily="34" charset="-120"/>
              </a:rPr>
              <a:t>✓</a:t>
            </a:r>
            <a:endParaRPr lang="en-US" sz="1300" dirty="0"/>
          </a:p>
        </p:txBody>
      </p:sp>
      <p:sp>
        <p:nvSpPr>
          <p:cNvPr id="33" name="Shape 31"/>
          <p:cNvSpPr/>
          <p:nvPr/>
        </p:nvSpPr>
        <p:spPr>
          <a:xfrm>
            <a:off x="10426446" y="3396996"/>
            <a:ext cx="292608" cy="292608"/>
          </a:xfrm>
          <a:prstGeom prst="ellipse">
            <a:avLst/>
          </a:prstGeom>
          <a:solidFill>
            <a:srgbClr val="F0F0F0"/>
          </a:solidFill>
          <a:ln/>
        </p:spPr>
      </p:sp>
      <p:sp>
        <p:nvSpPr>
          <p:cNvPr id="34" name="Text 32"/>
          <p:cNvSpPr/>
          <p:nvPr/>
        </p:nvSpPr>
        <p:spPr>
          <a:xfrm>
            <a:off x="10426446" y="3387852"/>
            <a:ext cx="292608" cy="292608"/>
          </a:xfrm>
          <a:prstGeom prst="rect">
            <a:avLst/>
          </a:prstGeom>
          <a:noFill/>
          <a:ln/>
        </p:spPr>
        <p:txBody>
          <a:bodyPr wrap="square" rtlCol="0" anchor="ctr"/>
          <a:lstStyle/>
          <a:p>
            <a:pPr marL="0" indent="0" algn="ctr">
              <a:buNone/>
            </a:pPr>
            <a:r>
              <a:rPr lang="en-US" sz="1300" b="1" dirty="0">
                <a:solidFill>
                  <a:srgbClr val="6B7280"/>
                </a:solidFill>
                <a:latin typeface="Calibri" pitchFamily="34" charset="0"/>
                <a:ea typeface="Calibri" pitchFamily="34" charset="-122"/>
                <a:cs typeface="Calibri" pitchFamily="34" charset="-120"/>
              </a:rPr>
              <a:t>–</a:t>
            </a:r>
            <a:endParaRPr lang="en-US" sz="1300" dirty="0"/>
          </a:p>
        </p:txBody>
      </p:sp>
      <p:sp>
        <p:nvSpPr>
          <p:cNvPr id="35" name="Shape 33"/>
          <p:cNvSpPr/>
          <p:nvPr/>
        </p:nvSpPr>
        <p:spPr>
          <a:xfrm>
            <a:off x="411480" y="3867912"/>
            <a:ext cx="11338560" cy="603504"/>
          </a:xfrm>
          <a:prstGeom prst="roundRect">
            <a:avLst>
              <a:gd name="adj" fmla="val 12121"/>
            </a:avLst>
          </a:prstGeom>
          <a:solidFill>
            <a:srgbClr val="14181A"/>
          </a:solidFill>
          <a:ln/>
        </p:spPr>
      </p:sp>
      <p:sp>
        <p:nvSpPr>
          <p:cNvPr id="36" name="Text 34"/>
          <p:cNvSpPr/>
          <p:nvPr/>
        </p:nvSpPr>
        <p:spPr>
          <a:xfrm>
            <a:off x="548640" y="3941064"/>
            <a:ext cx="2743200" cy="52120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NutriLens</a:t>
            </a:r>
            <a:endParaRPr lang="en-US" sz="1450" dirty="0"/>
          </a:p>
        </p:txBody>
      </p:sp>
      <p:sp>
        <p:nvSpPr>
          <p:cNvPr id="37" name="Shape 35"/>
          <p:cNvSpPr/>
          <p:nvPr/>
        </p:nvSpPr>
        <p:spPr>
          <a:xfrm>
            <a:off x="4185666" y="4055364"/>
            <a:ext cx="292608" cy="292608"/>
          </a:xfrm>
          <a:prstGeom prst="ellipse">
            <a:avLst/>
          </a:prstGeom>
          <a:solidFill>
            <a:srgbClr val="3DDC97"/>
          </a:solidFill>
          <a:ln/>
        </p:spPr>
      </p:sp>
      <p:sp>
        <p:nvSpPr>
          <p:cNvPr id="38" name="Text 36"/>
          <p:cNvSpPr/>
          <p:nvPr/>
        </p:nvSpPr>
        <p:spPr>
          <a:xfrm>
            <a:off x="4185666" y="4046220"/>
            <a:ext cx="292608" cy="292608"/>
          </a:xfrm>
          <a:prstGeom prst="rect">
            <a:avLst/>
          </a:prstGeom>
          <a:noFill/>
          <a:ln/>
        </p:spPr>
        <p:txBody>
          <a:bodyPr wrap="square" rtlCol="0" anchor="ctr"/>
          <a:lstStyle/>
          <a:p>
            <a:pPr marL="0" indent="0" algn="ctr">
              <a:buNone/>
            </a:pPr>
            <a:r>
              <a:rPr lang="en-US" sz="1300" b="1" dirty="0">
                <a:solidFill>
                  <a:srgbClr val="14181A"/>
                </a:solidFill>
                <a:latin typeface="Calibri" pitchFamily="34" charset="0"/>
                <a:ea typeface="Calibri" pitchFamily="34" charset="-122"/>
                <a:cs typeface="Calibri" pitchFamily="34" charset="-120"/>
              </a:rPr>
              <a:t>✓</a:t>
            </a:r>
            <a:endParaRPr lang="en-US" sz="1300" dirty="0"/>
          </a:p>
        </p:txBody>
      </p:sp>
      <p:sp>
        <p:nvSpPr>
          <p:cNvPr id="39" name="Shape 37"/>
          <p:cNvSpPr/>
          <p:nvPr/>
        </p:nvSpPr>
        <p:spPr>
          <a:xfrm>
            <a:off x="6265926" y="4055364"/>
            <a:ext cx="292608" cy="292608"/>
          </a:xfrm>
          <a:prstGeom prst="ellipse">
            <a:avLst/>
          </a:prstGeom>
          <a:solidFill>
            <a:srgbClr val="2A3330"/>
          </a:solidFill>
          <a:ln/>
        </p:spPr>
      </p:sp>
      <p:sp>
        <p:nvSpPr>
          <p:cNvPr id="40" name="Text 38"/>
          <p:cNvSpPr/>
          <p:nvPr/>
        </p:nvSpPr>
        <p:spPr>
          <a:xfrm>
            <a:off x="6265926" y="4046220"/>
            <a:ext cx="292608" cy="292608"/>
          </a:xfrm>
          <a:prstGeom prst="rect">
            <a:avLst/>
          </a:prstGeom>
          <a:noFill/>
          <a:ln/>
        </p:spPr>
        <p:txBody>
          <a:bodyPr wrap="square" rtlCol="0" anchor="ctr"/>
          <a:lstStyle/>
          <a:p>
            <a:pPr marL="0" indent="0" algn="ctr">
              <a:buNone/>
            </a:pPr>
            <a:r>
              <a:rPr lang="en-US" sz="1300" b="1" dirty="0">
                <a:solidFill>
                  <a:srgbClr val="6B7280"/>
                </a:solidFill>
                <a:latin typeface="Calibri" pitchFamily="34" charset="0"/>
                <a:ea typeface="Calibri" pitchFamily="34" charset="-122"/>
                <a:cs typeface="Calibri" pitchFamily="34" charset="-120"/>
              </a:rPr>
              <a:t>–</a:t>
            </a:r>
            <a:endParaRPr lang="en-US" sz="1300" dirty="0"/>
          </a:p>
        </p:txBody>
      </p:sp>
      <p:sp>
        <p:nvSpPr>
          <p:cNvPr id="41" name="Shape 39"/>
          <p:cNvSpPr/>
          <p:nvPr/>
        </p:nvSpPr>
        <p:spPr>
          <a:xfrm>
            <a:off x="8346186" y="4055364"/>
            <a:ext cx="292608" cy="292608"/>
          </a:xfrm>
          <a:prstGeom prst="ellipse">
            <a:avLst/>
          </a:prstGeom>
          <a:solidFill>
            <a:srgbClr val="3DDC97"/>
          </a:solidFill>
          <a:ln/>
        </p:spPr>
      </p:sp>
      <p:sp>
        <p:nvSpPr>
          <p:cNvPr id="42" name="Text 40"/>
          <p:cNvSpPr/>
          <p:nvPr/>
        </p:nvSpPr>
        <p:spPr>
          <a:xfrm>
            <a:off x="8346186" y="4046220"/>
            <a:ext cx="292608" cy="292608"/>
          </a:xfrm>
          <a:prstGeom prst="rect">
            <a:avLst/>
          </a:prstGeom>
          <a:noFill/>
          <a:ln/>
        </p:spPr>
        <p:txBody>
          <a:bodyPr wrap="square" rtlCol="0" anchor="ctr"/>
          <a:lstStyle/>
          <a:p>
            <a:pPr marL="0" indent="0" algn="ctr">
              <a:buNone/>
            </a:pPr>
            <a:r>
              <a:rPr lang="en-US" sz="1300" b="1" dirty="0">
                <a:solidFill>
                  <a:srgbClr val="14181A"/>
                </a:solidFill>
                <a:latin typeface="Calibri" pitchFamily="34" charset="0"/>
                <a:ea typeface="Calibri" pitchFamily="34" charset="-122"/>
                <a:cs typeface="Calibri" pitchFamily="34" charset="-120"/>
              </a:rPr>
              <a:t>✓</a:t>
            </a:r>
            <a:endParaRPr lang="en-US" sz="1300" dirty="0"/>
          </a:p>
        </p:txBody>
      </p:sp>
      <p:sp>
        <p:nvSpPr>
          <p:cNvPr id="43" name="Shape 41"/>
          <p:cNvSpPr/>
          <p:nvPr/>
        </p:nvSpPr>
        <p:spPr>
          <a:xfrm>
            <a:off x="10426446" y="4055364"/>
            <a:ext cx="292608" cy="292608"/>
          </a:xfrm>
          <a:prstGeom prst="ellipse">
            <a:avLst/>
          </a:prstGeom>
          <a:solidFill>
            <a:srgbClr val="3DDC97"/>
          </a:solidFill>
          <a:ln/>
        </p:spPr>
      </p:sp>
      <p:sp>
        <p:nvSpPr>
          <p:cNvPr id="44" name="Text 42"/>
          <p:cNvSpPr/>
          <p:nvPr/>
        </p:nvSpPr>
        <p:spPr>
          <a:xfrm>
            <a:off x="10426446" y="4046220"/>
            <a:ext cx="292608" cy="292608"/>
          </a:xfrm>
          <a:prstGeom prst="rect">
            <a:avLst/>
          </a:prstGeom>
          <a:noFill/>
          <a:ln/>
        </p:spPr>
        <p:txBody>
          <a:bodyPr wrap="square" rtlCol="0" anchor="ctr"/>
          <a:lstStyle/>
          <a:p>
            <a:pPr marL="0" indent="0" algn="ctr">
              <a:buNone/>
            </a:pPr>
            <a:r>
              <a:rPr lang="en-US" sz="1300" b="1" dirty="0">
                <a:solidFill>
                  <a:srgbClr val="14181A"/>
                </a:solidFill>
                <a:latin typeface="Calibri" pitchFamily="34" charset="0"/>
                <a:ea typeface="Calibri" pitchFamily="34" charset="-122"/>
                <a:cs typeface="Calibri" pitchFamily="34" charset="-120"/>
              </a:rPr>
              <a:t>✓</a:t>
            </a:r>
            <a:endParaRPr lang="en-US" sz="1300" dirty="0"/>
          </a:p>
        </p:txBody>
      </p:sp>
      <p:sp>
        <p:nvSpPr>
          <p:cNvPr id="45" name="Text 43"/>
          <p:cNvSpPr/>
          <p:nvPr/>
        </p:nvSpPr>
        <p:spPr>
          <a:xfrm>
            <a:off x="548640" y="4828032"/>
            <a:ext cx="10515600" cy="548640"/>
          </a:xfrm>
          <a:prstGeom prst="rect">
            <a:avLst/>
          </a:prstGeom>
          <a:noFill/>
          <a:ln/>
        </p:spPr>
        <p:txBody>
          <a:bodyPr wrap="square"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Multi-dish recognition remains future work (see Limitations) — every other capability here is implemented and tested end-to-end.</a:t>
            </a:r>
            <a:endParaRPr lang="en-US" sz="1300" dirty="0"/>
          </a:p>
        </p:txBody>
      </p:sp>
      <p:sp>
        <p:nvSpPr>
          <p:cNvPr id="46" name="Text 44"/>
          <p:cNvSpPr/>
          <p:nvPr/>
        </p:nvSpPr>
        <p:spPr>
          <a:xfrm>
            <a:off x="1154887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1F7A54"/>
                </a:solidFill>
                <a:latin typeface="Calibri" pitchFamily="34" charset="0"/>
                <a:ea typeface="Calibri" pitchFamily="34" charset="-122"/>
                <a:cs typeface="Calibri" pitchFamily="34" charset="-120"/>
              </a:rPr>
              <a:t>OUR SOLUTION</a:t>
            </a:r>
            <a:endParaRPr lang="en-US" sz="1300" dirty="0"/>
          </a:p>
        </p:txBody>
      </p:sp>
      <p:sp>
        <p:nvSpPr>
          <p:cNvPr id="3" name="Text 1"/>
          <p:cNvSpPr/>
          <p:nvPr/>
        </p:nvSpPr>
        <p:spPr>
          <a:xfrm>
            <a:off x="548640" y="658368"/>
            <a:ext cx="9601200" cy="822960"/>
          </a:xfrm>
          <a:prstGeom prst="rect">
            <a:avLst/>
          </a:prstGeom>
          <a:noFill/>
          <a:ln/>
        </p:spPr>
        <p:txBody>
          <a:bodyPr wrap="square" rtlCol="0" anchor="ctr"/>
          <a:lstStyle/>
          <a:p>
            <a:pPr marL="0" indent="0">
              <a:buNone/>
            </a:pPr>
            <a:r>
              <a:rPr lang="en-US" sz="3200" b="1" dirty="0">
                <a:solidFill>
                  <a:srgbClr val="16201C"/>
                </a:solidFill>
                <a:latin typeface="Cambria" pitchFamily="34" charset="0"/>
                <a:ea typeface="Cambria" pitchFamily="34" charset="-122"/>
                <a:cs typeface="Cambria" pitchFamily="34" charset="-120"/>
              </a:rPr>
              <a:t>NutriLens: three ideas working together</a:t>
            </a:r>
            <a:endParaRPr lang="en-US" sz="3200" dirty="0"/>
          </a:p>
        </p:txBody>
      </p:sp>
      <p:sp>
        <p:nvSpPr>
          <p:cNvPr id="4" name="Shape 2"/>
          <p:cNvSpPr/>
          <p:nvPr/>
        </p:nvSpPr>
        <p:spPr>
          <a:xfrm>
            <a:off x="548640" y="1965960"/>
            <a:ext cx="3520440" cy="3566160"/>
          </a:xfrm>
          <a:prstGeom prst="roundRect">
            <a:avLst>
              <a:gd name="adj" fmla="val 3117"/>
            </a:avLst>
          </a:prstGeom>
          <a:solidFill>
            <a:srgbClr val="F1F5F3"/>
          </a:solidFill>
          <a:ln/>
        </p:spPr>
      </p:sp>
      <p:sp>
        <p:nvSpPr>
          <p:cNvPr id="5" name="Shape 3"/>
          <p:cNvSpPr/>
          <p:nvPr/>
        </p:nvSpPr>
        <p:spPr>
          <a:xfrm>
            <a:off x="868680" y="2331720"/>
            <a:ext cx="685800" cy="685800"/>
          </a:xfrm>
          <a:prstGeom prst="ellipse">
            <a:avLst/>
          </a:prstGeom>
          <a:solidFill>
            <a:srgbClr val="14181A"/>
          </a:solidFill>
          <a:ln/>
        </p:spPr>
      </p:sp>
      <p:pic>
        <p:nvPicPr>
          <p:cNvPr id="6" name="Image 0" descr="assets/icon_camera_FFFFFF.png"/>
          <p:cNvPicPr>
            <a:picLocks noChangeAspect="1"/>
          </p:cNvPicPr>
          <p:nvPr/>
        </p:nvPicPr>
        <p:blipFill>
          <a:blip r:embed="rId3"/>
          <a:stretch>
            <a:fillRect/>
          </a:stretch>
        </p:blipFill>
        <p:spPr>
          <a:xfrm>
            <a:off x="1046988" y="2510028"/>
            <a:ext cx="329184" cy="329184"/>
          </a:xfrm>
          <a:prstGeom prst="rect">
            <a:avLst/>
          </a:prstGeom>
        </p:spPr>
      </p:pic>
      <p:sp>
        <p:nvSpPr>
          <p:cNvPr id="7" name="Text 4"/>
          <p:cNvSpPr/>
          <p:nvPr/>
        </p:nvSpPr>
        <p:spPr>
          <a:xfrm>
            <a:off x="868680" y="3200400"/>
            <a:ext cx="2880360" cy="457200"/>
          </a:xfrm>
          <a:prstGeom prst="rect">
            <a:avLst/>
          </a:prstGeom>
          <a:noFill/>
          <a:ln/>
        </p:spPr>
        <p:txBody>
          <a:bodyPr wrap="square" rtlCol="0" anchor="ctr"/>
          <a:lstStyle/>
          <a:p>
            <a:pPr marL="0" indent="0">
              <a:buNone/>
            </a:pPr>
            <a:r>
              <a:rPr lang="en-US" sz="2000" b="1" dirty="0">
                <a:solidFill>
                  <a:srgbClr val="16201C"/>
                </a:solidFill>
                <a:latin typeface="Cambria" pitchFamily="34" charset="0"/>
                <a:ea typeface="Cambria" pitchFamily="34" charset="-122"/>
                <a:cs typeface="Cambria" pitchFamily="34" charset="-120"/>
              </a:rPr>
              <a:t>Recognise</a:t>
            </a:r>
            <a:endParaRPr lang="en-US" sz="2000" dirty="0"/>
          </a:p>
        </p:txBody>
      </p:sp>
      <p:sp>
        <p:nvSpPr>
          <p:cNvPr id="8" name="Text 5"/>
          <p:cNvSpPr/>
          <p:nvPr/>
        </p:nvSpPr>
        <p:spPr>
          <a:xfrm>
            <a:off x="868680" y="3703320"/>
            <a:ext cx="2880360" cy="1691640"/>
          </a:xfrm>
          <a:prstGeom prst="rect">
            <a:avLst/>
          </a:prstGeom>
          <a:noFill/>
          <a:ln/>
        </p:spPr>
        <p:txBody>
          <a:bodyPr wrap="square" rtlCol="0" anchor="t"/>
          <a:lstStyle/>
          <a:p>
            <a:pPr marL="0" indent="0">
              <a:buNone/>
            </a:pPr>
            <a:r>
              <a:rPr lang="en-US" sz="1250" dirty="0">
                <a:solidFill>
                  <a:srgbClr val="6B7280"/>
                </a:solidFill>
                <a:latin typeface="Calibri" pitchFamily="34" charset="0"/>
                <a:ea typeface="Calibri" pitchFamily="34" charset="-122"/>
                <a:cs typeface="Calibri" pitchFamily="34" charset="-120"/>
              </a:rPr>
              <a:t>A fine-tuned EfficientNet-B4 model identifies the food in a photo across 101 categories, with an honest fallback when it isn't sure.</a:t>
            </a:r>
            <a:endParaRPr lang="en-US" sz="1250" dirty="0"/>
          </a:p>
        </p:txBody>
      </p:sp>
      <p:sp>
        <p:nvSpPr>
          <p:cNvPr id="9" name="Shape 6"/>
          <p:cNvSpPr/>
          <p:nvPr/>
        </p:nvSpPr>
        <p:spPr>
          <a:xfrm>
            <a:off x="4343400" y="1965960"/>
            <a:ext cx="3520440" cy="3566160"/>
          </a:xfrm>
          <a:prstGeom prst="roundRect">
            <a:avLst>
              <a:gd name="adj" fmla="val 3117"/>
            </a:avLst>
          </a:prstGeom>
          <a:solidFill>
            <a:srgbClr val="14181A"/>
          </a:solidFill>
          <a:ln/>
        </p:spPr>
      </p:sp>
      <p:sp>
        <p:nvSpPr>
          <p:cNvPr id="10" name="Shape 7"/>
          <p:cNvSpPr/>
          <p:nvPr/>
        </p:nvSpPr>
        <p:spPr>
          <a:xfrm>
            <a:off x="4663440" y="2331720"/>
            <a:ext cx="685800" cy="685800"/>
          </a:xfrm>
          <a:prstGeom prst="ellipse">
            <a:avLst/>
          </a:prstGeom>
          <a:solidFill>
            <a:srgbClr val="3DDC97"/>
          </a:solidFill>
          <a:ln/>
        </p:spPr>
      </p:sp>
      <p:pic>
        <p:nvPicPr>
          <p:cNvPr id="11" name="Image 1" descr="assets/icon_target_14181A.png"/>
          <p:cNvPicPr>
            <a:picLocks noChangeAspect="1"/>
          </p:cNvPicPr>
          <p:nvPr/>
        </p:nvPicPr>
        <p:blipFill>
          <a:blip r:embed="rId4"/>
          <a:stretch>
            <a:fillRect/>
          </a:stretch>
        </p:blipFill>
        <p:spPr>
          <a:xfrm>
            <a:off x="4841748" y="2510028"/>
            <a:ext cx="329184" cy="329184"/>
          </a:xfrm>
          <a:prstGeom prst="rect">
            <a:avLst/>
          </a:prstGeom>
        </p:spPr>
      </p:pic>
      <p:sp>
        <p:nvSpPr>
          <p:cNvPr id="12" name="Text 8"/>
          <p:cNvSpPr/>
          <p:nvPr/>
        </p:nvSpPr>
        <p:spPr>
          <a:xfrm>
            <a:off x="4663440" y="3200400"/>
            <a:ext cx="288036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Estimate</a:t>
            </a:r>
            <a:endParaRPr lang="en-US" sz="2000" dirty="0"/>
          </a:p>
        </p:txBody>
      </p:sp>
      <p:sp>
        <p:nvSpPr>
          <p:cNvPr id="13" name="Text 9"/>
          <p:cNvSpPr/>
          <p:nvPr/>
        </p:nvSpPr>
        <p:spPr>
          <a:xfrm>
            <a:off x="4663440" y="3703320"/>
            <a:ext cx="2880360" cy="1691640"/>
          </a:xfrm>
          <a:prstGeom prst="rect">
            <a:avLst/>
          </a:prstGeom>
          <a:noFill/>
          <a:ln/>
        </p:spPr>
        <p:txBody>
          <a:bodyPr wrap="square" rtlCol="0" anchor="t"/>
          <a:lstStyle/>
          <a:p>
            <a:pPr marL="0" indent="0">
              <a:buNone/>
            </a:pPr>
            <a:r>
              <a:rPr lang="en-US" sz="1250" dirty="0">
                <a:solidFill>
                  <a:srgbClr val="C7CFCB"/>
                </a:solidFill>
                <a:latin typeface="Calibri" pitchFamily="34" charset="0"/>
                <a:ea typeface="Calibri" pitchFamily="34" charset="-122"/>
                <a:cs typeface="Calibri" pitchFamily="34" charset="-120"/>
              </a:rPr>
              <a:t>A 3-stage computer-vision pipeline — container type, reference objects, shape priors — returns a calibrated portion range, never a fake-precise number.</a:t>
            </a:r>
            <a:endParaRPr lang="en-US" sz="1250" dirty="0"/>
          </a:p>
        </p:txBody>
      </p:sp>
      <p:sp>
        <p:nvSpPr>
          <p:cNvPr id="14" name="Shape 10"/>
          <p:cNvSpPr/>
          <p:nvPr/>
        </p:nvSpPr>
        <p:spPr>
          <a:xfrm>
            <a:off x="8138160" y="1965960"/>
            <a:ext cx="3520440" cy="3566160"/>
          </a:xfrm>
          <a:prstGeom prst="roundRect">
            <a:avLst>
              <a:gd name="adj" fmla="val 3117"/>
            </a:avLst>
          </a:prstGeom>
          <a:solidFill>
            <a:srgbClr val="F1F5F3"/>
          </a:solidFill>
          <a:ln/>
        </p:spPr>
      </p:sp>
      <p:sp>
        <p:nvSpPr>
          <p:cNvPr id="15" name="Shape 11"/>
          <p:cNvSpPr/>
          <p:nvPr/>
        </p:nvSpPr>
        <p:spPr>
          <a:xfrm>
            <a:off x="8458200" y="2331720"/>
            <a:ext cx="685800" cy="685800"/>
          </a:xfrm>
          <a:prstGeom prst="ellipse">
            <a:avLst/>
          </a:prstGeom>
          <a:solidFill>
            <a:srgbClr val="14181A"/>
          </a:solidFill>
          <a:ln/>
        </p:spPr>
      </p:sp>
      <p:pic>
        <p:nvPicPr>
          <p:cNvPr id="16" name="Image 2" descr="assets/icon_pie_FFFFFF.png"/>
          <p:cNvPicPr>
            <a:picLocks noChangeAspect="1"/>
          </p:cNvPicPr>
          <p:nvPr/>
        </p:nvPicPr>
        <p:blipFill>
          <a:blip r:embed="rId5"/>
          <a:stretch>
            <a:fillRect/>
          </a:stretch>
        </p:blipFill>
        <p:spPr>
          <a:xfrm>
            <a:off x="8636508" y="2510028"/>
            <a:ext cx="329184" cy="329184"/>
          </a:xfrm>
          <a:prstGeom prst="rect">
            <a:avLst/>
          </a:prstGeom>
        </p:spPr>
      </p:pic>
      <p:sp>
        <p:nvSpPr>
          <p:cNvPr id="17" name="Text 12"/>
          <p:cNvSpPr/>
          <p:nvPr/>
        </p:nvSpPr>
        <p:spPr>
          <a:xfrm>
            <a:off x="8458200" y="3200400"/>
            <a:ext cx="2880360" cy="457200"/>
          </a:xfrm>
          <a:prstGeom prst="rect">
            <a:avLst/>
          </a:prstGeom>
          <a:noFill/>
          <a:ln/>
        </p:spPr>
        <p:txBody>
          <a:bodyPr wrap="square" rtlCol="0" anchor="ctr"/>
          <a:lstStyle/>
          <a:p>
            <a:pPr marL="0" indent="0">
              <a:buNone/>
            </a:pPr>
            <a:r>
              <a:rPr lang="en-US" sz="2000" b="1" dirty="0">
                <a:solidFill>
                  <a:srgbClr val="16201C"/>
                </a:solidFill>
                <a:latin typeface="Cambria" pitchFamily="34" charset="0"/>
                <a:ea typeface="Cambria" pitchFamily="34" charset="-122"/>
                <a:cs typeface="Cambria" pitchFamily="34" charset="-120"/>
              </a:rPr>
              <a:t>Guide</a:t>
            </a:r>
            <a:endParaRPr lang="en-US" sz="2000" dirty="0"/>
          </a:p>
        </p:txBody>
      </p:sp>
      <p:sp>
        <p:nvSpPr>
          <p:cNvPr id="18" name="Text 13"/>
          <p:cNvSpPr/>
          <p:nvPr/>
        </p:nvSpPr>
        <p:spPr>
          <a:xfrm>
            <a:off x="8458200" y="3703320"/>
            <a:ext cx="2880360" cy="1691640"/>
          </a:xfrm>
          <a:prstGeom prst="rect">
            <a:avLst/>
          </a:prstGeom>
          <a:noFill/>
          <a:ln/>
        </p:spPr>
        <p:txBody>
          <a:bodyPr wrap="square" rtlCol="0" anchor="t"/>
          <a:lstStyle/>
          <a:p>
            <a:pPr marL="0" indent="0">
              <a:buNone/>
            </a:pPr>
            <a:r>
              <a:rPr lang="en-US" sz="1250" dirty="0">
                <a:solidFill>
                  <a:srgbClr val="6B7280"/>
                </a:solidFill>
                <a:latin typeface="Calibri" pitchFamily="34" charset="0"/>
                <a:ea typeface="Calibri" pitchFamily="34" charset="-122"/>
                <a:cs typeface="Calibri" pitchFamily="34" charset="-120"/>
              </a:rPr>
              <a:t>Once enough meals are logged, a content-based recommendation engine surfaces personalised, goal-aligned dietary insights.</a:t>
            </a:r>
            <a:endParaRPr lang="en-US" sz="1250" dirty="0"/>
          </a:p>
        </p:txBody>
      </p:sp>
      <p:sp>
        <p:nvSpPr>
          <p:cNvPr id="19" name="Text 14"/>
          <p:cNvSpPr/>
          <p:nvPr/>
        </p:nvSpPr>
        <p:spPr>
          <a:xfrm>
            <a:off x="1154887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1F7A54"/>
                </a:solidFill>
                <a:latin typeface="Calibri" pitchFamily="34" charset="0"/>
                <a:ea typeface="Calibri" pitchFamily="34" charset="-122"/>
                <a:cs typeface="Calibri" pitchFamily="34" charset="-120"/>
              </a:rPr>
              <a:t>ARCHITECTURE</a:t>
            </a:r>
            <a:endParaRPr lang="en-US" sz="1300" dirty="0"/>
          </a:p>
        </p:txBody>
      </p:sp>
      <p:sp>
        <p:nvSpPr>
          <p:cNvPr id="3" name="Text 1"/>
          <p:cNvSpPr/>
          <p:nvPr/>
        </p:nvSpPr>
        <p:spPr>
          <a:xfrm>
            <a:off x="548640" y="658368"/>
            <a:ext cx="9601200" cy="822960"/>
          </a:xfrm>
          <a:prstGeom prst="rect">
            <a:avLst/>
          </a:prstGeom>
          <a:noFill/>
          <a:ln/>
        </p:spPr>
        <p:txBody>
          <a:bodyPr wrap="square" rtlCol="0" anchor="ctr"/>
          <a:lstStyle/>
          <a:p>
            <a:pPr marL="0" indent="0">
              <a:buNone/>
            </a:pPr>
            <a:r>
              <a:rPr lang="en-US" sz="3200" b="1" dirty="0">
                <a:solidFill>
                  <a:srgbClr val="16201C"/>
                </a:solidFill>
                <a:latin typeface="Cambria" pitchFamily="34" charset="0"/>
                <a:ea typeface="Cambria" pitchFamily="34" charset="-122"/>
                <a:cs typeface="Cambria" pitchFamily="34" charset="-120"/>
              </a:rPr>
              <a:t>A clean three-tier system</a:t>
            </a:r>
            <a:endParaRPr lang="en-US" sz="3200" dirty="0"/>
          </a:p>
        </p:txBody>
      </p:sp>
      <p:sp>
        <p:nvSpPr>
          <p:cNvPr id="4" name="Text 2"/>
          <p:cNvSpPr/>
          <p:nvPr/>
        </p:nvSpPr>
        <p:spPr>
          <a:xfrm>
            <a:off x="548640" y="1371600"/>
            <a:ext cx="10515600" cy="45720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A native React Native (Expo) app for iOS and Android, talking HTTPS/JSON to a FastAPI backend that hosts the recognition, portion, nutrition and recommendation modules over PostgreSQL 15, PyTorch, and USDA FoodData Central.</a:t>
            </a:r>
            <a:endParaRPr lang="en-US" sz="1300" dirty="0"/>
          </a:p>
        </p:txBody>
      </p:sp>
      <p:sp>
        <p:nvSpPr>
          <p:cNvPr id="6" name="Text 3"/>
          <p:cNvSpPr/>
          <p:nvPr/>
        </p:nvSpPr>
        <p:spPr>
          <a:xfrm>
            <a:off x="1154887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05</a:t>
            </a:r>
            <a:endParaRPr lang="en-US" sz="1000" dirty="0"/>
          </a:p>
        </p:txBody>
      </p:sp>
      <p:sp>
        <p:nvSpPr>
          <p:cNvPr id="7" name="Rounded Rectangle 6"/>
          <p:cNvSpPr/>
          <p:nvPr/>
        </p:nvSpPr>
        <p:spPr>
          <a:xfrm>
            <a:off x="548640" y="2084831"/>
            <a:ext cx="11109960" cy="932688"/>
          </a:xfrm>
          <a:prstGeom prst="roundRect">
            <a:avLst>
              <a:gd name="adj" fmla="val 4000"/>
            </a:avLst>
          </a:prstGeom>
          <a:solidFill>
            <a:srgbClr val="ED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194560"/>
            <a:ext cx="2743200" cy="219456"/>
          </a:xfrm>
          <a:prstGeom prst="rect">
            <a:avLst/>
          </a:prstGeom>
          <a:noFill/>
        </p:spPr>
        <p:txBody>
          <a:bodyPr wrap="square" lIns="0" tIns="0" rIns="0" bIns="0">
            <a:spAutoFit/>
          </a:bodyPr>
          <a:lstStyle/>
          <a:p>
            <a:pPr algn="l">
              <a:lnSpc>
                <a:spcPct val="100000"/>
              </a:lnSpc>
            </a:pPr>
            <a:r>
              <a:rPr sz="900" b="1">
                <a:solidFill>
                  <a:srgbClr val="3A5A8C"/>
                </a:solidFill>
                <a:latin typeface="Calibri"/>
              </a:rPr>
              <a:t>CLIENT LAYER</a:t>
            </a:r>
          </a:p>
        </p:txBody>
      </p:sp>
      <p:sp>
        <p:nvSpPr>
          <p:cNvPr id="9" name="Rounded Rectangle 8"/>
          <p:cNvSpPr/>
          <p:nvPr/>
        </p:nvSpPr>
        <p:spPr>
          <a:xfrm>
            <a:off x="3931920" y="2432304"/>
            <a:ext cx="1920240" cy="475488"/>
          </a:xfrm>
          <a:prstGeom prst="roundRect">
            <a:avLst>
              <a:gd name="adj" fmla="val 10000"/>
            </a:avLst>
          </a:prstGeom>
          <a:solidFill>
            <a:srgbClr val="FFFFFF"/>
          </a:solidFill>
          <a:ln w="9525">
            <a:solidFill>
              <a:srgbClr val="B9CCE6"/>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100" b="1">
                <a:solidFill>
                  <a:srgbClr val="16201C"/>
                </a:solidFill>
                <a:latin typeface="Calibri"/>
              </a:rPr>
              <a:t>iOS App</a:t>
            </a:r>
          </a:p>
          <a:p>
            <a:pPr algn="ctr">
              <a:lnSpc>
                <a:spcPct val="100000"/>
              </a:lnSpc>
            </a:pPr>
            <a:r>
              <a:rPr sz="800">
                <a:solidFill>
                  <a:srgbClr val="6B7280"/>
                </a:solidFill>
                <a:latin typeface="Calibri"/>
              </a:rPr>
              <a:t>React Native · Expo</a:t>
            </a:r>
          </a:p>
        </p:txBody>
      </p:sp>
      <p:sp>
        <p:nvSpPr>
          <p:cNvPr id="10" name="Rounded Rectangle 9"/>
          <p:cNvSpPr/>
          <p:nvPr/>
        </p:nvSpPr>
        <p:spPr>
          <a:xfrm>
            <a:off x="6355080" y="2432304"/>
            <a:ext cx="1920240" cy="475488"/>
          </a:xfrm>
          <a:prstGeom prst="roundRect">
            <a:avLst>
              <a:gd name="adj" fmla="val 10000"/>
            </a:avLst>
          </a:prstGeom>
          <a:solidFill>
            <a:srgbClr val="FFFFFF"/>
          </a:solidFill>
          <a:ln w="9525">
            <a:solidFill>
              <a:srgbClr val="B9CCE6"/>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100" b="1">
                <a:solidFill>
                  <a:srgbClr val="16201C"/>
                </a:solidFill>
                <a:latin typeface="Calibri"/>
              </a:rPr>
              <a:t>Android App</a:t>
            </a:r>
          </a:p>
          <a:p>
            <a:pPr algn="ctr">
              <a:lnSpc>
                <a:spcPct val="100000"/>
              </a:lnSpc>
            </a:pPr>
            <a:r>
              <a:rPr sz="800">
                <a:solidFill>
                  <a:srgbClr val="6B7280"/>
                </a:solidFill>
                <a:latin typeface="Calibri"/>
              </a:rPr>
              <a:t>React Native · Expo</a:t>
            </a:r>
          </a:p>
        </p:txBody>
      </p:sp>
      <p:sp>
        <p:nvSpPr>
          <p:cNvPr id="11" name="TextBox 10"/>
          <p:cNvSpPr txBox="1"/>
          <p:nvPr/>
        </p:nvSpPr>
        <p:spPr>
          <a:xfrm>
            <a:off x="8549640" y="2542032"/>
            <a:ext cx="2834640" cy="274320"/>
          </a:xfrm>
          <a:prstGeom prst="rect">
            <a:avLst/>
          </a:prstGeom>
          <a:noFill/>
        </p:spPr>
        <p:txBody>
          <a:bodyPr wrap="square" lIns="0" tIns="0" rIns="0" bIns="0">
            <a:spAutoFit/>
          </a:bodyPr>
          <a:lstStyle/>
          <a:p>
            <a:pPr algn="l">
              <a:lnSpc>
                <a:spcPct val="100000"/>
              </a:lnSpc>
            </a:pPr>
            <a:r>
              <a:rPr sz="850" b="0">
                <a:solidFill>
                  <a:srgbClr val="3A5A8C"/>
                </a:solidFill>
                <a:latin typeface="Calibri"/>
              </a:rPr>
              <a:t>One TypeScript codebase  ·  camera, gallery, on-device resize</a:t>
            </a:r>
          </a:p>
        </p:txBody>
      </p:sp>
      <p:sp>
        <p:nvSpPr>
          <p:cNvPr id="12" name="Rounded Rectangle 11"/>
          <p:cNvSpPr/>
          <p:nvPr/>
        </p:nvSpPr>
        <p:spPr>
          <a:xfrm>
            <a:off x="548640" y="3182112"/>
            <a:ext cx="11109960" cy="2121408"/>
          </a:xfrm>
          <a:prstGeom prst="roundRect">
            <a:avLst>
              <a:gd name="adj" fmla="val 4000"/>
            </a:avLst>
          </a:prstGeom>
          <a:solidFill>
            <a:srgbClr val="EA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3291840"/>
            <a:ext cx="2743200" cy="219456"/>
          </a:xfrm>
          <a:prstGeom prst="rect">
            <a:avLst/>
          </a:prstGeom>
          <a:noFill/>
        </p:spPr>
        <p:txBody>
          <a:bodyPr wrap="square" lIns="0" tIns="0" rIns="0" bIns="0">
            <a:spAutoFit/>
          </a:bodyPr>
          <a:lstStyle/>
          <a:p>
            <a:pPr algn="l">
              <a:lnSpc>
                <a:spcPct val="100000"/>
              </a:lnSpc>
            </a:pPr>
            <a:r>
              <a:rPr sz="900" b="1">
                <a:solidFill>
                  <a:srgbClr val="1F7A54"/>
                </a:solidFill>
                <a:latin typeface="Calibri"/>
              </a:rPr>
              <a:t>BACKEND LAYER</a:t>
            </a:r>
          </a:p>
        </p:txBody>
      </p:sp>
      <p:sp>
        <p:nvSpPr>
          <p:cNvPr id="14" name="Rounded Rectangle 13"/>
          <p:cNvSpPr/>
          <p:nvPr/>
        </p:nvSpPr>
        <p:spPr>
          <a:xfrm>
            <a:off x="4910328" y="3566160"/>
            <a:ext cx="2377440" cy="457200"/>
          </a:xfrm>
          <a:prstGeom prst="roundRect">
            <a:avLst>
              <a:gd name="adj" fmla="val 10000"/>
            </a:avLst>
          </a:prstGeom>
          <a:solidFill>
            <a:srgbClr val="FFFFFF"/>
          </a:solidFill>
          <a:ln w="9525">
            <a:solidFill>
              <a:srgbClr val="AFD6C3"/>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100" b="1">
                <a:solidFill>
                  <a:srgbClr val="16201C"/>
                </a:solidFill>
                <a:latin typeface="Calibri"/>
              </a:rPr>
              <a:t>REST API Gateway</a:t>
            </a:r>
          </a:p>
          <a:p>
            <a:pPr algn="ctr">
              <a:lnSpc>
                <a:spcPct val="100000"/>
              </a:lnSpc>
            </a:pPr>
            <a:r>
              <a:rPr sz="800">
                <a:solidFill>
                  <a:srgbClr val="6B7280"/>
                </a:solidFill>
                <a:latin typeface="Calibri"/>
              </a:rPr>
              <a:t>FastAPI · JWT + bcrypt</a:t>
            </a:r>
          </a:p>
        </p:txBody>
      </p:sp>
      <p:sp>
        <p:nvSpPr>
          <p:cNvPr id="15" name="Rounded Rectangle 14"/>
          <p:cNvSpPr/>
          <p:nvPr/>
        </p:nvSpPr>
        <p:spPr>
          <a:xfrm>
            <a:off x="868680" y="4279392"/>
            <a:ext cx="1874519" cy="658368"/>
          </a:xfrm>
          <a:prstGeom prst="roundRect">
            <a:avLst>
              <a:gd name="adj" fmla="val 10000"/>
            </a:avLst>
          </a:prstGeom>
          <a:solidFill>
            <a:srgbClr val="FFFFFF"/>
          </a:solidFill>
          <a:ln w="9525">
            <a:solidFill>
              <a:srgbClr val="AFD6C3"/>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050" b="1">
                <a:solidFill>
                  <a:srgbClr val="16201C"/>
                </a:solidFill>
                <a:latin typeface="Calibri"/>
              </a:rPr>
              <a:t>Image Preprocessing</a:t>
            </a:r>
          </a:p>
          <a:p>
            <a:pPr algn="ctr">
              <a:lnSpc>
                <a:spcPct val="100000"/>
              </a:lnSpc>
            </a:pPr>
            <a:r>
              <a:rPr sz="750">
                <a:solidFill>
                  <a:srgbClr val="6B7280"/>
                </a:solidFill>
                <a:latin typeface="Calibri"/>
              </a:rPr>
              <a:t>validation · quality · food gate</a:t>
            </a:r>
          </a:p>
        </p:txBody>
      </p:sp>
      <p:sp>
        <p:nvSpPr>
          <p:cNvPr id="16" name="Rounded Rectangle 15"/>
          <p:cNvSpPr/>
          <p:nvPr/>
        </p:nvSpPr>
        <p:spPr>
          <a:xfrm>
            <a:off x="3017520" y="4279392"/>
            <a:ext cx="1874519" cy="658368"/>
          </a:xfrm>
          <a:prstGeom prst="roundRect">
            <a:avLst>
              <a:gd name="adj" fmla="val 10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050" b="1">
                <a:solidFill>
                  <a:srgbClr val="FFFFFF"/>
                </a:solidFill>
                <a:latin typeface="Calibri"/>
              </a:rPr>
              <a:t>Food Recognition</a:t>
            </a:r>
          </a:p>
          <a:p>
            <a:pPr algn="ctr">
              <a:lnSpc>
                <a:spcPct val="100000"/>
              </a:lnSpc>
            </a:pPr>
            <a:r>
              <a:rPr sz="750">
                <a:solidFill>
                  <a:srgbClr val="3DDC97"/>
                </a:solidFill>
                <a:latin typeface="Calibri"/>
              </a:rPr>
              <a:t>EfficientNet-B4 · 101 classes</a:t>
            </a:r>
          </a:p>
        </p:txBody>
      </p:sp>
      <p:sp>
        <p:nvSpPr>
          <p:cNvPr id="17" name="Rounded Rectangle 16"/>
          <p:cNvSpPr/>
          <p:nvPr/>
        </p:nvSpPr>
        <p:spPr>
          <a:xfrm>
            <a:off x="5166360" y="4279392"/>
            <a:ext cx="1874519" cy="658368"/>
          </a:xfrm>
          <a:prstGeom prst="roundRect">
            <a:avLst>
              <a:gd name="adj" fmla="val 10000"/>
            </a:avLst>
          </a:prstGeom>
          <a:solidFill>
            <a:srgbClr val="FFFFFF"/>
          </a:solidFill>
          <a:ln w="9525">
            <a:solidFill>
              <a:srgbClr val="AFD6C3"/>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050" b="1">
                <a:solidFill>
                  <a:srgbClr val="16201C"/>
                </a:solidFill>
                <a:latin typeface="Calibri"/>
              </a:rPr>
              <a:t>Portion Estimation</a:t>
            </a:r>
          </a:p>
          <a:p>
            <a:pPr algn="ctr">
              <a:lnSpc>
                <a:spcPct val="100000"/>
              </a:lnSpc>
            </a:pPr>
            <a:r>
              <a:rPr sz="750">
                <a:solidFill>
                  <a:srgbClr val="6B7280"/>
                </a:solidFill>
                <a:latin typeface="Calibri"/>
              </a:rPr>
              <a:t>segment · scale · shape priors</a:t>
            </a:r>
          </a:p>
        </p:txBody>
      </p:sp>
      <p:sp>
        <p:nvSpPr>
          <p:cNvPr id="18" name="Rounded Rectangle 17"/>
          <p:cNvSpPr/>
          <p:nvPr/>
        </p:nvSpPr>
        <p:spPr>
          <a:xfrm>
            <a:off x="7315200" y="4279392"/>
            <a:ext cx="1874519" cy="658368"/>
          </a:xfrm>
          <a:prstGeom prst="roundRect">
            <a:avLst>
              <a:gd name="adj" fmla="val 10000"/>
            </a:avLst>
          </a:prstGeom>
          <a:solidFill>
            <a:srgbClr val="FFFFFF"/>
          </a:solidFill>
          <a:ln w="9525">
            <a:solidFill>
              <a:srgbClr val="AFD6C3"/>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050" b="1">
                <a:solidFill>
                  <a:srgbClr val="16201C"/>
                </a:solidFill>
                <a:latin typeface="Calibri"/>
              </a:rPr>
              <a:t>Nutrition Lookup</a:t>
            </a:r>
          </a:p>
          <a:p>
            <a:pPr algn="ctr">
              <a:lnSpc>
                <a:spcPct val="100000"/>
              </a:lnSpc>
            </a:pPr>
            <a:r>
              <a:rPr sz="750">
                <a:solidFill>
                  <a:srgbClr val="6B7280"/>
                </a:solidFill>
                <a:latin typeface="Calibri"/>
              </a:rPr>
              <a:t>USDA query · portion scaling</a:t>
            </a:r>
          </a:p>
        </p:txBody>
      </p:sp>
      <p:sp>
        <p:nvSpPr>
          <p:cNvPr id="19" name="Rounded Rectangle 18"/>
          <p:cNvSpPr/>
          <p:nvPr/>
        </p:nvSpPr>
        <p:spPr>
          <a:xfrm>
            <a:off x="9464040" y="4279392"/>
            <a:ext cx="1874519" cy="658368"/>
          </a:xfrm>
          <a:prstGeom prst="roundRect">
            <a:avLst>
              <a:gd name="adj" fmla="val 10000"/>
            </a:avLst>
          </a:prstGeom>
          <a:solidFill>
            <a:srgbClr val="FFFFFF"/>
          </a:solidFill>
          <a:ln w="9525">
            <a:solidFill>
              <a:srgbClr val="AFD6C3"/>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050" b="1">
                <a:solidFill>
                  <a:srgbClr val="16201C"/>
                </a:solidFill>
                <a:latin typeface="Calibri"/>
              </a:rPr>
              <a:t>Recommendation Engine</a:t>
            </a:r>
          </a:p>
          <a:p>
            <a:pPr algn="ctr">
              <a:lnSpc>
                <a:spcPct val="100000"/>
              </a:lnSpc>
            </a:pPr>
            <a:r>
              <a:rPr sz="750">
                <a:solidFill>
                  <a:srgbClr val="6B7280"/>
                </a:solidFill>
                <a:latin typeface="Calibri"/>
              </a:rPr>
              <a:t>BMR/TDEE · goal gap analysis</a:t>
            </a:r>
          </a:p>
        </p:txBody>
      </p:sp>
      <p:sp>
        <p:nvSpPr>
          <p:cNvPr id="20" name="Rounded Rectangle 19"/>
          <p:cNvSpPr/>
          <p:nvPr/>
        </p:nvSpPr>
        <p:spPr>
          <a:xfrm>
            <a:off x="548640" y="5468112"/>
            <a:ext cx="11109960" cy="886968"/>
          </a:xfrm>
          <a:prstGeom prst="roundRect">
            <a:avLst>
              <a:gd name="adj" fmla="val 4000"/>
            </a:avLst>
          </a:prstGeom>
          <a:solidFill>
            <a:srgbClr val="FC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5559552"/>
            <a:ext cx="2743200" cy="219456"/>
          </a:xfrm>
          <a:prstGeom prst="rect">
            <a:avLst/>
          </a:prstGeom>
          <a:noFill/>
        </p:spPr>
        <p:txBody>
          <a:bodyPr wrap="square" lIns="0" tIns="0" rIns="0" bIns="0">
            <a:spAutoFit/>
          </a:bodyPr>
          <a:lstStyle/>
          <a:p>
            <a:pPr algn="l">
              <a:lnSpc>
                <a:spcPct val="100000"/>
              </a:lnSpc>
            </a:pPr>
            <a:r>
              <a:rPr sz="900" b="1">
                <a:solidFill>
                  <a:srgbClr val="A9741F"/>
                </a:solidFill>
                <a:latin typeface="Calibri"/>
              </a:rPr>
              <a:t>DATA LAYER</a:t>
            </a:r>
          </a:p>
        </p:txBody>
      </p:sp>
      <p:sp>
        <p:nvSpPr>
          <p:cNvPr id="22" name="Rounded Rectangle 21"/>
          <p:cNvSpPr/>
          <p:nvPr/>
        </p:nvSpPr>
        <p:spPr>
          <a:xfrm>
            <a:off x="3017520" y="5779008"/>
            <a:ext cx="1874519" cy="438912"/>
          </a:xfrm>
          <a:prstGeom prst="roundRect">
            <a:avLst>
              <a:gd name="adj" fmla="val 10000"/>
            </a:avLst>
          </a:prstGeom>
          <a:solidFill>
            <a:srgbClr val="FFFFFF"/>
          </a:solidFill>
          <a:ln w="9525">
            <a:solidFill>
              <a:srgbClr val="E8CBA5"/>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100" b="1">
                <a:solidFill>
                  <a:srgbClr val="16201C"/>
                </a:solidFill>
                <a:latin typeface="Calibri"/>
              </a:rPr>
              <a:t>Model Store</a:t>
            </a:r>
          </a:p>
          <a:p>
            <a:pPr algn="ctr">
              <a:lnSpc>
                <a:spcPct val="100000"/>
              </a:lnSpc>
            </a:pPr>
            <a:r>
              <a:rPr sz="800">
                <a:solidFill>
                  <a:srgbClr val="6B7280"/>
                </a:solidFill>
                <a:latin typeface="Calibri"/>
              </a:rPr>
              <a:t>.pth weights · 5 models</a:t>
            </a:r>
          </a:p>
        </p:txBody>
      </p:sp>
      <p:sp>
        <p:nvSpPr>
          <p:cNvPr id="23" name="Rounded Rectangle 22"/>
          <p:cNvSpPr/>
          <p:nvPr/>
        </p:nvSpPr>
        <p:spPr>
          <a:xfrm>
            <a:off x="7178040" y="5779008"/>
            <a:ext cx="2103120" cy="438912"/>
          </a:xfrm>
          <a:prstGeom prst="roundRect">
            <a:avLst>
              <a:gd name="adj" fmla="val 10000"/>
            </a:avLst>
          </a:prstGeom>
          <a:solidFill>
            <a:srgbClr val="FFFFFF"/>
          </a:solidFill>
          <a:ln w="9525">
            <a:solidFill>
              <a:srgbClr val="E8CBA5"/>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100" b="1">
                <a:solidFill>
                  <a:srgbClr val="16201C"/>
                </a:solidFill>
                <a:latin typeface="Calibri"/>
              </a:rPr>
              <a:t>USDA FoodData Central</a:t>
            </a:r>
          </a:p>
          <a:p>
            <a:pPr algn="ctr">
              <a:lnSpc>
                <a:spcPct val="100000"/>
              </a:lnSpc>
            </a:pPr>
            <a:r>
              <a:rPr sz="800">
                <a:solidFill>
                  <a:srgbClr val="6B7280"/>
                </a:solidFill>
                <a:latin typeface="Calibri"/>
              </a:rPr>
              <a:t>REST API + 180-day cache</a:t>
            </a:r>
          </a:p>
        </p:txBody>
      </p:sp>
      <p:sp>
        <p:nvSpPr>
          <p:cNvPr id="24" name="Rounded Rectangle 23"/>
          <p:cNvSpPr/>
          <p:nvPr/>
        </p:nvSpPr>
        <p:spPr>
          <a:xfrm>
            <a:off x="9464040" y="5779008"/>
            <a:ext cx="1874519" cy="438912"/>
          </a:xfrm>
          <a:prstGeom prst="roundRect">
            <a:avLst>
              <a:gd name="adj" fmla="val 10000"/>
            </a:avLst>
          </a:prstGeom>
          <a:solidFill>
            <a:srgbClr val="FFFFFF"/>
          </a:solidFill>
          <a:ln w="9525">
            <a:solidFill>
              <a:srgbClr val="E8CBA5"/>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100" b="1">
                <a:solidFill>
                  <a:srgbClr val="16201C"/>
                </a:solidFill>
                <a:latin typeface="Calibri"/>
              </a:rPr>
              <a:t>PostgreSQL 15</a:t>
            </a:r>
          </a:p>
          <a:p>
            <a:pPr algn="ctr">
              <a:lnSpc>
                <a:spcPct val="100000"/>
              </a:lnSpc>
            </a:pPr>
            <a:r>
              <a:rPr sz="800">
                <a:solidFill>
                  <a:srgbClr val="6B7280"/>
                </a:solidFill>
                <a:latin typeface="Calibri"/>
              </a:rPr>
              <a:t>Docker · Alembic · 3NF</a:t>
            </a:r>
          </a:p>
        </p:txBody>
      </p:sp>
      <p:cxnSp>
        <p:nvCxnSpPr>
          <p:cNvPr id="25" name="Connector 24"/>
          <p:cNvCxnSpPr/>
          <p:nvPr/>
        </p:nvCxnSpPr>
        <p:spPr>
          <a:xfrm>
            <a:off x="6103620" y="2926080"/>
            <a:ext cx="0" cy="621792"/>
          </a:xfrm>
          <a:prstGeom prst="line">
            <a:avLst/>
          </a:prstGeom>
          <a:ln w="12700">
            <a:solidFill>
              <a:srgbClr val="9AA5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217920" y="3035808"/>
            <a:ext cx="1645920" cy="182880"/>
          </a:xfrm>
          <a:prstGeom prst="rect">
            <a:avLst/>
          </a:prstGeom>
          <a:noFill/>
        </p:spPr>
        <p:txBody>
          <a:bodyPr wrap="square" lIns="0" tIns="0" rIns="0" bIns="0">
            <a:spAutoFit/>
          </a:bodyPr>
          <a:lstStyle/>
          <a:p>
            <a:pPr algn="l">
              <a:lnSpc>
                <a:spcPct val="100000"/>
              </a:lnSpc>
            </a:pPr>
            <a:r>
              <a:rPr sz="800" b="0">
                <a:solidFill>
                  <a:srgbClr val="3A5A8C"/>
                </a:solidFill>
                <a:latin typeface="Calibri"/>
              </a:rPr>
              <a:t>HTTPS / JSON</a:t>
            </a:r>
          </a:p>
        </p:txBody>
      </p:sp>
      <p:cxnSp>
        <p:nvCxnSpPr>
          <p:cNvPr id="27" name="Connector 26"/>
          <p:cNvCxnSpPr/>
          <p:nvPr/>
        </p:nvCxnSpPr>
        <p:spPr>
          <a:xfrm>
            <a:off x="6103620" y="4023360"/>
            <a:ext cx="0" cy="128016"/>
          </a:xfrm>
          <a:prstGeom prst="line">
            <a:avLst/>
          </a:prstGeom>
          <a:ln w="12700">
            <a:solidFill>
              <a:srgbClr val="9AA5A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805940" y="4151376"/>
            <a:ext cx="8595360" cy="0"/>
          </a:xfrm>
          <a:prstGeom prst="line">
            <a:avLst/>
          </a:prstGeom>
          <a:ln w="12700">
            <a:solidFill>
              <a:srgbClr val="9AA5A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805940" y="4151376"/>
            <a:ext cx="0" cy="109728"/>
          </a:xfrm>
          <a:prstGeom prst="line">
            <a:avLst/>
          </a:prstGeom>
          <a:ln w="12700">
            <a:solidFill>
              <a:srgbClr val="9AA5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954780" y="4151376"/>
            <a:ext cx="0" cy="109728"/>
          </a:xfrm>
          <a:prstGeom prst="line">
            <a:avLst/>
          </a:prstGeom>
          <a:ln w="12700">
            <a:solidFill>
              <a:srgbClr val="9AA5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103620" y="4151376"/>
            <a:ext cx="0" cy="109728"/>
          </a:xfrm>
          <a:prstGeom prst="line">
            <a:avLst/>
          </a:prstGeom>
          <a:ln w="12700">
            <a:solidFill>
              <a:srgbClr val="9AA5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252460" y="4151376"/>
            <a:ext cx="0" cy="109728"/>
          </a:xfrm>
          <a:prstGeom prst="line">
            <a:avLst/>
          </a:prstGeom>
          <a:ln w="12700">
            <a:solidFill>
              <a:srgbClr val="9AA5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401300" y="4151376"/>
            <a:ext cx="0" cy="109728"/>
          </a:xfrm>
          <a:prstGeom prst="line">
            <a:avLst/>
          </a:prstGeom>
          <a:ln w="12700">
            <a:solidFill>
              <a:srgbClr val="9AA5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954780" y="4956048"/>
            <a:ext cx="0" cy="804672"/>
          </a:xfrm>
          <a:prstGeom prst="line">
            <a:avLst/>
          </a:prstGeom>
          <a:ln w="12700">
            <a:solidFill>
              <a:srgbClr val="9AA5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252460" y="4956048"/>
            <a:ext cx="0" cy="804672"/>
          </a:xfrm>
          <a:prstGeom prst="line">
            <a:avLst/>
          </a:prstGeom>
          <a:ln w="12700">
            <a:solidFill>
              <a:srgbClr val="9AA5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401300" y="4956048"/>
            <a:ext cx="0" cy="804672"/>
          </a:xfrm>
          <a:prstGeom prst="line">
            <a:avLst/>
          </a:prstGeom>
          <a:ln w="12700">
            <a:solidFill>
              <a:srgbClr val="9AA5A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1F7A54"/>
                </a:solidFill>
                <a:latin typeface="Calibri" pitchFamily="34" charset="0"/>
                <a:ea typeface="Calibri" pitchFamily="34" charset="-122"/>
                <a:cs typeface="Calibri" pitchFamily="34" charset="-120"/>
              </a:rPr>
              <a:t>HOW IT WORKS</a:t>
            </a:r>
            <a:endParaRPr lang="en-US" sz="1300" dirty="0"/>
          </a:p>
        </p:txBody>
      </p:sp>
      <p:sp>
        <p:nvSpPr>
          <p:cNvPr id="3" name="Text 1"/>
          <p:cNvSpPr/>
          <p:nvPr/>
        </p:nvSpPr>
        <p:spPr>
          <a:xfrm>
            <a:off x="548640" y="658368"/>
            <a:ext cx="9601200" cy="822960"/>
          </a:xfrm>
          <a:prstGeom prst="rect">
            <a:avLst/>
          </a:prstGeom>
          <a:noFill/>
          <a:ln/>
        </p:spPr>
        <p:txBody>
          <a:bodyPr wrap="square" rtlCol="0" anchor="ctr"/>
          <a:lstStyle/>
          <a:p>
            <a:pPr marL="0" indent="0">
              <a:buNone/>
            </a:pPr>
            <a:r>
              <a:rPr lang="en-US" sz="3200" b="1" dirty="0">
                <a:solidFill>
                  <a:srgbClr val="16201C"/>
                </a:solidFill>
                <a:latin typeface="Cambria" pitchFamily="34" charset="0"/>
                <a:ea typeface="Cambria" pitchFamily="34" charset="-122"/>
                <a:cs typeface="Cambria" pitchFamily="34" charset="-120"/>
              </a:rPr>
              <a:t>One pipeline, start to finish</a:t>
            </a:r>
            <a:endParaRPr lang="en-US" sz="3200" dirty="0"/>
          </a:p>
        </p:txBody>
      </p:sp>
      <p:sp>
        <p:nvSpPr>
          <p:cNvPr id="4" name="Text 2"/>
          <p:cNvSpPr/>
          <p:nvPr/>
        </p:nvSpPr>
        <p:spPr>
          <a:xfrm>
            <a:off x="548640" y="1371600"/>
            <a:ext cx="10515600" cy="36576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From a captured photo to a personalised insight — every step exercised end-to-end on a physical device.</a:t>
            </a:r>
            <a:endParaRPr lang="en-US" sz="1300" dirty="0"/>
          </a:p>
        </p:txBody>
      </p:sp>
      <p:sp>
        <p:nvSpPr>
          <p:cNvPr id="5" name="Shape 3"/>
          <p:cNvSpPr/>
          <p:nvPr/>
        </p:nvSpPr>
        <p:spPr>
          <a:xfrm>
            <a:off x="2240280" y="2971800"/>
            <a:ext cx="182880" cy="0"/>
          </a:xfrm>
          <a:prstGeom prst="line">
            <a:avLst/>
          </a:prstGeom>
          <a:noFill/>
          <a:ln w="25400">
            <a:solidFill>
              <a:srgbClr val="E3E9E6"/>
            </a:solidFill>
            <a:prstDash val="solid"/>
          </a:ln>
        </p:spPr>
      </p:sp>
      <p:sp>
        <p:nvSpPr>
          <p:cNvPr id="6" name="Shape 4"/>
          <p:cNvSpPr/>
          <p:nvPr/>
        </p:nvSpPr>
        <p:spPr>
          <a:xfrm>
            <a:off x="1010412" y="2468880"/>
            <a:ext cx="768096" cy="768096"/>
          </a:xfrm>
          <a:prstGeom prst="ellipse">
            <a:avLst/>
          </a:prstGeom>
          <a:solidFill>
            <a:srgbClr val="14181A"/>
          </a:solidFill>
          <a:ln/>
        </p:spPr>
      </p:sp>
      <p:pic>
        <p:nvPicPr>
          <p:cNvPr id="7" name="Image 0" descr="assets/icon_camera_FFFFFF.png"/>
          <p:cNvPicPr>
            <a:picLocks noChangeAspect="1"/>
          </p:cNvPicPr>
          <p:nvPr/>
        </p:nvPicPr>
        <p:blipFill>
          <a:blip r:embed="rId3"/>
          <a:stretch>
            <a:fillRect/>
          </a:stretch>
        </p:blipFill>
        <p:spPr>
          <a:xfrm>
            <a:off x="1210117" y="2668585"/>
            <a:ext cx="368686" cy="368686"/>
          </a:xfrm>
          <a:prstGeom prst="rect">
            <a:avLst/>
          </a:prstGeom>
        </p:spPr>
      </p:pic>
      <p:sp>
        <p:nvSpPr>
          <p:cNvPr id="8" name="Text 5"/>
          <p:cNvSpPr/>
          <p:nvPr/>
        </p:nvSpPr>
        <p:spPr>
          <a:xfrm>
            <a:off x="1559052" y="2395728"/>
            <a:ext cx="365760" cy="365760"/>
          </a:xfrm>
          <a:prstGeom prst="rect">
            <a:avLst/>
          </a:prstGeom>
          <a:noFill/>
          <a:ln/>
        </p:spPr>
        <p:txBody>
          <a:bodyPr wrap="square" rtlCol="0" anchor="ctr"/>
          <a:lstStyle/>
          <a:p>
            <a:pPr marL="0" indent="0">
              <a:buNone/>
            </a:pPr>
            <a:r>
              <a:rPr lang="en-US" sz="1100" b="1" dirty="0">
                <a:solidFill>
                  <a:srgbClr val="1F7A54"/>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548640" y="3383280"/>
            <a:ext cx="1691640" cy="365760"/>
          </a:xfrm>
          <a:prstGeom prst="rect">
            <a:avLst/>
          </a:prstGeom>
          <a:noFill/>
          <a:ln/>
        </p:spPr>
        <p:txBody>
          <a:bodyPr wrap="square" rtlCol="0" anchor="ctr"/>
          <a:lstStyle/>
          <a:p>
            <a:pPr marL="0" indent="0" algn="ctr">
              <a:buNone/>
            </a:pPr>
            <a:r>
              <a:rPr lang="en-US" sz="1300" b="1" dirty="0">
                <a:solidFill>
                  <a:srgbClr val="16201C"/>
                </a:solidFill>
                <a:latin typeface="Calibri" pitchFamily="34" charset="0"/>
                <a:ea typeface="Calibri" pitchFamily="34" charset="-122"/>
                <a:cs typeface="Calibri" pitchFamily="34" charset="-120"/>
              </a:rPr>
              <a:t>Capture</a:t>
            </a:r>
            <a:endParaRPr lang="en-US" sz="1300" dirty="0"/>
          </a:p>
        </p:txBody>
      </p:sp>
      <p:sp>
        <p:nvSpPr>
          <p:cNvPr id="10" name="Text 7"/>
          <p:cNvSpPr/>
          <p:nvPr/>
        </p:nvSpPr>
        <p:spPr>
          <a:xfrm>
            <a:off x="411480" y="3749040"/>
            <a:ext cx="1965960" cy="777240"/>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Photo from camera or gallery</a:t>
            </a:r>
            <a:endParaRPr lang="en-US" sz="1000" dirty="0"/>
          </a:p>
        </p:txBody>
      </p:sp>
      <p:sp>
        <p:nvSpPr>
          <p:cNvPr id="11" name="Shape 8"/>
          <p:cNvSpPr/>
          <p:nvPr/>
        </p:nvSpPr>
        <p:spPr>
          <a:xfrm>
            <a:off x="4114800" y="2971800"/>
            <a:ext cx="182880" cy="0"/>
          </a:xfrm>
          <a:prstGeom prst="line">
            <a:avLst/>
          </a:prstGeom>
          <a:noFill/>
          <a:ln w="25400">
            <a:solidFill>
              <a:srgbClr val="E3E9E6"/>
            </a:solidFill>
            <a:prstDash val="solid"/>
          </a:ln>
        </p:spPr>
      </p:sp>
      <p:sp>
        <p:nvSpPr>
          <p:cNvPr id="12" name="Shape 9"/>
          <p:cNvSpPr/>
          <p:nvPr/>
        </p:nvSpPr>
        <p:spPr>
          <a:xfrm>
            <a:off x="2884932" y="2468880"/>
            <a:ext cx="768096" cy="768096"/>
          </a:xfrm>
          <a:prstGeom prst="ellipse">
            <a:avLst/>
          </a:prstGeom>
          <a:solidFill>
            <a:srgbClr val="14181A"/>
          </a:solidFill>
          <a:ln/>
        </p:spPr>
      </p:sp>
      <p:pic>
        <p:nvPicPr>
          <p:cNvPr id="13" name="Image 1" descr="assets/icon_shield_FFFFFF.png"/>
          <p:cNvPicPr>
            <a:picLocks noChangeAspect="1"/>
          </p:cNvPicPr>
          <p:nvPr/>
        </p:nvPicPr>
        <p:blipFill>
          <a:blip r:embed="rId4"/>
          <a:stretch>
            <a:fillRect/>
          </a:stretch>
        </p:blipFill>
        <p:spPr>
          <a:xfrm>
            <a:off x="3084637" y="2668585"/>
            <a:ext cx="368686" cy="368686"/>
          </a:xfrm>
          <a:prstGeom prst="rect">
            <a:avLst/>
          </a:prstGeom>
        </p:spPr>
      </p:pic>
      <p:sp>
        <p:nvSpPr>
          <p:cNvPr id="14" name="Text 10"/>
          <p:cNvSpPr/>
          <p:nvPr/>
        </p:nvSpPr>
        <p:spPr>
          <a:xfrm>
            <a:off x="3433572" y="2395728"/>
            <a:ext cx="365760" cy="365760"/>
          </a:xfrm>
          <a:prstGeom prst="rect">
            <a:avLst/>
          </a:prstGeom>
          <a:noFill/>
          <a:ln/>
        </p:spPr>
        <p:txBody>
          <a:bodyPr wrap="square" rtlCol="0" anchor="ctr"/>
          <a:lstStyle/>
          <a:p>
            <a:pPr marL="0" indent="0">
              <a:buNone/>
            </a:pPr>
            <a:r>
              <a:rPr lang="en-US" sz="1100" b="1" dirty="0">
                <a:solidFill>
                  <a:srgbClr val="1F7A54"/>
                </a:solidFill>
                <a:latin typeface="Calibri" pitchFamily="34" charset="0"/>
                <a:ea typeface="Calibri" pitchFamily="34" charset="-122"/>
                <a:cs typeface="Calibri" pitchFamily="34" charset="-120"/>
              </a:rPr>
              <a:t>2</a:t>
            </a:r>
            <a:endParaRPr lang="en-US" sz="1100" dirty="0"/>
          </a:p>
        </p:txBody>
      </p:sp>
      <p:sp>
        <p:nvSpPr>
          <p:cNvPr id="15" name="Text 11"/>
          <p:cNvSpPr/>
          <p:nvPr/>
        </p:nvSpPr>
        <p:spPr>
          <a:xfrm>
            <a:off x="2423160" y="3383280"/>
            <a:ext cx="1691640" cy="365760"/>
          </a:xfrm>
          <a:prstGeom prst="rect">
            <a:avLst/>
          </a:prstGeom>
          <a:noFill/>
          <a:ln/>
        </p:spPr>
        <p:txBody>
          <a:bodyPr wrap="square" rtlCol="0" anchor="ctr"/>
          <a:lstStyle/>
          <a:p>
            <a:pPr marL="0" indent="0" algn="ctr">
              <a:buNone/>
            </a:pPr>
            <a:r>
              <a:rPr lang="en-US" sz="1300" b="1" dirty="0">
                <a:solidFill>
                  <a:srgbClr val="16201C"/>
                </a:solidFill>
                <a:latin typeface="Calibri" pitchFamily="34" charset="0"/>
                <a:ea typeface="Calibri" pitchFamily="34" charset="-122"/>
                <a:cs typeface="Calibri" pitchFamily="34" charset="-120"/>
              </a:rPr>
              <a:t>Food-Gate</a:t>
            </a:r>
            <a:endParaRPr lang="en-US" sz="1300" dirty="0"/>
          </a:p>
        </p:txBody>
      </p:sp>
      <p:sp>
        <p:nvSpPr>
          <p:cNvPr id="16" name="Text 12"/>
          <p:cNvSpPr/>
          <p:nvPr/>
        </p:nvSpPr>
        <p:spPr>
          <a:xfrm>
            <a:off x="2286000" y="3749040"/>
            <a:ext cx="1965960" cy="777240"/>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Open-set check: is this food at all?</a:t>
            </a:r>
            <a:endParaRPr lang="en-US" sz="1000" dirty="0"/>
          </a:p>
        </p:txBody>
      </p:sp>
      <p:sp>
        <p:nvSpPr>
          <p:cNvPr id="17" name="Shape 13"/>
          <p:cNvSpPr/>
          <p:nvPr/>
        </p:nvSpPr>
        <p:spPr>
          <a:xfrm>
            <a:off x="5989320" y="2971800"/>
            <a:ext cx="182880" cy="0"/>
          </a:xfrm>
          <a:prstGeom prst="line">
            <a:avLst/>
          </a:prstGeom>
          <a:noFill/>
          <a:ln w="25400">
            <a:solidFill>
              <a:srgbClr val="E3E9E6"/>
            </a:solidFill>
            <a:prstDash val="solid"/>
          </a:ln>
        </p:spPr>
      </p:sp>
      <p:sp>
        <p:nvSpPr>
          <p:cNvPr id="18" name="Shape 14"/>
          <p:cNvSpPr/>
          <p:nvPr/>
        </p:nvSpPr>
        <p:spPr>
          <a:xfrm>
            <a:off x="4759452" y="2468880"/>
            <a:ext cx="768096" cy="768096"/>
          </a:xfrm>
          <a:prstGeom prst="ellipse">
            <a:avLst/>
          </a:prstGeom>
          <a:solidFill>
            <a:srgbClr val="14181A"/>
          </a:solidFill>
          <a:ln/>
        </p:spPr>
      </p:sp>
      <p:pic>
        <p:nvPicPr>
          <p:cNvPr id="19" name="Image 2" descr="assets/icon_cpu_FFFFFF.png"/>
          <p:cNvPicPr>
            <a:picLocks noChangeAspect="1"/>
          </p:cNvPicPr>
          <p:nvPr/>
        </p:nvPicPr>
        <p:blipFill>
          <a:blip r:embed="rId5"/>
          <a:stretch>
            <a:fillRect/>
          </a:stretch>
        </p:blipFill>
        <p:spPr>
          <a:xfrm>
            <a:off x="4959157" y="2668585"/>
            <a:ext cx="368686" cy="368686"/>
          </a:xfrm>
          <a:prstGeom prst="rect">
            <a:avLst/>
          </a:prstGeom>
        </p:spPr>
      </p:pic>
      <p:sp>
        <p:nvSpPr>
          <p:cNvPr id="20" name="Text 15"/>
          <p:cNvSpPr/>
          <p:nvPr/>
        </p:nvSpPr>
        <p:spPr>
          <a:xfrm>
            <a:off x="5308092" y="2395728"/>
            <a:ext cx="365760" cy="365760"/>
          </a:xfrm>
          <a:prstGeom prst="rect">
            <a:avLst/>
          </a:prstGeom>
          <a:noFill/>
          <a:ln/>
        </p:spPr>
        <p:txBody>
          <a:bodyPr wrap="square" rtlCol="0" anchor="ctr"/>
          <a:lstStyle/>
          <a:p>
            <a:pPr marL="0" indent="0">
              <a:buNone/>
            </a:pPr>
            <a:r>
              <a:rPr lang="en-US" sz="1100" b="1" dirty="0">
                <a:solidFill>
                  <a:srgbClr val="1F7A54"/>
                </a:solidFill>
                <a:latin typeface="Calibri" pitchFamily="34" charset="0"/>
                <a:ea typeface="Calibri" pitchFamily="34" charset="-122"/>
                <a:cs typeface="Calibri" pitchFamily="34" charset="-120"/>
              </a:rPr>
              <a:t>3</a:t>
            </a:r>
            <a:endParaRPr lang="en-US" sz="1100" dirty="0"/>
          </a:p>
        </p:txBody>
      </p:sp>
      <p:sp>
        <p:nvSpPr>
          <p:cNvPr id="21" name="Text 16"/>
          <p:cNvSpPr/>
          <p:nvPr/>
        </p:nvSpPr>
        <p:spPr>
          <a:xfrm>
            <a:off x="4297680" y="3383280"/>
            <a:ext cx="1691640" cy="365760"/>
          </a:xfrm>
          <a:prstGeom prst="rect">
            <a:avLst/>
          </a:prstGeom>
          <a:noFill/>
          <a:ln/>
        </p:spPr>
        <p:txBody>
          <a:bodyPr wrap="square" rtlCol="0" anchor="ctr"/>
          <a:lstStyle/>
          <a:p>
            <a:pPr marL="0" indent="0" algn="ctr">
              <a:buNone/>
            </a:pPr>
            <a:r>
              <a:rPr lang="en-US" sz="1300" b="1" dirty="0">
                <a:solidFill>
                  <a:srgbClr val="16201C"/>
                </a:solidFill>
                <a:latin typeface="Calibri" pitchFamily="34" charset="0"/>
                <a:ea typeface="Calibri" pitchFamily="34" charset="-122"/>
                <a:cs typeface="Calibri" pitchFamily="34" charset="-120"/>
              </a:rPr>
              <a:t>Classify</a:t>
            </a:r>
            <a:endParaRPr lang="en-US" sz="1300" dirty="0"/>
          </a:p>
        </p:txBody>
      </p:sp>
      <p:sp>
        <p:nvSpPr>
          <p:cNvPr id="22" name="Text 17"/>
          <p:cNvSpPr/>
          <p:nvPr/>
        </p:nvSpPr>
        <p:spPr>
          <a:xfrm>
            <a:off x="4160520" y="3749040"/>
            <a:ext cx="1965960" cy="777240"/>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EfficientNet-B4, 101 classes</a:t>
            </a:r>
            <a:endParaRPr lang="en-US" sz="1000" dirty="0"/>
          </a:p>
        </p:txBody>
      </p:sp>
      <p:sp>
        <p:nvSpPr>
          <p:cNvPr id="23" name="Shape 18"/>
          <p:cNvSpPr/>
          <p:nvPr/>
        </p:nvSpPr>
        <p:spPr>
          <a:xfrm>
            <a:off x="7863840" y="2971800"/>
            <a:ext cx="182880" cy="0"/>
          </a:xfrm>
          <a:prstGeom prst="line">
            <a:avLst/>
          </a:prstGeom>
          <a:noFill/>
          <a:ln w="25400">
            <a:solidFill>
              <a:srgbClr val="E3E9E6"/>
            </a:solidFill>
            <a:prstDash val="solid"/>
          </a:ln>
        </p:spPr>
      </p:sp>
      <p:sp>
        <p:nvSpPr>
          <p:cNvPr id="24" name="Shape 19"/>
          <p:cNvSpPr/>
          <p:nvPr/>
        </p:nvSpPr>
        <p:spPr>
          <a:xfrm>
            <a:off x="6633972" y="2468880"/>
            <a:ext cx="768096" cy="768096"/>
          </a:xfrm>
          <a:prstGeom prst="ellipse">
            <a:avLst/>
          </a:prstGeom>
          <a:solidFill>
            <a:srgbClr val="3DDC97"/>
          </a:solidFill>
          <a:ln/>
        </p:spPr>
      </p:sp>
      <p:pic>
        <p:nvPicPr>
          <p:cNvPr id="25" name="Image 3" descr="assets/icon_target_FFFFFF.png"/>
          <p:cNvPicPr>
            <a:picLocks noChangeAspect="1"/>
          </p:cNvPicPr>
          <p:nvPr/>
        </p:nvPicPr>
        <p:blipFill>
          <a:blip r:embed="rId6"/>
          <a:stretch>
            <a:fillRect/>
          </a:stretch>
        </p:blipFill>
        <p:spPr>
          <a:xfrm>
            <a:off x="6833677" y="2668585"/>
            <a:ext cx="368686" cy="368686"/>
          </a:xfrm>
          <a:prstGeom prst="rect">
            <a:avLst/>
          </a:prstGeom>
        </p:spPr>
      </p:pic>
      <p:sp>
        <p:nvSpPr>
          <p:cNvPr id="26" name="Text 20"/>
          <p:cNvSpPr/>
          <p:nvPr/>
        </p:nvSpPr>
        <p:spPr>
          <a:xfrm>
            <a:off x="7182612" y="2395728"/>
            <a:ext cx="365760" cy="365760"/>
          </a:xfrm>
          <a:prstGeom prst="rect">
            <a:avLst/>
          </a:prstGeom>
          <a:noFill/>
          <a:ln/>
        </p:spPr>
        <p:txBody>
          <a:bodyPr wrap="square" rtlCol="0" anchor="ctr"/>
          <a:lstStyle/>
          <a:p>
            <a:pPr marL="0" indent="0">
              <a:buNone/>
            </a:pPr>
            <a:r>
              <a:rPr lang="en-US" sz="1100" b="1" dirty="0">
                <a:solidFill>
                  <a:srgbClr val="1F7A54"/>
                </a:solidFill>
                <a:latin typeface="Calibri" pitchFamily="34" charset="0"/>
                <a:ea typeface="Calibri" pitchFamily="34" charset="-122"/>
                <a:cs typeface="Calibri" pitchFamily="34" charset="-120"/>
              </a:rPr>
              <a:t>4</a:t>
            </a:r>
            <a:endParaRPr lang="en-US" sz="1100" dirty="0"/>
          </a:p>
        </p:txBody>
      </p:sp>
      <p:sp>
        <p:nvSpPr>
          <p:cNvPr id="27" name="Text 21"/>
          <p:cNvSpPr/>
          <p:nvPr/>
        </p:nvSpPr>
        <p:spPr>
          <a:xfrm>
            <a:off x="6172200" y="3383280"/>
            <a:ext cx="1691640" cy="365760"/>
          </a:xfrm>
          <a:prstGeom prst="rect">
            <a:avLst/>
          </a:prstGeom>
          <a:noFill/>
          <a:ln/>
        </p:spPr>
        <p:txBody>
          <a:bodyPr wrap="square" rtlCol="0" anchor="ctr"/>
          <a:lstStyle/>
          <a:p>
            <a:pPr marL="0" indent="0" algn="ctr">
              <a:buNone/>
            </a:pPr>
            <a:r>
              <a:rPr lang="en-US" sz="1300" b="1" dirty="0">
                <a:solidFill>
                  <a:srgbClr val="16201C"/>
                </a:solidFill>
                <a:latin typeface="Calibri" pitchFamily="34" charset="0"/>
                <a:ea typeface="Calibri" pitchFamily="34" charset="-122"/>
                <a:cs typeface="Calibri" pitchFamily="34" charset="-120"/>
              </a:rPr>
              <a:t>Estimate Portion</a:t>
            </a:r>
            <a:endParaRPr lang="en-US" sz="1300" dirty="0"/>
          </a:p>
        </p:txBody>
      </p:sp>
      <p:sp>
        <p:nvSpPr>
          <p:cNvPr id="28" name="Text 22"/>
          <p:cNvSpPr/>
          <p:nvPr/>
        </p:nvSpPr>
        <p:spPr>
          <a:xfrm>
            <a:off x="6035040" y="3749040"/>
            <a:ext cx="1965960" cy="777240"/>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Segment → scale → volume → mass</a:t>
            </a:r>
            <a:endParaRPr lang="en-US" sz="1000" dirty="0"/>
          </a:p>
        </p:txBody>
      </p:sp>
      <p:sp>
        <p:nvSpPr>
          <p:cNvPr id="29" name="Shape 23"/>
          <p:cNvSpPr/>
          <p:nvPr/>
        </p:nvSpPr>
        <p:spPr>
          <a:xfrm>
            <a:off x="9738360" y="2971800"/>
            <a:ext cx="182880" cy="0"/>
          </a:xfrm>
          <a:prstGeom prst="line">
            <a:avLst/>
          </a:prstGeom>
          <a:noFill/>
          <a:ln w="25400">
            <a:solidFill>
              <a:srgbClr val="E3E9E6"/>
            </a:solidFill>
            <a:prstDash val="solid"/>
          </a:ln>
        </p:spPr>
      </p:sp>
      <p:sp>
        <p:nvSpPr>
          <p:cNvPr id="30" name="Shape 24"/>
          <p:cNvSpPr/>
          <p:nvPr/>
        </p:nvSpPr>
        <p:spPr>
          <a:xfrm>
            <a:off x="8508492" y="2468880"/>
            <a:ext cx="768096" cy="768096"/>
          </a:xfrm>
          <a:prstGeom prst="ellipse">
            <a:avLst/>
          </a:prstGeom>
          <a:solidFill>
            <a:srgbClr val="14181A"/>
          </a:solidFill>
          <a:ln/>
        </p:spPr>
      </p:sp>
      <p:pic>
        <p:nvPicPr>
          <p:cNvPr id="31" name="Image 4" descr="assets/icon_clipboard_FFFFFF.png"/>
          <p:cNvPicPr>
            <a:picLocks noChangeAspect="1"/>
          </p:cNvPicPr>
          <p:nvPr/>
        </p:nvPicPr>
        <p:blipFill>
          <a:blip r:embed="rId7"/>
          <a:stretch>
            <a:fillRect/>
          </a:stretch>
        </p:blipFill>
        <p:spPr>
          <a:xfrm>
            <a:off x="8708197" y="2668585"/>
            <a:ext cx="368686" cy="368686"/>
          </a:xfrm>
          <a:prstGeom prst="rect">
            <a:avLst/>
          </a:prstGeom>
        </p:spPr>
      </p:pic>
      <p:sp>
        <p:nvSpPr>
          <p:cNvPr id="32" name="Text 25"/>
          <p:cNvSpPr/>
          <p:nvPr/>
        </p:nvSpPr>
        <p:spPr>
          <a:xfrm>
            <a:off x="9057132" y="2395728"/>
            <a:ext cx="365760" cy="365760"/>
          </a:xfrm>
          <a:prstGeom prst="rect">
            <a:avLst/>
          </a:prstGeom>
          <a:noFill/>
          <a:ln/>
        </p:spPr>
        <p:txBody>
          <a:bodyPr wrap="square" rtlCol="0" anchor="ctr"/>
          <a:lstStyle/>
          <a:p>
            <a:pPr marL="0" indent="0">
              <a:buNone/>
            </a:pPr>
            <a:r>
              <a:rPr lang="en-US" sz="1100" b="1" dirty="0">
                <a:solidFill>
                  <a:srgbClr val="1F7A54"/>
                </a:solidFill>
                <a:latin typeface="Calibri" pitchFamily="34" charset="0"/>
                <a:ea typeface="Calibri" pitchFamily="34" charset="-122"/>
                <a:cs typeface="Calibri" pitchFamily="34" charset="-120"/>
              </a:rPr>
              <a:t>5</a:t>
            </a:r>
            <a:endParaRPr lang="en-US" sz="1100" dirty="0"/>
          </a:p>
        </p:txBody>
      </p:sp>
      <p:sp>
        <p:nvSpPr>
          <p:cNvPr id="33" name="Text 26"/>
          <p:cNvSpPr/>
          <p:nvPr/>
        </p:nvSpPr>
        <p:spPr>
          <a:xfrm>
            <a:off x="8046720" y="3383280"/>
            <a:ext cx="1691640" cy="365760"/>
          </a:xfrm>
          <a:prstGeom prst="rect">
            <a:avLst/>
          </a:prstGeom>
          <a:noFill/>
          <a:ln/>
        </p:spPr>
        <p:txBody>
          <a:bodyPr wrap="square" rtlCol="0" anchor="ctr"/>
          <a:lstStyle/>
          <a:p>
            <a:pPr marL="0" indent="0" algn="ctr">
              <a:buNone/>
            </a:pPr>
            <a:r>
              <a:rPr lang="en-US" sz="1300" b="1" dirty="0">
                <a:solidFill>
                  <a:srgbClr val="16201C"/>
                </a:solidFill>
                <a:latin typeface="Calibri" pitchFamily="34" charset="0"/>
                <a:ea typeface="Calibri" pitchFamily="34" charset="-122"/>
                <a:cs typeface="Calibri" pitchFamily="34" charset="-120"/>
              </a:rPr>
              <a:t>USDA Lookup</a:t>
            </a:r>
            <a:endParaRPr lang="en-US" sz="1300" dirty="0"/>
          </a:p>
        </p:txBody>
      </p:sp>
      <p:sp>
        <p:nvSpPr>
          <p:cNvPr id="34" name="Text 27"/>
          <p:cNvSpPr/>
          <p:nvPr/>
        </p:nvSpPr>
        <p:spPr>
          <a:xfrm>
            <a:off x="7909560" y="3749040"/>
            <a:ext cx="1965960" cy="777240"/>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Verified calories &amp; macros</a:t>
            </a:r>
            <a:endParaRPr lang="en-US" sz="1000" dirty="0"/>
          </a:p>
        </p:txBody>
      </p:sp>
      <p:sp>
        <p:nvSpPr>
          <p:cNvPr id="35" name="Shape 28"/>
          <p:cNvSpPr/>
          <p:nvPr/>
        </p:nvSpPr>
        <p:spPr>
          <a:xfrm>
            <a:off x="10383012" y="2468880"/>
            <a:ext cx="768096" cy="768096"/>
          </a:xfrm>
          <a:prstGeom prst="ellipse">
            <a:avLst/>
          </a:prstGeom>
          <a:solidFill>
            <a:srgbClr val="14181A"/>
          </a:solidFill>
          <a:ln/>
        </p:spPr>
      </p:sp>
      <p:pic>
        <p:nvPicPr>
          <p:cNvPr id="36" name="Image 5" descr="assets/icon_pie_FFFFFF.png"/>
          <p:cNvPicPr>
            <a:picLocks noChangeAspect="1"/>
          </p:cNvPicPr>
          <p:nvPr/>
        </p:nvPicPr>
        <p:blipFill>
          <a:blip r:embed="rId8"/>
          <a:stretch>
            <a:fillRect/>
          </a:stretch>
        </p:blipFill>
        <p:spPr>
          <a:xfrm>
            <a:off x="10582717" y="2668585"/>
            <a:ext cx="368686" cy="368686"/>
          </a:xfrm>
          <a:prstGeom prst="rect">
            <a:avLst/>
          </a:prstGeom>
        </p:spPr>
      </p:pic>
      <p:sp>
        <p:nvSpPr>
          <p:cNvPr id="37" name="Text 29"/>
          <p:cNvSpPr/>
          <p:nvPr/>
        </p:nvSpPr>
        <p:spPr>
          <a:xfrm>
            <a:off x="10931652" y="2395728"/>
            <a:ext cx="365760" cy="365760"/>
          </a:xfrm>
          <a:prstGeom prst="rect">
            <a:avLst/>
          </a:prstGeom>
          <a:noFill/>
          <a:ln/>
        </p:spPr>
        <p:txBody>
          <a:bodyPr wrap="square" rtlCol="0" anchor="ctr"/>
          <a:lstStyle/>
          <a:p>
            <a:pPr marL="0" indent="0">
              <a:buNone/>
            </a:pPr>
            <a:r>
              <a:rPr lang="en-US" sz="1100" b="1" dirty="0">
                <a:solidFill>
                  <a:srgbClr val="1F7A54"/>
                </a:solidFill>
                <a:latin typeface="Calibri" pitchFamily="34" charset="0"/>
                <a:ea typeface="Calibri" pitchFamily="34" charset="-122"/>
                <a:cs typeface="Calibri" pitchFamily="34" charset="-120"/>
              </a:rPr>
              <a:t>6</a:t>
            </a:r>
            <a:endParaRPr lang="en-US" sz="1100" dirty="0"/>
          </a:p>
        </p:txBody>
      </p:sp>
      <p:sp>
        <p:nvSpPr>
          <p:cNvPr id="38" name="Text 30"/>
          <p:cNvSpPr/>
          <p:nvPr/>
        </p:nvSpPr>
        <p:spPr>
          <a:xfrm>
            <a:off x="9921240" y="3383280"/>
            <a:ext cx="1691640" cy="365760"/>
          </a:xfrm>
          <a:prstGeom prst="rect">
            <a:avLst/>
          </a:prstGeom>
          <a:noFill/>
          <a:ln/>
        </p:spPr>
        <p:txBody>
          <a:bodyPr wrap="square" rtlCol="0" anchor="ctr"/>
          <a:lstStyle/>
          <a:p>
            <a:pPr marL="0" indent="0" algn="ctr">
              <a:buNone/>
            </a:pPr>
            <a:r>
              <a:rPr lang="en-US" sz="1300" b="1" dirty="0">
                <a:solidFill>
                  <a:srgbClr val="16201C"/>
                </a:solidFill>
                <a:latin typeface="Calibri" pitchFamily="34" charset="0"/>
                <a:ea typeface="Calibri" pitchFamily="34" charset="-122"/>
                <a:cs typeface="Calibri" pitchFamily="34" charset="-120"/>
              </a:rPr>
              <a:t>Log &amp; Learn</a:t>
            </a:r>
            <a:endParaRPr lang="en-US" sz="1300" dirty="0"/>
          </a:p>
        </p:txBody>
      </p:sp>
      <p:sp>
        <p:nvSpPr>
          <p:cNvPr id="39" name="Text 31"/>
          <p:cNvSpPr/>
          <p:nvPr/>
        </p:nvSpPr>
        <p:spPr>
          <a:xfrm>
            <a:off x="9784080" y="3749040"/>
            <a:ext cx="1965960" cy="777240"/>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Saved; insights after 7 meals</a:t>
            </a:r>
            <a:endParaRPr lang="en-US" sz="1000" dirty="0"/>
          </a:p>
        </p:txBody>
      </p:sp>
      <p:sp>
        <p:nvSpPr>
          <p:cNvPr id="40" name="Shape 32"/>
          <p:cNvSpPr/>
          <p:nvPr/>
        </p:nvSpPr>
        <p:spPr>
          <a:xfrm>
            <a:off x="1280160" y="4846320"/>
            <a:ext cx="9601200" cy="1234440"/>
          </a:xfrm>
          <a:prstGeom prst="roundRect">
            <a:avLst>
              <a:gd name="adj" fmla="val 8889"/>
            </a:avLst>
          </a:prstGeom>
          <a:solidFill>
            <a:srgbClr val="F1F5F3"/>
          </a:solidFill>
          <a:ln/>
        </p:spPr>
      </p:sp>
      <p:sp>
        <p:nvSpPr>
          <p:cNvPr id="41" name="Text 33"/>
          <p:cNvSpPr/>
          <p:nvPr/>
        </p:nvSpPr>
        <p:spPr>
          <a:xfrm>
            <a:off x="1554480" y="4983480"/>
            <a:ext cx="9052560" cy="960120"/>
          </a:xfrm>
          <a:prstGeom prst="rect">
            <a:avLst/>
          </a:prstGeom>
          <a:noFill/>
          <a:ln/>
        </p:spPr>
        <p:txBody>
          <a:bodyPr wrap="square" rtlCol="0" anchor="ctr"/>
          <a:lstStyle/>
          <a:p>
            <a:pPr marL="0" indent="0">
              <a:buNone/>
            </a:pPr>
            <a:r>
              <a:rPr lang="en-US" sz="1250" b="1" dirty="0">
                <a:solidFill>
                  <a:srgbClr val="16201C"/>
                </a:solidFill>
                <a:latin typeface="Calibri" pitchFamily="34" charset="0"/>
                <a:ea typeface="Calibri" pitchFamily="34" charset="-122"/>
                <a:cs typeface="Calibri" pitchFamily="34" charset="-120"/>
              </a:rPr>
              <a:t>A confidence check sits between Classify and Estimate Portion: at or above 60% the top prediction is shown directly; below it, the user picks from three alternatives. And because a 101-class model can be confidently wrong on a dish it has no word for, the user can overrule any prediction from the full label set — not only a low-confidence one.</a:t>
            </a:r>
            <a:endParaRPr lang="en-US" sz="1250" dirty="0"/>
          </a:p>
        </p:txBody>
      </p:sp>
      <p:sp>
        <p:nvSpPr>
          <p:cNvPr id="42" name="Text 34"/>
          <p:cNvSpPr/>
          <p:nvPr/>
        </p:nvSpPr>
        <p:spPr>
          <a:xfrm>
            <a:off x="1154887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lIns="0" tIns="0" rIns="0" bIns="0">
            <a:spAutoFit/>
          </a:bodyPr>
          <a:lstStyle/>
          <a:p>
            <a:pPr algn="l">
              <a:lnSpc>
                <a:spcPct val="100000"/>
              </a:lnSpc>
            </a:pPr>
            <a:r>
              <a:rPr sz="1300" b="1">
                <a:solidFill>
                  <a:srgbClr val="1F7A54"/>
                </a:solidFill>
                <a:latin typeface="Calibri"/>
              </a:rPr>
              <a:t>THE AI STACK</a:t>
            </a:r>
          </a:p>
        </p:txBody>
      </p:sp>
      <p:sp>
        <p:nvSpPr>
          <p:cNvPr id="3" name="TextBox 2"/>
          <p:cNvSpPr txBox="1"/>
          <p:nvPr/>
        </p:nvSpPr>
        <p:spPr>
          <a:xfrm>
            <a:off x="548640" y="658368"/>
            <a:ext cx="10607040" cy="822960"/>
          </a:xfrm>
          <a:prstGeom prst="rect">
            <a:avLst/>
          </a:prstGeom>
          <a:noFill/>
        </p:spPr>
        <p:txBody>
          <a:bodyPr wrap="square" lIns="0" tIns="0" rIns="0" bIns="0">
            <a:spAutoFit/>
          </a:bodyPr>
          <a:lstStyle/>
          <a:p>
            <a:pPr algn="l">
              <a:lnSpc>
                <a:spcPct val="100000"/>
              </a:lnSpc>
            </a:pPr>
            <a:r>
              <a:rPr sz="3200" b="1">
                <a:solidFill>
                  <a:srgbClr val="16201C"/>
                </a:solidFill>
                <a:latin typeface="Cambria"/>
              </a:rPr>
              <a:t>Five models, not one</a:t>
            </a:r>
          </a:p>
        </p:txBody>
      </p:sp>
      <p:sp>
        <p:nvSpPr>
          <p:cNvPr id="4" name="TextBox 3"/>
          <p:cNvSpPr txBox="1"/>
          <p:nvPr/>
        </p:nvSpPr>
        <p:spPr>
          <a:xfrm>
            <a:off x="548640" y="1389888"/>
            <a:ext cx="10881360" cy="502920"/>
          </a:xfrm>
          <a:prstGeom prst="rect">
            <a:avLst/>
          </a:prstGeom>
          <a:noFill/>
        </p:spPr>
        <p:txBody>
          <a:bodyPr wrap="square" lIns="0" tIns="0" rIns="0" bIns="0">
            <a:spAutoFit/>
          </a:bodyPr>
          <a:lstStyle/>
          <a:p>
            <a:pPr algn="l">
              <a:lnSpc>
                <a:spcPct val="118000"/>
              </a:lnSpc>
            </a:pPr>
            <a:r>
              <a:rPr sz="1250" b="0">
                <a:solidFill>
                  <a:srgbClr val="6B7280"/>
                </a:solidFill>
                <a:latin typeface="Calibri"/>
              </a:rPr>
              <a:t>Recognition is the headline, but four more models run alongside it — three fine-tuned for this project, two off the shelf.</a:t>
            </a:r>
          </a:p>
        </p:txBody>
      </p:sp>
      <p:sp>
        <p:nvSpPr>
          <p:cNvPr id="5" name="Rounded Rectangle 4"/>
          <p:cNvSpPr/>
          <p:nvPr/>
        </p:nvSpPr>
        <p:spPr>
          <a:xfrm>
            <a:off x="548640" y="1828800"/>
            <a:ext cx="11109960" cy="3886200"/>
          </a:xfrm>
          <a:prstGeom prst="roundRect">
            <a:avLst>
              <a:gd name="adj" fmla="val 3117"/>
            </a:avLst>
          </a:prstGeom>
          <a:solidFill>
            <a:srgbClr val="F1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993392"/>
            <a:ext cx="1965960" cy="256032"/>
          </a:xfrm>
          <a:prstGeom prst="rect">
            <a:avLst/>
          </a:prstGeom>
          <a:noFill/>
        </p:spPr>
        <p:txBody>
          <a:bodyPr wrap="square" lIns="0" tIns="0" rIns="0" bIns="0">
            <a:spAutoFit/>
          </a:bodyPr>
          <a:lstStyle/>
          <a:p>
            <a:pPr algn="l">
              <a:lnSpc>
                <a:spcPct val="100000"/>
              </a:lnSpc>
            </a:pPr>
            <a:r>
              <a:rPr sz="900" b="1">
                <a:solidFill>
                  <a:srgbClr val="9CA8A3"/>
                </a:solidFill>
                <a:latin typeface="Calibri"/>
              </a:rPr>
              <a:t>MODEL</a:t>
            </a:r>
          </a:p>
        </p:txBody>
      </p:sp>
      <p:sp>
        <p:nvSpPr>
          <p:cNvPr id="7" name="TextBox 6"/>
          <p:cNvSpPr txBox="1"/>
          <p:nvPr/>
        </p:nvSpPr>
        <p:spPr>
          <a:xfrm>
            <a:off x="3063240" y="1993392"/>
            <a:ext cx="2423160" cy="256032"/>
          </a:xfrm>
          <a:prstGeom prst="rect">
            <a:avLst/>
          </a:prstGeom>
          <a:noFill/>
        </p:spPr>
        <p:txBody>
          <a:bodyPr wrap="square" lIns="0" tIns="0" rIns="0" bIns="0">
            <a:spAutoFit/>
          </a:bodyPr>
          <a:lstStyle/>
          <a:p>
            <a:pPr algn="l">
              <a:lnSpc>
                <a:spcPct val="100000"/>
              </a:lnSpc>
            </a:pPr>
            <a:r>
              <a:rPr sz="900" b="1">
                <a:solidFill>
                  <a:srgbClr val="9CA8A3"/>
                </a:solidFill>
                <a:latin typeface="Calibri"/>
              </a:rPr>
              <a:t>ARCHITECTURE</a:t>
            </a:r>
          </a:p>
        </p:txBody>
      </p:sp>
      <p:sp>
        <p:nvSpPr>
          <p:cNvPr id="8" name="TextBox 7"/>
          <p:cNvSpPr txBox="1"/>
          <p:nvPr/>
        </p:nvSpPr>
        <p:spPr>
          <a:xfrm>
            <a:off x="5669280" y="1993392"/>
            <a:ext cx="3657600" cy="256032"/>
          </a:xfrm>
          <a:prstGeom prst="rect">
            <a:avLst/>
          </a:prstGeom>
          <a:noFill/>
        </p:spPr>
        <p:txBody>
          <a:bodyPr wrap="square" lIns="0" tIns="0" rIns="0" bIns="0">
            <a:spAutoFit/>
          </a:bodyPr>
          <a:lstStyle/>
          <a:p>
            <a:pPr algn="l">
              <a:lnSpc>
                <a:spcPct val="100000"/>
              </a:lnSpc>
            </a:pPr>
            <a:r>
              <a:rPr sz="900" b="1">
                <a:solidFill>
                  <a:srgbClr val="9CA8A3"/>
                </a:solidFill>
                <a:latin typeface="Calibri"/>
              </a:rPr>
              <a:t>WHAT IT DOES</a:t>
            </a:r>
          </a:p>
        </p:txBody>
      </p:sp>
      <p:sp>
        <p:nvSpPr>
          <p:cNvPr id="9" name="TextBox 8"/>
          <p:cNvSpPr txBox="1"/>
          <p:nvPr/>
        </p:nvSpPr>
        <p:spPr>
          <a:xfrm>
            <a:off x="9464040" y="1993392"/>
            <a:ext cx="2011680" cy="256032"/>
          </a:xfrm>
          <a:prstGeom prst="rect">
            <a:avLst/>
          </a:prstGeom>
          <a:noFill/>
        </p:spPr>
        <p:txBody>
          <a:bodyPr wrap="square" lIns="0" tIns="0" rIns="0" bIns="0">
            <a:spAutoFit/>
          </a:bodyPr>
          <a:lstStyle/>
          <a:p>
            <a:pPr algn="l">
              <a:lnSpc>
                <a:spcPct val="100000"/>
              </a:lnSpc>
            </a:pPr>
            <a:r>
              <a:rPr sz="900" b="1">
                <a:solidFill>
                  <a:srgbClr val="9CA8A3"/>
                </a:solidFill>
                <a:latin typeface="Calibri"/>
              </a:rPr>
              <a:t>PROVENANCE</a:t>
            </a:r>
          </a:p>
        </p:txBody>
      </p:sp>
      <p:sp>
        <p:nvSpPr>
          <p:cNvPr id="10" name="Rectangle 9"/>
          <p:cNvSpPr/>
          <p:nvPr/>
        </p:nvSpPr>
        <p:spPr>
          <a:xfrm>
            <a:off x="868680" y="2276856"/>
            <a:ext cx="10469880" cy="9144"/>
          </a:xfrm>
          <a:prstGeom prst="rect">
            <a:avLst/>
          </a:prstGeom>
          <a:solidFill>
            <a:srgbClr val="DD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359152"/>
            <a:ext cx="1965960" cy="502920"/>
          </a:xfrm>
          <a:prstGeom prst="rect">
            <a:avLst/>
          </a:prstGeom>
          <a:noFill/>
        </p:spPr>
        <p:txBody>
          <a:bodyPr wrap="square" lIns="0" tIns="0" rIns="0" bIns="0">
            <a:spAutoFit/>
          </a:bodyPr>
          <a:lstStyle/>
          <a:p>
            <a:pPr algn="l">
              <a:lnSpc>
                <a:spcPct val="105000"/>
              </a:lnSpc>
            </a:pPr>
            <a:r>
              <a:rPr sz="1250" b="1">
                <a:solidFill>
                  <a:srgbClr val="16201C"/>
                </a:solidFill>
                <a:latin typeface="Calibri"/>
              </a:rPr>
              <a:t>Food classifier</a:t>
            </a:r>
          </a:p>
        </p:txBody>
      </p:sp>
      <p:sp>
        <p:nvSpPr>
          <p:cNvPr id="12" name="TextBox 11"/>
          <p:cNvSpPr txBox="1"/>
          <p:nvPr/>
        </p:nvSpPr>
        <p:spPr>
          <a:xfrm>
            <a:off x="3063240" y="2359152"/>
            <a:ext cx="2423160" cy="502920"/>
          </a:xfrm>
          <a:prstGeom prst="rect">
            <a:avLst/>
          </a:prstGeom>
          <a:noFill/>
        </p:spPr>
        <p:txBody>
          <a:bodyPr wrap="square" lIns="0" tIns="0" rIns="0" bIns="0">
            <a:spAutoFit/>
          </a:bodyPr>
          <a:lstStyle/>
          <a:p>
            <a:pPr algn="l">
              <a:lnSpc>
                <a:spcPct val="112000"/>
              </a:lnSpc>
            </a:pPr>
            <a:r>
              <a:rPr sz="1050" b="0">
                <a:solidFill>
                  <a:srgbClr val="6B7280"/>
                </a:solidFill>
                <a:latin typeface="Calibri"/>
              </a:rPr>
              <a:t>EfficientNet-B4 · 380 px · 19 M params</a:t>
            </a:r>
          </a:p>
        </p:txBody>
      </p:sp>
      <p:sp>
        <p:nvSpPr>
          <p:cNvPr id="13" name="TextBox 12"/>
          <p:cNvSpPr txBox="1"/>
          <p:nvPr/>
        </p:nvSpPr>
        <p:spPr>
          <a:xfrm>
            <a:off x="5669280" y="2359152"/>
            <a:ext cx="3657600" cy="502920"/>
          </a:xfrm>
          <a:prstGeom prst="rect">
            <a:avLst/>
          </a:prstGeom>
          <a:noFill/>
        </p:spPr>
        <p:txBody>
          <a:bodyPr wrap="square" lIns="0" tIns="0" rIns="0" bIns="0">
            <a:spAutoFit/>
          </a:bodyPr>
          <a:lstStyle/>
          <a:p>
            <a:pPr algn="l">
              <a:lnSpc>
                <a:spcPct val="112000"/>
              </a:lnSpc>
            </a:pPr>
            <a:r>
              <a:rPr sz="1050" b="0">
                <a:solidFill>
                  <a:srgbClr val="6B7280"/>
                </a:solidFill>
                <a:latin typeface="Calibri"/>
              </a:rPr>
              <a:t>Identifies the dish across the 101 Food-101 categories.</a:t>
            </a:r>
          </a:p>
        </p:txBody>
      </p:sp>
      <p:sp>
        <p:nvSpPr>
          <p:cNvPr id="14" name="TextBox 13"/>
          <p:cNvSpPr txBox="1"/>
          <p:nvPr/>
        </p:nvSpPr>
        <p:spPr>
          <a:xfrm>
            <a:off x="9464040" y="2359152"/>
            <a:ext cx="2011680" cy="502920"/>
          </a:xfrm>
          <a:prstGeom prst="rect">
            <a:avLst/>
          </a:prstGeom>
          <a:noFill/>
        </p:spPr>
        <p:txBody>
          <a:bodyPr wrap="square" lIns="0" tIns="0" rIns="0" bIns="0">
            <a:spAutoFit/>
          </a:bodyPr>
          <a:lstStyle/>
          <a:p>
            <a:pPr algn="l">
              <a:lnSpc>
                <a:spcPct val="112000"/>
              </a:lnSpc>
            </a:pPr>
            <a:r>
              <a:rPr sz="950" b="1">
                <a:solidFill>
                  <a:srgbClr val="1F7A54"/>
                </a:solidFill>
                <a:latin typeface="Calibri"/>
              </a:rPr>
              <a:t>TRAINED · 91.4% top-1</a:t>
            </a:r>
          </a:p>
        </p:txBody>
      </p:sp>
      <p:sp>
        <p:nvSpPr>
          <p:cNvPr id="15" name="Rectangle 14"/>
          <p:cNvSpPr/>
          <p:nvPr/>
        </p:nvSpPr>
        <p:spPr>
          <a:xfrm>
            <a:off x="868680" y="2935224"/>
            <a:ext cx="10469880" cy="9144"/>
          </a:xfrm>
          <a:prstGeom prst="rect">
            <a:avLst/>
          </a:prstGeom>
          <a:solidFill>
            <a:srgbClr val="DD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3017520"/>
            <a:ext cx="1965960" cy="502920"/>
          </a:xfrm>
          <a:prstGeom prst="rect">
            <a:avLst/>
          </a:prstGeom>
          <a:noFill/>
        </p:spPr>
        <p:txBody>
          <a:bodyPr wrap="square" lIns="0" tIns="0" rIns="0" bIns="0">
            <a:spAutoFit/>
          </a:bodyPr>
          <a:lstStyle/>
          <a:p>
            <a:pPr algn="l">
              <a:lnSpc>
                <a:spcPct val="105000"/>
              </a:lnSpc>
            </a:pPr>
            <a:r>
              <a:rPr sz="1250" b="1">
                <a:solidFill>
                  <a:srgbClr val="16201C"/>
                </a:solidFill>
                <a:latin typeface="Calibri"/>
              </a:rPr>
              <a:t>Food segmenter</a:t>
            </a:r>
          </a:p>
        </p:txBody>
      </p:sp>
      <p:sp>
        <p:nvSpPr>
          <p:cNvPr id="17" name="TextBox 16"/>
          <p:cNvSpPr txBox="1"/>
          <p:nvPr/>
        </p:nvSpPr>
        <p:spPr>
          <a:xfrm>
            <a:off x="3063240" y="3017520"/>
            <a:ext cx="2423160" cy="502920"/>
          </a:xfrm>
          <a:prstGeom prst="rect">
            <a:avLst/>
          </a:prstGeom>
          <a:noFill/>
        </p:spPr>
        <p:txBody>
          <a:bodyPr wrap="square" lIns="0" tIns="0" rIns="0" bIns="0">
            <a:spAutoFit/>
          </a:bodyPr>
          <a:lstStyle/>
          <a:p>
            <a:pPr algn="l">
              <a:lnSpc>
                <a:spcPct val="112000"/>
              </a:lnSpc>
            </a:pPr>
            <a:r>
              <a:rPr sz="1050" b="0">
                <a:solidFill>
                  <a:srgbClr val="6B7280"/>
                </a:solidFill>
                <a:latin typeface="Calibri"/>
              </a:rPr>
              <a:t>DeepLabV3-MobileNetV3-L · 512 px</a:t>
            </a:r>
          </a:p>
        </p:txBody>
      </p:sp>
      <p:sp>
        <p:nvSpPr>
          <p:cNvPr id="18" name="TextBox 17"/>
          <p:cNvSpPr txBox="1"/>
          <p:nvPr/>
        </p:nvSpPr>
        <p:spPr>
          <a:xfrm>
            <a:off x="5669280" y="3017520"/>
            <a:ext cx="3657600" cy="502920"/>
          </a:xfrm>
          <a:prstGeom prst="rect">
            <a:avLst/>
          </a:prstGeom>
          <a:noFill/>
        </p:spPr>
        <p:txBody>
          <a:bodyPr wrap="square" lIns="0" tIns="0" rIns="0" bIns="0">
            <a:spAutoFit/>
          </a:bodyPr>
          <a:lstStyle/>
          <a:p>
            <a:pPr algn="l">
              <a:lnSpc>
                <a:spcPct val="112000"/>
              </a:lnSpc>
            </a:pPr>
            <a:r>
              <a:rPr sz="1050" b="0">
                <a:solidFill>
                  <a:srgbClr val="6B7280"/>
                </a:solidFill>
                <a:latin typeface="Calibri"/>
              </a:rPr>
              <a:t>Separates food pixels from plate and background so the food's area can be measured.</a:t>
            </a:r>
          </a:p>
        </p:txBody>
      </p:sp>
      <p:sp>
        <p:nvSpPr>
          <p:cNvPr id="19" name="TextBox 18"/>
          <p:cNvSpPr txBox="1"/>
          <p:nvPr/>
        </p:nvSpPr>
        <p:spPr>
          <a:xfrm>
            <a:off x="9464040" y="3017520"/>
            <a:ext cx="2011680" cy="502920"/>
          </a:xfrm>
          <a:prstGeom prst="rect">
            <a:avLst/>
          </a:prstGeom>
          <a:noFill/>
        </p:spPr>
        <p:txBody>
          <a:bodyPr wrap="square" lIns="0" tIns="0" rIns="0" bIns="0">
            <a:spAutoFit/>
          </a:bodyPr>
          <a:lstStyle/>
          <a:p>
            <a:pPr algn="l">
              <a:lnSpc>
                <a:spcPct val="112000"/>
              </a:lnSpc>
            </a:pPr>
            <a:r>
              <a:rPr sz="950" b="1">
                <a:solidFill>
                  <a:srgbClr val="1F7A54"/>
                </a:solidFill>
                <a:latin typeface="Calibri"/>
              </a:rPr>
              <a:t>TRAINED · FoodSeg103</a:t>
            </a:r>
          </a:p>
        </p:txBody>
      </p:sp>
      <p:sp>
        <p:nvSpPr>
          <p:cNvPr id="20" name="Rectangle 19"/>
          <p:cNvSpPr/>
          <p:nvPr/>
        </p:nvSpPr>
        <p:spPr>
          <a:xfrm>
            <a:off x="868680" y="3593591"/>
            <a:ext cx="10469880" cy="9144"/>
          </a:xfrm>
          <a:prstGeom prst="rect">
            <a:avLst/>
          </a:prstGeom>
          <a:solidFill>
            <a:srgbClr val="DD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3675887"/>
            <a:ext cx="1965960" cy="502920"/>
          </a:xfrm>
          <a:prstGeom prst="rect">
            <a:avLst/>
          </a:prstGeom>
          <a:noFill/>
        </p:spPr>
        <p:txBody>
          <a:bodyPr wrap="square" lIns="0" tIns="0" rIns="0" bIns="0">
            <a:spAutoFit/>
          </a:bodyPr>
          <a:lstStyle/>
          <a:p>
            <a:pPr algn="l">
              <a:lnSpc>
                <a:spcPct val="105000"/>
              </a:lnSpc>
            </a:pPr>
            <a:r>
              <a:rPr sz="1250" b="1">
                <a:solidFill>
                  <a:srgbClr val="16201C"/>
                </a:solidFill>
                <a:latin typeface="Calibri"/>
              </a:rPr>
              <a:t>Container classifier</a:t>
            </a:r>
          </a:p>
        </p:txBody>
      </p:sp>
      <p:sp>
        <p:nvSpPr>
          <p:cNvPr id="22" name="TextBox 21"/>
          <p:cNvSpPr txBox="1"/>
          <p:nvPr/>
        </p:nvSpPr>
        <p:spPr>
          <a:xfrm>
            <a:off x="3063240" y="3675887"/>
            <a:ext cx="2423160" cy="502920"/>
          </a:xfrm>
          <a:prstGeom prst="rect">
            <a:avLst/>
          </a:prstGeom>
          <a:noFill/>
        </p:spPr>
        <p:txBody>
          <a:bodyPr wrap="square" lIns="0" tIns="0" rIns="0" bIns="0">
            <a:spAutoFit/>
          </a:bodyPr>
          <a:lstStyle/>
          <a:p>
            <a:pPr algn="l">
              <a:lnSpc>
                <a:spcPct val="112000"/>
              </a:lnSpc>
            </a:pPr>
            <a:r>
              <a:rPr sz="1050" b="0">
                <a:solidFill>
                  <a:srgbClr val="6B7280"/>
                </a:solidFill>
                <a:latin typeface="Calibri"/>
              </a:rPr>
              <a:t>MobileNetV3-Small</a:t>
            </a:r>
          </a:p>
        </p:txBody>
      </p:sp>
      <p:sp>
        <p:nvSpPr>
          <p:cNvPr id="23" name="TextBox 22"/>
          <p:cNvSpPr txBox="1"/>
          <p:nvPr/>
        </p:nvSpPr>
        <p:spPr>
          <a:xfrm>
            <a:off x="5669280" y="3675887"/>
            <a:ext cx="3657600" cy="502920"/>
          </a:xfrm>
          <a:prstGeom prst="rect">
            <a:avLst/>
          </a:prstGeom>
          <a:noFill/>
        </p:spPr>
        <p:txBody>
          <a:bodyPr wrap="square" lIns="0" tIns="0" rIns="0" bIns="0">
            <a:spAutoFit/>
          </a:bodyPr>
          <a:lstStyle/>
          <a:p>
            <a:pPr algn="l">
              <a:lnSpc>
                <a:spcPct val="112000"/>
              </a:lnSpc>
            </a:pPr>
            <a:r>
              <a:rPr sz="1050" b="0">
                <a:solidFill>
                  <a:srgbClr val="6B7280"/>
                </a:solidFill>
                <a:latin typeface="Calibri"/>
              </a:rPr>
              <a:t>Plate vs bowl — supplies the size prior the scale calculation depends on.</a:t>
            </a:r>
          </a:p>
        </p:txBody>
      </p:sp>
      <p:sp>
        <p:nvSpPr>
          <p:cNvPr id="24" name="TextBox 23"/>
          <p:cNvSpPr txBox="1"/>
          <p:nvPr/>
        </p:nvSpPr>
        <p:spPr>
          <a:xfrm>
            <a:off x="9464040" y="3675887"/>
            <a:ext cx="2011680" cy="502920"/>
          </a:xfrm>
          <a:prstGeom prst="rect">
            <a:avLst/>
          </a:prstGeom>
          <a:noFill/>
        </p:spPr>
        <p:txBody>
          <a:bodyPr wrap="square" lIns="0" tIns="0" rIns="0" bIns="0">
            <a:spAutoFit/>
          </a:bodyPr>
          <a:lstStyle/>
          <a:p>
            <a:pPr algn="l">
              <a:lnSpc>
                <a:spcPct val="112000"/>
              </a:lnSpc>
            </a:pPr>
            <a:r>
              <a:rPr sz="950" b="1">
                <a:solidFill>
                  <a:srgbClr val="1F7A54"/>
                </a:solidFill>
                <a:latin typeface="Calibri"/>
              </a:rPr>
              <a:t>TRAINED · Open Images V7</a:t>
            </a:r>
          </a:p>
        </p:txBody>
      </p:sp>
      <p:sp>
        <p:nvSpPr>
          <p:cNvPr id="25" name="Rectangle 24"/>
          <p:cNvSpPr/>
          <p:nvPr/>
        </p:nvSpPr>
        <p:spPr>
          <a:xfrm>
            <a:off x="868680" y="4251959"/>
            <a:ext cx="10469880" cy="9144"/>
          </a:xfrm>
          <a:prstGeom prst="rect">
            <a:avLst/>
          </a:prstGeom>
          <a:solidFill>
            <a:srgbClr val="DD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4334255"/>
            <a:ext cx="1965960" cy="502920"/>
          </a:xfrm>
          <a:prstGeom prst="rect">
            <a:avLst/>
          </a:prstGeom>
          <a:noFill/>
        </p:spPr>
        <p:txBody>
          <a:bodyPr wrap="square" lIns="0" tIns="0" rIns="0" bIns="0">
            <a:spAutoFit/>
          </a:bodyPr>
          <a:lstStyle/>
          <a:p>
            <a:pPr algn="l">
              <a:lnSpc>
                <a:spcPct val="105000"/>
              </a:lnSpc>
            </a:pPr>
            <a:r>
              <a:rPr sz="1250" b="1">
                <a:solidFill>
                  <a:srgbClr val="16201C"/>
                </a:solidFill>
                <a:latin typeface="Calibri"/>
              </a:rPr>
              <a:t>Food gate</a:t>
            </a:r>
          </a:p>
        </p:txBody>
      </p:sp>
      <p:sp>
        <p:nvSpPr>
          <p:cNvPr id="27" name="TextBox 26"/>
          <p:cNvSpPr txBox="1"/>
          <p:nvPr/>
        </p:nvSpPr>
        <p:spPr>
          <a:xfrm>
            <a:off x="3063240" y="4334255"/>
            <a:ext cx="2423160" cy="502920"/>
          </a:xfrm>
          <a:prstGeom prst="rect">
            <a:avLst/>
          </a:prstGeom>
          <a:noFill/>
        </p:spPr>
        <p:txBody>
          <a:bodyPr wrap="square" lIns="0" tIns="0" rIns="0" bIns="0">
            <a:spAutoFit/>
          </a:bodyPr>
          <a:lstStyle/>
          <a:p>
            <a:pPr algn="l">
              <a:lnSpc>
                <a:spcPct val="112000"/>
              </a:lnSpc>
            </a:pPr>
            <a:r>
              <a:rPr sz="1050" b="0">
                <a:solidFill>
                  <a:srgbClr val="6B7280"/>
                </a:solidFill>
                <a:latin typeface="Calibri"/>
              </a:rPr>
              <a:t>MobileNetV3-Large</a:t>
            </a:r>
          </a:p>
        </p:txBody>
      </p:sp>
      <p:sp>
        <p:nvSpPr>
          <p:cNvPr id="28" name="TextBox 27"/>
          <p:cNvSpPr txBox="1"/>
          <p:nvPr/>
        </p:nvSpPr>
        <p:spPr>
          <a:xfrm>
            <a:off x="5669280" y="4334255"/>
            <a:ext cx="3657600" cy="502920"/>
          </a:xfrm>
          <a:prstGeom prst="rect">
            <a:avLst/>
          </a:prstGeom>
          <a:noFill/>
        </p:spPr>
        <p:txBody>
          <a:bodyPr wrap="square" lIns="0" tIns="0" rIns="0" bIns="0">
            <a:spAutoFit/>
          </a:bodyPr>
          <a:lstStyle/>
          <a:p>
            <a:pPr algn="l">
              <a:lnSpc>
                <a:spcPct val="112000"/>
              </a:lnSpc>
            </a:pPr>
            <a:r>
              <a:rPr sz="1050" b="0">
                <a:solidFill>
                  <a:srgbClr val="6B7280"/>
                </a:solidFill>
                <a:latin typeface="Calibri"/>
              </a:rPr>
              <a:t>Open-set check that the photograph shows food at all, before classification runs.</a:t>
            </a:r>
          </a:p>
        </p:txBody>
      </p:sp>
      <p:sp>
        <p:nvSpPr>
          <p:cNvPr id="29" name="TextBox 28"/>
          <p:cNvSpPr txBox="1"/>
          <p:nvPr/>
        </p:nvSpPr>
        <p:spPr>
          <a:xfrm>
            <a:off x="9464040" y="4334255"/>
            <a:ext cx="2011680" cy="502920"/>
          </a:xfrm>
          <a:prstGeom prst="rect">
            <a:avLst/>
          </a:prstGeom>
          <a:noFill/>
        </p:spPr>
        <p:txBody>
          <a:bodyPr wrap="square" lIns="0" tIns="0" rIns="0" bIns="0">
            <a:spAutoFit/>
          </a:bodyPr>
          <a:lstStyle/>
          <a:p>
            <a:pPr algn="l">
              <a:lnSpc>
                <a:spcPct val="112000"/>
              </a:lnSpc>
            </a:pPr>
            <a:r>
              <a:rPr sz="950" b="1">
                <a:solidFill>
                  <a:srgbClr val="9CA8A3"/>
                </a:solidFill>
                <a:latin typeface="Calibri"/>
              </a:rPr>
              <a:t>OFF THE SHELF · ImageNet-1k</a:t>
            </a:r>
          </a:p>
        </p:txBody>
      </p:sp>
      <p:sp>
        <p:nvSpPr>
          <p:cNvPr id="30" name="Rectangle 29"/>
          <p:cNvSpPr/>
          <p:nvPr/>
        </p:nvSpPr>
        <p:spPr>
          <a:xfrm>
            <a:off x="868680" y="4910327"/>
            <a:ext cx="10469880" cy="9144"/>
          </a:xfrm>
          <a:prstGeom prst="rect">
            <a:avLst/>
          </a:prstGeom>
          <a:solidFill>
            <a:srgbClr val="DD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8680" y="4992623"/>
            <a:ext cx="1965960" cy="502920"/>
          </a:xfrm>
          <a:prstGeom prst="rect">
            <a:avLst/>
          </a:prstGeom>
          <a:noFill/>
        </p:spPr>
        <p:txBody>
          <a:bodyPr wrap="square" lIns="0" tIns="0" rIns="0" bIns="0">
            <a:spAutoFit/>
          </a:bodyPr>
          <a:lstStyle/>
          <a:p>
            <a:pPr algn="l">
              <a:lnSpc>
                <a:spcPct val="105000"/>
              </a:lnSpc>
            </a:pPr>
            <a:r>
              <a:rPr sz="1250" b="1">
                <a:solidFill>
                  <a:srgbClr val="16201C"/>
                </a:solidFill>
                <a:latin typeface="Calibri"/>
              </a:rPr>
              <a:t>Reference detector</a:t>
            </a:r>
          </a:p>
        </p:txBody>
      </p:sp>
      <p:sp>
        <p:nvSpPr>
          <p:cNvPr id="32" name="TextBox 31"/>
          <p:cNvSpPr txBox="1"/>
          <p:nvPr/>
        </p:nvSpPr>
        <p:spPr>
          <a:xfrm>
            <a:off x="3063240" y="4992623"/>
            <a:ext cx="2423160" cy="502920"/>
          </a:xfrm>
          <a:prstGeom prst="rect">
            <a:avLst/>
          </a:prstGeom>
          <a:noFill/>
        </p:spPr>
        <p:txBody>
          <a:bodyPr wrap="square" lIns="0" tIns="0" rIns="0" bIns="0">
            <a:spAutoFit/>
          </a:bodyPr>
          <a:lstStyle/>
          <a:p>
            <a:pPr algn="l">
              <a:lnSpc>
                <a:spcPct val="112000"/>
              </a:lnSpc>
            </a:pPr>
            <a:r>
              <a:rPr sz="1050" b="0">
                <a:solidFill>
                  <a:srgbClr val="6B7280"/>
                </a:solidFill>
                <a:latin typeface="Calibri"/>
              </a:rPr>
              <a:t>Faster R-CNN MobileNetV3</a:t>
            </a:r>
          </a:p>
        </p:txBody>
      </p:sp>
      <p:sp>
        <p:nvSpPr>
          <p:cNvPr id="33" name="TextBox 32"/>
          <p:cNvSpPr txBox="1"/>
          <p:nvPr/>
        </p:nvSpPr>
        <p:spPr>
          <a:xfrm>
            <a:off x="5669280" y="4992623"/>
            <a:ext cx="3657600" cy="502920"/>
          </a:xfrm>
          <a:prstGeom prst="rect">
            <a:avLst/>
          </a:prstGeom>
          <a:noFill/>
        </p:spPr>
        <p:txBody>
          <a:bodyPr wrap="square" lIns="0" tIns="0" rIns="0" bIns="0">
            <a:spAutoFit/>
          </a:bodyPr>
          <a:lstStyle/>
          <a:p>
            <a:pPr algn="l">
              <a:lnSpc>
                <a:spcPct val="112000"/>
              </a:lnSpc>
            </a:pPr>
            <a:r>
              <a:rPr sz="1050" b="0">
                <a:solidFill>
                  <a:srgbClr val="6B7280"/>
                </a:solidFill>
                <a:latin typeface="Calibri"/>
              </a:rPr>
              <a:t>Finds a fork, spoon or knife in frame to calibrate real-world scale.</a:t>
            </a:r>
          </a:p>
        </p:txBody>
      </p:sp>
      <p:sp>
        <p:nvSpPr>
          <p:cNvPr id="34" name="TextBox 33"/>
          <p:cNvSpPr txBox="1"/>
          <p:nvPr/>
        </p:nvSpPr>
        <p:spPr>
          <a:xfrm>
            <a:off x="9464040" y="4992623"/>
            <a:ext cx="2011680" cy="502920"/>
          </a:xfrm>
          <a:prstGeom prst="rect">
            <a:avLst/>
          </a:prstGeom>
          <a:noFill/>
        </p:spPr>
        <p:txBody>
          <a:bodyPr wrap="square" lIns="0" tIns="0" rIns="0" bIns="0">
            <a:spAutoFit/>
          </a:bodyPr>
          <a:lstStyle/>
          <a:p>
            <a:pPr algn="l">
              <a:lnSpc>
                <a:spcPct val="112000"/>
              </a:lnSpc>
            </a:pPr>
            <a:r>
              <a:rPr sz="950" b="1">
                <a:solidFill>
                  <a:srgbClr val="9CA8A3"/>
                </a:solidFill>
                <a:latin typeface="Calibri"/>
              </a:rPr>
              <a:t>OFF THE SHELF · COCO</a:t>
            </a:r>
          </a:p>
        </p:txBody>
      </p:sp>
      <p:sp>
        <p:nvSpPr>
          <p:cNvPr id="35" name="Rounded Rectangle 34"/>
          <p:cNvSpPr/>
          <p:nvPr/>
        </p:nvSpPr>
        <p:spPr>
          <a:xfrm>
            <a:off x="548640" y="5833872"/>
            <a:ext cx="11109960" cy="566928"/>
          </a:xfrm>
          <a:prstGeom prst="roundRect">
            <a:avLst>
              <a:gd name="adj" fmla="val 3117"/>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8680" y="5989320"/>
            <a:ext cx="10469880" cy="320040"/>
          </a:xfrm>
          <a:prstGeom prst="rect">
            <a:avLst/>
          </a:prstGeom>
          <a:noFill/>
        </p:spPr>
        <p:txBody>
          <a:bodyPr wrap="square" lIns="0" tIns="0" rIns="0" bIns="0">
            <a:spAutoFit/>
          </a:bodyPr>
          <a:lstStyle/>
          <a:p>
            <a:pPr algn="l">
              <a:lnSpc>
                <a:spcPct val="100000"/>
              </a:lnSpc>
            </a:pPr>
            <a:r>
              <a:rPr sz="1150" b="0">
                <a:solidFill>
                  <a:srgbClr val="C7CFCB"/>
                </a:solidFill>
                <a:latin typeface="Calibri"/>
              </a:rPr>
              <a:t>Only the classifier is on the accuracy headline. The other four exist to stop it being asked the wrong question, or to give its answer a scale.</a:t>
            </a:r>
          </a:p>
        </p:txBody>
      </p:sp>
      <p:sp>
        <p:nvSpPr>
          <p:cNvPr id="37" name="TextBox 36"/>
          <p:cNvSpPr txBox="1"/>
          <p:nvPr/>
        </p:nvSpPr>
        <p:spPr>
          <a:xfrm>
            <a:off x="11548872" y="6473952"/>
            <a:ext cx="457200" cy="274320"/>
          </a:xfrm>
          <a:prstGeom prst="rect">
            <a:avLst/>
          </a:prstGeom>
          <a:noFill/>
        </p:spPr>
        <p:txBody>
          <a:bodyPr wrap="square" lIns="0" tIns="0" rIns="0" bIns="0">
            <a:spAutoFit/>
          </a:bodyPr>
          <a:lstStyle/>
          <a:p>
            <a:pPr algn="l">
              <a:lnSpc>
                <a:spcPct val="100000"/>
              </a:lnSpc>
            </a:pPr>
            <a:r>
              <a:rPr sz="1000" b="0">
                <a:solidFill>
                  <a:srgbClr val="6B7280"/>
                </a:solidFill>
                <a:latin typeface="Calibri"/>
              </a:rPr>
              <a:t>07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1F7A54"/>
                </a:solidFill>
                <a:latin typeface="Calibri" pitchFamily="34" charset="0"/>
                <a:ea typeface="Calibri" pitchFamily="34" charset="-122"/>
                <a:cs typeface="Calibri" pitchFamily="34" charset="-120"/>
              </a:rPr>
              <a:t>THE AI MODEL</a:t>
            </a:r>
            <a:endParaRPr lang="en-US" sz="1300" dirty="0"/>
          </a:p>
        </p:txBody>
      </p:sp>
      <p:sp>
        <p:nvSpPr>
          <p:cNvPr id="3" name="Text 1"/>
          <p:cNvSpPr/>
          <p:nvPr/>
        </p:nvSpPr>
        <p:spPr>
          <a:xfrm>
            <a:off x="548640" y="658368"/>
            <a:ext cx="9601200" cy="822960"/>
          </a:xfrm>
          <a:prstGeom prst="rect">
            <a:avLst/>
          </a:prstGeom>
          <a:noFill/>
          <a:ln/>
        </p:spPr>
        <p:txBody>
          <a:bodyPr wrap="square" rtlCol="0" anchor="ctr"/>
          <a:lstStyle/>
          <a:p>
            <a:pPr marL="0" indent="0">
              <a:buNone/>
            </a:pPr>
            <a:r>
              <a:rPr lang="en-US" sz="3200" b="1" dirty="0">
                <a:solidFill>
                  <a:srgbClr val="16201C"/>
                </a:solidFill>
                <a:latin typeface="Cambria" pitchFamily="34" charset="0"/>
                <a:ea typeface="Cambria" pitchFamily="34" charset="-122"/>
                <a:cs typeface="Cambria" pitchFamily="34" charset="-120"/>
              </a:rPr>
              <a:t>EfficientNet-B4, fine-tuned on Food-101</a:t>
            </a:r>
            <a:endParaRPr lang="en-US" sz="3200" dirty="0"/>
          </a:p>
        </p:txBody>
      </p:sp>
      <p:sp>
        <p:nvSpPr>
          <p:cNvPr id="4" name="Shape 2"/>
          <p:cNvSpPr/>
          <p:nvPr/>
        </p:nvSpPr>
        <p:spPr>
          <a:xfrm>
            <a:off x="548640" y="1920240"/>
            <a:ext cx="128016" cy="128016"/>
          </a:xfrm>
          <a:prstGeom prst="ellipse">
            <a:avLst/>
          </a:prstGeom>
          <a:solidFill>
            <a:srgbClr val="1F7A54"/>
          </a:solidFill>
          <a:ln/>
        </p:spPr>
      </p:sp>
      <p:sp>
        <p:nvSpPr>
          <p:cNvPr id="5" name="Text 3"/>
          <p:cNvSpPr/>
          <p:nvPr/>
        </p:nvSpPr>
        <p:spPr>
          <a:xfrm>
            <a:off x="868680" y="1801368"/>
            <a:ext cx="5577840" cy="365760"/>
          </a:xfrm>
          <a:prstGeom prst="rect">
            <a:avLst/>
          </a:prstGeom>
          <a:noFill/>
          <a:ln/>
        </p:spPr>
        <p:txBody>
          <a:bodyPr wrap="square" rtlCol="0" anchor="ctr"/>
          <a:lstStyle/>
          <a:p>
            <a:pPr marL="0" indent="0">
              <a:buNone/>
            </a:pPr>
            <a:r>
              <a:rPr lang="en-US" sz="1500" b="1" dirty="0">
                <a:solidFill>
                  <a:srgbClr val="16201C"/>
                </a:solidFill>
                <a:latin typeface="Calibri" pitchFamily="34" charset="0"/>
                <a:ea typeface="Calibri" pitchFamily="34" charset="-122"/>
                <a:cs typeface="Calibri" pitchFamily="34" charset="-120"/>
              </a:rPr>
              <a:t>101 classes, 101,000 images</a:t>
            </a:r>
            <a:endParaRPr lang="en-US" sz="1500" dirty="0"/>
          </a:p>
        </p:txBody>
      </p:sp>
      <p:sp>
        <p:nvSpPr>
          <p:cNvPr id="6" name="Text 4"/>
          <p:cNvSpPr/>
          <p:nvPr/>
        </p:nvSpPr>
        <p:spPr>
          <a:xfrm>
            <a:off x="868680" y="2148840"/>
            <a:ext cx="5577840" cy="54864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Food-101 — the standard benchmark, so the number is comparable to published work</a:t>
            </a:r>
            <a:endParaRPr lang="en-US" sz="1150" dirty="0"/>
          </a:p>
        </p:txBody>
      </p:sp>
      <p:sp>
        <p:nvSpPr>
          <p:cNvPr id="7" name="Shape 5"/>
          <p:cNvSpPr/>
          <p:nvPr/>
        </p:nvSpPr>
        <p:spPr>
          <a:xfrm>
            <a:off x="548640" y="2880360"/>
            <a:ext cx="128016" cy="128016"/>
          </a:xfrm>
          <a:prstGeom prst="ellipse">
            <a:avLst/>
          </a:prstGeom>
          <a:solidFill>
            <a:srgbClr val="1F7A54"/>
          </a:solidFill>
          <a:ln/>
        </p:spPr>
      </p:sp>
      <p:sp>
        <p:nvSpPr>
          <p:cNvPr id="8" name="Text 6"/>
          <p:cNvSpPr/>
          <p:nvPr/>
        </p:nvSpPr>
        <p:spPr>
          <a:xfrm>
            <a:off x="868680" y="2761488"/>
            <a:ext cx="5577840" cy="365760"/>
          </a:xfrm>
          <a:prstGeom prst="rect">
            <a:avLst/>
          </a:prstGeom>
          <a:noFill/>
          <a:ln/>
        </p:spPr>
        <p:txBody>
          <a:bodyPr wrap="square" rtlCol="0" anchor="ctr"/>
          <a:lstStyle/>
          <a:p>
            <a:pPr marL="0" indent="0">
              <a:buNone/>
            </a:pPr>
            <a:r>
              <a:rPr lang="en-US" sz="1500" b="1" dirty="0">
                <a:solidFill>
                  <a:srgbClr val="16201C"/>
                </a:solidFill>
                <a:latin typeface="Calibri" pitchFamily="34" charset="0"/>
                <a:ea typeface="Calibri" pitchFamily="34" charset="-122"/>
                <a:cs typeface="Calibri" pitchFamily="34" charset="-120"/>
              </a:rPr>
              <a:t>Two-phase transfer learning</a:t>
            </a:r>
            <a:endParaRPr lang="en-US" sz="1500" dirty="0"/>
          </a:p>
        </p:txBody>
      </p:sp>
      <p:sp>
        <p:nvSpPr>
          <p:cNvPr id="9" name="Text 7"/>
          <p:cNvSpPr/>
          <p:nvPr/>
        </p:nvSpPr>
        <p:spPr>
          <a:xfrm>
            <a:off x="868680" y="3108960"/>
            <a:ext cx="5577840" cy="54864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3 warm-up epochs, backbone frozen, head only at LR 1e-3 — then the whole network fine-tuned at 3e-4</a:t>
            </a:r>
            <a:endParaRPr lang="en-US" sz="1150" dirty="0"/>
          </a:p>
        </p:txBody>
      </p:sp>
      <p:sp>
        <p:nvSpPr>
          <p:cNvPr id="10" name="Shape 8"/>
          <p:cNvSpPr/>
          <p:nvPr/>
        </p:nvSpPr>
        <p:spPr>
          <a:xfrm>
            <a:off x="548640" y="3840480"/>
            <a:ext cx="128016" cy="128016"/>
          </a:xfrm>
          <a:prstGeom prst="ellipse">
            <a:avLst/>
          </a:prstGeom>
          <a:solidFill>
            <a:srgbClr val="1F7A54"/>
          </a:solidFill>
          <a:ln/>
        </p:spPr>
      </p:sp>
      <p:sp>
        <p:nvSpPr>
          <p:cNvPr id="11" name="Text 9"/>
          <p:cNvSpPr/>
          <p:nvPr/>
        </p:nvSpPr>
        <p:spPr>
          <a:xfrm>
            <a:off x="868680" y="3721608"/>
            <a:ext cx="5577840" cy="365760"/>
          </a:xfrm>
          <a:prstGeom prst="rect">
            <a:avLst/>
          </a:prstGeom>
          <a:noFill/>
          <a:ln/>
        </p:spPr>
        <p:txBody>
          <a:bodyPr wrap="square" rtlCol="0" anchor="ctr"/>
          <a:lstStyle/>
          <a:p>
            <a:pPr marL="0" indent="0">
              <a:buNone/>
            </a:pPr>
            <a:r>
              <a:rPr lang="en-US" sz="1500" b="1" dirty="0">
                <a:solidFill>
                  <a:srgbClr val="16201C"/>
                </a:solidFill>
                <a:latin typeface="Calibri" pitchFamily="34" charset="0"/>
                <a:ea typeface="Calibri" pitchFamily="34" charset="-122"/>
                <a:cs typeface="Calibri" pitchFamily="34" charset="-120"/>
              </a:rPr>
              <a:t>Deliberately heavy regularisation</a:t>
            </a:r>
            <a:endParaRPr lang="en-US" sz="1500" dirty="0"/>
          </a:p>
        </p:txBody>
      </p:sp>
      <p:sp>
        <p:nvSpPr>
          <p:cNvPr id="12" name="Text 10"/>
          <p:cNvSpPr/>
          <p:nvPr/>
        </p:nvSpPr>
        <p:spPr>
          <a:xfrm>
            <a:off x="868680" y="4069080"/>
            <a:ext cx="5577840" cy="54864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750 images/class are easily memorised: RandAugment(2, m9), RandomResizedCrop 0.65–1.0, RandomErasing p=0.25, MixUp α=0.2 + CutMix α=1.0, label smoothing 0.1</a:t>
            </a:r>
            <a:endParaRPr lang="en-US" sz="1150" dirty="0"/>
          </a:p>
        </p:txBody>
      </p:sp>
      <p:sp>
        <p:nvSpPr>
          <p:cNvPr id="13" name="Shape 11"/>
          <p:cNvSpPr/>
          <p:nvPr/>
        </p:nvSpPr>
        <p:spPr>
          <a:xfrm>
            <a:off x="548640" y="4800600"/>
            <a:ext cx="128016" cy="128016"/>
          </a:xfrm>
          <a:prstGeom prst="ellipse">
            <a:avLst/>
          </a:prstGeom>
          <a:solidFill>
            <a:srgbClr val="1F7A54"/>
          </a:solidFill>
          <a:ln/>
        </p:spPr>
      </p:sp>
      <p:sp>
        <p:nvSpPr>
          <p:cNvPr id="14" name="Text 12"/>
          <p:cNvSpPr/>
          <p:nvPr/>
        </p:nvSpPr>
        <p:spPr>
          <a:xfrm>
            <a:off x="868680" y="4681728"/>
            <a:ext cx="5577840" cy="365760"/>
          </a:xfrm>
          <a:prstGeom prst="rect">
            <a:avLst/>
          </a:prstGeom>
          <a:noFill/>
          <a:ln/>
        </p:spPr>
        <p:txBody>
          <a:bodyPr wrap="square" rtlCol="0" anchor="ctr"/>
          <a:lstStyle/>
          <a:p>
            <a:pPr marL="0" indent="0">
              <a:buNone/>
            </a:pPr>
            <a:r>
              <a:rPr lang="en-US" sz="1500" b="1" dirty="0">
                <a:solidFill>
                  <a:srgbClr val="16201C"/>
                </a:solidFill>
                <a:latin typeface="Calibri" pitchFamily="34" charset="0"/>
                <a:ea typeface="Calibri" pitchFamily="34" charset="-122"/>
                <a:cs typeface="Calibri" pitchFamily="34" charset="-120"/>
              </a:rPr>
              <a:t>EMA weights, cosine schedule, flip TTA</a:t>
            </a:r>
            <a:endParaRPr lang="en-US" sz="1500" dirty="0"/>
          </a:p>
        </p:txBody>
      </p:sp>
      <p:sp>
        <p:nvSpPr>
          <p:cNvPr id="15" name="Text 13"/>
          <p:cNvSpPr/>
          <p:nvPr/>
        </p:nvSpPr>
        <p:spPr>
          <a:xfrm>
            <a:off x="868680" y="5029200"/>
            <a:ext cx="5577840" cy="54864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Weight EMA at 0.999 evaluated alongside the raw weights; LR warms up linearly then decays on a cosine curve; horizontal-flip TTA at final eval</a:t>
            </a:r>
            <a:endParaRPr lang="en-US" sz="1150" dirty="0"/>
          </a:p>
        </p:txBody>
      </p:sp>
      <p:sp>
        <p:nvSpPr>
          <p:cNvPr id="16" name="Shape 14"/>
          <p:cNvSpPr/>
          <p:nvPr/>
        </p:nvSpPr>
        <p:spPr>
          <a:xfrm>
            <a:off x="6903720" y="1828800"/>
            <a:ext cx="4754880" cy="3977640"/>
          </a:xfrm>
          <a:prstGeom prst="roundRect">
            <a:avLst>
              <a:gd name="adj" fmla="val 2759"/>
            </a:avLst>
          </a:prstGeom>
          <a:solidFill>
            <a:srgbClr val="14181A"/>
          </a:solidFill>
          <a:ln/>
        </p:spPr>
      </p:sp>
      <p:sp>
        <p:nvSpPr>
          <p:cNvPr id="17" name="Text 15"/>
          <p:cNvSpPr/>
          <p:nvPr/>
        </p:nvSpPr>
        <p:spPr>
          <a:xfrm>
            <a:off x="7223760" y="2057400"/>
            <a:ext cx="4114800" cy="365760"/>
          </a:xfrm>
          <a:prstGeom prst="rect">
            <a:avLst/>
          </a:prstGeom>
          <a:noFill/>
          <a:ln/>
        </p:spPr>
        <p:txBody>
          <a:bodyPr wrap="square" rtlCol="0" anchor="ctr"/>
          <a:lstStyle/>
          <a:p>
            <a:pPr marL="0" indent="0">
              <a:buNone/>
            </a:pPr>
            <a:r>
              <a:rPr lang="en-US" sz="1400" b="1" dirty="0">
                <a:solidFill>
                  <a:srgbClr val="3DDC97"/>
                </a:solidFill>
                <a:latin typeface="Calibri" pitchFamily="34" charset="0"/>
                <a:ea typeface="Calibri" pitchFamily="34" charset="-122"/>
                <a:cs typeface="Calibri" pitchFamily="34" charset="-120"/>
              </a:rPr>
              <a:t>Training Facts</a:t>
            </a:r>
            <a:endParaRPr lang="en-US" sz="1400" dirty="0"/>
          </a:p>
        </p:txBody>
      </p:sp>
      <p:sp>
        <p:nvSpPr>
          <p:cNvPr id="18" name="Text 16"/>
          <p:cNvSpPr/>
          <p:nvPr/>
        </p:nvSpPr>
        <p:spPr>
          <a:xfrm>
            <a:off x="7223760" y="2606040"/>
            <a:ext cx="1737360" cy="457200"/>
          </a:xfrm>
          <a:prstGeom prst="rect">
            <a:avLst/>
          </a:prstGeom>
          <a:noFill/>
          <a:ln/>
        </p:spPr>
        <p:txBody>
          <a:bodyPr wrap="square" rtlCol="0" anchor="t"/>
          <a:lstStyle/>
          <a:p>
            <a:pPr marL="0" indent="0">
              <a:buNone/>
            </a:pPr>
            <a:r>
              <a:rPr lang="en-US" sz="1150" dirty="0">
                <a:solidFill>
                  <a:srgbClr val="9CA8A3"/>
                </a:solidFill>
                <a:latin typeface="Calibri" pitchFamily="34" charset="0"/>
                <a:ea typeface="Calibri" pitchFamily="34" charset="-122"/>
                <a:cs typeface="Calibri" pitchFamily="34" charset="-120"/>
              </a:rPr>
              <a:t>Backbone</a:t>
            </a:r>
            <a:endParaRPr lang="en-US" sz="1150" dirty="0"/>
          </a:p>
        </p:txBody>
      </p:sp>
      <p:sp>
        <p:nvSpPr>
          <p:cNvPr id="19" name="Text 17"/>
          <p:cNvSpPr/>
          <p:nvPr/>
        </p:nvSpPr>
        <p:spPr>
          <a:xfrm>
            <a:off x="8915400" y="2606040"/>
            <a:ext cx="2468880" cy="457200"/>
          </a:xfrm>
          <a:prstGeom prst="rect">
            <a:avLst/>
          </a:prstGeom>
          <a:noFill/>
          <a:ln/>
        </p:spPr>
        <p:txBody>
          <a:bodyPr wrap="square" rtlCol="0" anchor="t"/>
          <a:lstStyle/>
          <a:p>
            <a:pPr marL="0" indent="0" algn="r">
              <a:buNone/>
            </a:pPr>
            <a:r>
              <a:rPr lang="en-US" sz="1150" b="1" dirty="0">
                <a:solidFill>
                  <a:srgbClr val="FFFFFF"/>
                </a:solidFill>
                <a:latin typeface="Calibri" pitchFamily="34" charset="0"/>
                <a:ea typeface="Calibri" pitchFamily="34" charset="-122"/>
                <a:cs typeface="Calibri" pitchFamily="34" charset="-120"/>
              </a:rPr>
              <a:t>EfficientNet-B4 (ImageNet pretrained)</a:t>
            </a:r>
            <a:endParaRPr lang="en-US" sz="1150" dirty="0"/>
          </a:p>
        </p:txBody>
      </p:sp>
      <p:sp>
        <p:nvSpPr>
          <p:cNvPr id="20" name="Text 18"/>
          <p:cNvSpPr/>
          <p:nvPr/>
        </p:nvSpPr>
        <p:spPr>
          <a:xfrm>
            <a:off x="7223760" y="3118104"/>
            <a:ext cx="1737360" cy="457200"/>
          </a:xfrm>
          <a:prstGeom prst="rect">
            <a:avLst/>
          </a:prstGeom>
          <a:noFill/>
          <a:ln/>
        </p:spPr>
        <p:txBody>
          <a:bodyPr wrap="square" rtlCol="0" anchor="t"/>
          <a:lstStyle/>
          <a:p>
            <a:pPr marL="0" indent="0">
              <a:buNone/>
            </a:pPr>
            <a:r>
              <a:rPr lang="en-US" sz="1150" dirty="0">
                <a:solidFill>
                  <a:srgbClr val="9CA8A3"/>
                </a:solidFill>
                <a:latin typeface="Calibri" pitchFamily="34" charset="0"/>
                <a:ea typeface="Calibri" pitchFamily="34" charset="-122"/>
                <a:cs typeface="Calibri" pitchFamily="34" charset="-120"/>
              </a:rPr>
              <a:t>Input size</a:t>
            </a:r>
            <a:endParaRPr lang="en-US" sz="1150" dirty="0"/>
          </a:p>
        </p:txBody>
      </p:sp>
      <p:sp>
        <p:nvSpPr>
          <p:cNvPr id="21" name="Text 19"/>
          <p:cNvSpPr/>
          <p:nvPr/>
        </p:nvSpPr>
        <p:spPr>
          <a:xfrm>
            <a:off x="8915400" y="3118104"/>
            <a:ext cx="2468880" cy="457200"/>
          </a:xfrm>
          <a:prstGeom prst="rect">
            <a:avLst/>
          </a:prstGeom>
          <a:noFill/>
          <a:ln/>
        </p:spPr>
        <p:txBody>
          <a:bodyPr wrap="square" rtlCol="0" anchor="t"/>
          <a:lstStyle/>
          <a:p>
            <a:pPr marL="0" indent="0" algn="r">
              <a:buNone/>
            </a:pPr>
            <a:r>
              <a:rPr lang="en-US" sz="1150" b="1" dirty="0">
                <a:solidFill>
                  <a:srgbClr val="FFFFFF"/>
                </a:solidFill>
                <a:latin typeface="Calibri" pitchFamily="34" charset="0"/>
                <a:ea typeface="Calibri" pitchFamily="34" charset="-122"/>
                <a:cs typeface="Calibri" pitchFamily="34" charset="-120"/>
              </a:rPr>
              <a:t>380 × 380 px</a:t>
            </a:r>
            <a:endParaRPr lang="en-US" sz="1150" dirty="0"/>
          </a:p>
        </p:txBody>
      </p:sp>
      <p:sp>
        <p:nvSpPr>
          <p:cNvPr id="22" name="Text 20"/>
          <p:cNvSpPr/>
          <p:nvPr/>
        </p:nvSpPr>
        <p:spPr>
          <a:xfrm>
            <a:off x="7223760" y="3630168"/>
            <a:ext cx="1737360" cy="457200"/>
          </a:xfrm>
          <a:prstGeom prst="rect">
            <a:avLst/>
          </a:prstGeom>
          <a:noFill/>
          <a:ln/>
        </p:spPr>
        <p:txBody>
          <a:bodyPr wrap="square" rtlCol="0" anchor="t"/>
          <a:lstStyle/>
          <a:p>
            <a:pPr marL="0" indent="0">
              <a:buNone/>
            </a:pPr>
            <a:r>
              <a:rPr lang="en-US" sz="1150" dirty="0">
                <a:solidFill>
                  <a:srgbClr val="9CA8A3"/>
                </a:solidFill>
                <a:latin typeface="Calibri" pitchFamily="34" charset="0"/>
                <a:ea typeface="Calibri" pitchFamily="34" charset="-122"/>
                <a:cs typeface="Calibri" pitchFamily="34" charset="-120"/>
              </a:rPr>
              <a:t>Optimiser</a:t>
            </a:r>
            <a:endParaRPr lang="en-US" sz="1150" dirty="0"/>
          </a:p>
        </p:txBody>
      </p:sp>
      <p:sp>
        <p:nvSpPr>
          <p:cNvPr id="23" name="Text 21"/>
          <p:cNvSpPr/>
          <p:nvPr/>
        </p:nvSpPr>
        <p:spPr>
          <a:xfrm>
            <a:off x="8915400" y="3630168"/>
            <a:ext cx="2468880" cy="457200"/>
          </a:xfrm>
          <a:prstGeom prst="rect">
            <a:avLst/>
          </a:prstGeom>
          <a:noFill/>
          <a:ln/>
        </p:spPr>
        <p:txBody>
          <a:bodyPr wrap="square" rtlCol="0" anchor="t"/>
          <a:lstStyle/>
          <a:p>
            <a:pPr marL="0" indent="0" algn="r">
              <a:buNone/>
            </a:pPr>
            <a:r>
              <a:rPr lang="en-US" sz="1150" b="1" dirty="0">
                <a:solidFill>
                  <a:srgbClr val="FFFFFF"/>
                </a:solidFill>
                <a:latin typeface="Calibri" pitchFamily="34" charset="0"/>
                <a:ea typeface="Calibri" pitchFamily="34" charset="-122"/>
                <a:cs typeface="Calibri" pitchFamily="34" charset="-120"/>
              </a:rPr>
              <a:t>AdamW · weight decay 1e-4 · cosine decay</a:t>
            </a:r>
            <a:endParaRPr lang="en-US" sz="1150" dirty="0"/>
          </a:p>
        </p:txBody>
      </p:sp>
      <p:sp>
        <p:nvSpPr>
          <p:cNvPr id="24" name="Text 22"/>
          <p:cNvSpPr/>
          <p:nvPr/>
        </p:nvSpPr>
        <p:spPr>
          <a:xfrm>
            <a:off x="7223760" y="4142232"/>
            <a:ext cx="1737360" cy="457200"/>
          </a:xfrm>
          <a:prstGeom prst="rect">
            <a:avLst/>
          </a:prstGeom>
          <a:noFill/>
          <a:ln/>
        </p:spPr>
        <p:txBody>
          <a:bodyPr wrap="square" rtlCol="0" anchor="t"/>
          <a:lstStyle/>
          <a:p>
            <a:pPr marL="0" indent="0">
              <a:buNone/>
            </a:pPr>
            <a:r>
              <a:rPr lang="en-US" sz="1150" dirty="0">
                <a:solidFill>
                  <a:srgbClr val="9CA8A3"/>
                </a:solidFill>
                <a:latin typeface="Calibri" pitchFamily="34" charset="0"/>
                <a:ea typeface="Calibri" pitchFamily="34" charset="-122"/>
                <a:cs typeface="Calibri" pitchFamily="34" charset="-120"/>
              </a:rPr>
              <a:t>Augmentation</a:t>
            </a:r>
            <a:endParaRPr lang="en-US" sz="1150" dirty="0"/>
          </a:p>
        </p:txBody>
      </p:sp>
      <p:sp>
        <p:nvSpPr>
          <p:cNvPr id="25" name="Text 23"/>
          <p:cNvSpPr/>
          <p:nvPr/>
        </p:nvSpPr>
        <p:spPr>
          <a:xfrm>
            <a:off x="8915400" y="4142232"/>
            <a:ext cx="2468880" cy="457200"/>
          </a:xfrm>
          <a:prstGeom prst="rect">
            <a:avLst/>
          </a:prstGeom>
          <a:noFill/>
          <a:ln/>
        </p:spPr>
        <p:txBody>
          <a:bodyPr wrap="square" rtlCol="0" anchor="t"/>
          <a:lstStyle/>
          <a:p>
            <a:pPr marL="0" indent="0" algn="r">
              <a:buNone/>
            </a:pPr>
            <a:r>
              <a:rPr lang="en-US" sz="1150" b="1" dirty="0">
                <a:solidFill>
                  <a:srgbClr val="FFFFFF"/>
                </a:solidFill>
                <a:latin typeface="Calibri" pitchFamily="34" charset="0"/>
                <a:ea typeface="Calibri" pitchFamily="34" charset="-122"/>
                <a:cs typeface="Calibri" pitchFamily="34" charset="-120"/>
              </a:rPr>
              <a:t>RandAugment · MixUp · CutMix · Erasing</a:t>
            </a:r>
            <a:endParaRPr lang="en-US" sz="1150" dirty="0"/>
          </a:p>
        </p:txBody>
      </p:sp>
      <p:sp>
        <p:nvSpPr>
          <p:cNvPr id="26" name="Text 24"/>
          <p:cNvSpPr/>
          <p:nvPr/>
        </p:nvSpPr>
        <p:spPr>
          <a:xfrm>
            <a:off x="7223760" y="4654296"/>
            <a:ext cx="1737360" cy="457200"/>
          </a:xfrm>
          <a:prstGeom prst="rect">
            <a:avLst/>
          </a:prstGeom>
          <a:noFill/>
          <a:ln/>
        </p:spPr>
        <p:txBody>
          <a:bodyPr wrap="square" rtlCol="0" anchor="t"/>
          <a:lstStyle/>
          <a:p>
            <a:pPr marL="0" indent="0">
              <a:buNone/>
            </a:pPr>
            <a:r>
              <a:rPr lang="en-US" sz="1150" dirty="0">
                <a:solidFill>
                  <a:srgbClr val="9CA8A3"/>
                </a:solidFill>
                <a:latin typeface="Calibri" pitchFamily="34" charset="0"/>
                <a:ea typeface="Calibri" pitchFamily="34" charset="-122"/>
                <a:cs typeface="Calibri" pitchFamily="34" charset="-120"/>
              </a:rPr>
              <a:t>Platform</a:t>
            </a:r>
            <a:endParaRPr lang="en-US" sz="1150" dirty="0"/>
          </a:p>
        </p:txBody>
      </p:sp>
      <p:sp>
        <p:nvSpPr>
          <p:cNvPr id="27" name="Text 25"/>
          <p:cNvSpPr/>
          <p:nvPr/>
        </p:nvSpPr>
        <p:spPr>
          <a:xfrm>
            <a:off x="8915400" y="4654296"/>
            <a:ext cx="2468880" cy="457200"/>
          </a:xfrm>
          <a:prstGeom prst="rect">
            <a:avLst/>
          </a:prstGeom>
          <a:noFill/>
          <a:ln/>
        </p:spPr>
        <p:txBody>
          <a:bodyPr wrap="square" rtlCol="0" anchor="t"/>
          <a:lstStyle/>
          <a:p>
            <a:pPr marL="0" indent="0" algn="r">
              <a:buNone/>
            </a:pPr>
            <a:r>
              <a:rPr lang="en-US" sz="1150" b="1" dirty="0">
                <a:solidFill>
                  <a:srgbClr val="FFFFFF"/>
                </a:solidFill>
                <a:latin typeface="Calibri" pitchFamily="34" charset="0"/>
                <a:ea typeface="Calibri" pitchFamily="34" charset="-122"/>
                <a:cs typeface="Calibri" pitchFamily="34" charset="-120"/>
              </a:rPr>
              <a:t>Colab Pro GPU · mixed precision + grad accumulation</a:t>
            </a:r>
            <a:endParaRPr lang="en-US" sz="1150" dirty="0"/>
          </a:p>
        </p:txBody>
      </p:sp>
      <p:sp>
        <p:nvSpPr>
          <p:cNvPr id="28" name="Text 26"/>
          <p:cNvSpPr/>
          <p:nvPr/>
        </p:nvSpPr>
        <p:spPr>
          <a:xfrm>
            <a:off x="7223760" y="5166360"/>
            <a:ext cx="1737360" cy="457200"/>
          </a:xfrm>
          <a:prstGeom prst="rect">
            <a:avLst/>
          </a:prstGeom>
          <a:noFill/>
          <a:ln/>
        </p:spPr>
        <p:txBody>
          <a:bodyPr wrap="square" rtlCol="0" anchor="t"/>
          <a:lstStyle/>
          <a:p>
            <a:pPr marL="0" indent="0">
              <a:buNone/>
            </a:pPr>
            <a:r>
              <a:rPr lang="en-US" sz="1150" dirty="0">
                <a:solidFill>
                  <a:srgbClr val="9CA8A3"/>
                </a:solidFill>
                <a:latin typeface="Calibri" pitchFamily="34" charset="0"/>
                <a:ea typeface="Calibri" pitchFamily="34" charset="-122"/>
                <a:cs typeface="Calibri" pitchFamily="34" charset="-120"/>
              </a:rPr>
              <a:t>Held-out test set</a:t>
            </a:r>
            <a:endParaRPr lang="en-US" sz="1150" dirty="0"/>
          </a:p>
        </p:txBody>
      </p:sp>
      <p:sp>
        <p:nvSpPr>
          <p:cNvPr id="29" name="Text 27"/>
          <p:cNvSpPr/>
          <p:nvPr/>
        </p:nvSpPr>
        <p:spPr>
          <a:xfrm>
            <a:off x="8915400" y="5166360"/>
            <a:ext cx="2468880" cy="457200"/>
          </a:xfrm>
          <a:prstGeom prst="rect">
            <a:avLst/>
          </a:prstGeom>
          <a:noFill/>
          <a:ln/>
        </p:spPr>
        <p:txBody>
          <a:bodyPr wrap="square" rtlCol="0" anchor="t"/>
          <a:lstStyle/>
          <a:p>
            <a:pPr marL="0" indent="0" algn="r">
              <a:buNone/>
            </a:pPr>
            <a:r>
              <a:rPr lang="en-US" sz="1150" b="1" dirty="0">
                <a:solidFill>
                  <a:srgbClr val="FFFFFF"/>
                </a:solidFill>
                <a:latin typeface="Calibri" pitchFamily="34" charset="0"/>
                <a:ea typeface="Calibri" pitchFamily="34" charset="-122"/>
                <a:cs typeface="Calibri" pitchFamily="34" charset="-120"/>
              </a:rPr>
              <a:t>25,250 images (250 / class)</a:t>
            </a:r>
            <a:endParaRPr lang="en-US" sz="1150" dirty="0"/>
          </a:p>
        </p:txBody>
      </p:sp>
      <p:sp>
        <p:nvSpPr>
          <p:cNvPr id="30" name="Text 28"/>
          <p:cNvSpPr/>
          <p:nvPr/>
        </p:nvSpPr>
        <p:spPr>
          <a:xfrm>
            <a:off x="1154887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1F7A54"/>
                </a:solidFill>
                <a:latin typeface="Calibri" pitchFamily="34" charset="0"/>
                <a:ea typeface="Calibri" pitchFamily="34" charset="-122"/>
                <a:cs typeface="Calibri" pitchFamily="34" charset="-120"/>
              </a:rPr>
              <a:t>MODEL SELECTION</a:t>
            </a:r>
            <a:endParaRPr lang="en-US" sz="1300" dirty="0"/>
          </a:p>
        </p:txBody>
      </p:sp>
      <p:sp>
        <p:nvSpPr>
          <p:cNvPr id="3" name="Text 1"/>
          <p:cNvSpPr/>
          <p:nvPr/>
        </p:nvSpPr>
        <p:spPr>
          <a:xfrm>
            <a:off x="548640" y="658368"/>
            <a:ext cx="9601200" cy="822960"/>
          </a:xfrm>
          <a:prstGeom prst="rect">
            <a:avLst/>
          </a:prstGeom>
          <a:noFill/>
          <a:ln/>
        </p:spPr>
        <p:txBody>
          <a:bodyPr wrap="square" rtlCol="0" anchor="ctr"/>
          <a:lstStyle/>
          <a:p>
            <a:pPr marL="0" indent="0">
              <a:buNone/>
            </a:pPr>
            <a:r>
              <a:rPr lang="en-US" sz="3200" b="1" dirty="0">
                <a:solidFill>
                  <a:srgbClr val="16201C"/>
                </a:solidFill>
                <a:latin typeface="Cambria" pitchFamily="34" charset="0"/>
                <a:ea typeface="Cambria" pitchFamily="34" charset="-122"/>
                <a:cs typeface="Cambria" pitchFamily="34" charset="-120"/>
              </a:rPr>
              <a:t>Why EfficientNet-B4 over ResNet-50</a:t>
            </a:r>
            <a:endParaRPr lang="en-US" sz="3200" dirty="0"/>
          </a:p>
        </p:txBody>
      </p:sp>
      <p:sp>
        <p:nvSpPr>
          <p:cNvPr id="4" name="Text 2"/>
          <p:cNvSpPr/>
          <p:nvPr/>
        </p:nvSpPr>
        <p:spPr>
          <a:xfrm>
            <a:off x="548640" y="1371600"/>
            <a:ext cx="10515600" cy="45720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Both architectures were fine-tuned on identical data, augmentation, and test split — isolating architecture as the only variable.</a:t>
            </a:r>
            <a:endParaRPr lang="en-US" sz="1300" dirty="0"/>
          </a:p>
        </p:txBody>
      </p:sp>
      <p:sp>
        <p:nvSpPr>
          <p:cNvPr id="5" name="Shape 3"/>
          <p:cNvSpPr/>
          <p:nvPr/>
        </p:nvSpPr>
        <p:spPr>
          <a:xfrm>
            <a:off x="777240" y="2011680"/>
            <a:ext cx="5212080" cy="3977640"/>
          </a:xfrm>
          <a:prstGeom prst="roundRect">
            <a:avLst>
              <a:gd name="adj" fmla="val 3218"/>
            </a:avLst>
          </a:prstGeom>
          <a:solidFill>
            <a:srgbClr val="F1F5F3"/>
          </a:solidFill>
          <a:ln/>
        </p:spPr>
      </p:sp>
      <p:sp>
        <p:nvSpPr>
          <p:cNvPr id="6" name="Text 4"/>
          <p:cNvSpPr/>
          <p:nvPr/>
        </p:nvSpPr>
        <p:spPr>
          <a:xfrm>
            <a:off x="1143000" y="2286000"/>
            <a:ext cx="3566160" cy="502920"/>
          </a:xfrm>
          <a:prstGeom prst="rect">
            <a:avLst/>
          </a:prstGeom>
          <a:noFill/>
          <a:ln/>
        </p:spPr>
        <p:txBody>
          <a:bodyPr wrap="square" rtlCol="0" anchor="ctr"/>
          <a:lstStyle/>
          <a:p>
            <a:pPr marL="0" indent="0">
              <a:buNone/>
            </a:pPr>
            <a:r>
              <a:rPr lang="en-US" sz="2100" b="1" dirty="0">
                <a:solidFill>
                  <a:srgbClr val="16201C"/>
                </a:solidFill>
                <a:latin typeface="Cambria" pitchFamily="34" charset="0"/>
                <a:ea typeface="Cambria" pitchFamily="34" charset="-122"/>
                <a:cs typeface="Cambria" pitchFamily="34" charset="-120"/>
              </a:rPr>
              <a:t>ResNet-50</a:t>
            </a:r>
            <a:endParaRPr lang="en-US" sz="2100" dirty="0"/>
          </a:p>
        </p:txBody>
      </p:sp>
      <p:sp>
        <p:nvSpPr>
          <p:cNvPr id="7" name="Shape 5"/>
          <p:cNvSpPr/>
          <p:nvPr/>
        </p:nvSpPr>
        <p:spPr>
          <a:xfrm>
            <a:off x="1143000" y="3575304"/>
            <a:ext cx="4480560" cy="0"/>
          </a:xfrm>
          <a:prstGeom prst="line">
            <a:avLst/>
          </a:prstGeom>
          <a:noFill/>
          <a:ln w="12700">
            <a:solidFill>
              <a:srgbClr val="E3E9E6"/>
            </a:solidFill>
            <a:prstDash val="solid"/>
          </a:ln>
        </p:spPr>
      </p:sp>
      <p:sp>
        <p:nvSpPr>
          <p:cNvPr id="8" name="Text 6"/>
          <p:cNvSpPr/>
          <p:nvPr/>
        </p:nvSpPr>
        <p:spPr>
          <a:xfrm>
            <a:off x="1143000" y="3063240"/>
            <a:ext cx="2468880" cy="45720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ImageNet Top-1</a:t>
            </a:r>
            <a:endParaRPr lang="en-US" sz="1300" dirty="0"/>
          </a:p>
        </p:txBody>
      </p:sp>
      <p:sp>
        <p:nvSpPr>
          <p:cNvPr id="9" name="Text 7"/>
          <p:cNvSpPr/>
          <p:nvPr/>
        </p:nvSpPr>
        <p:spPr>
          <a:xfrm>
            <a:off x="3611880" y="3063240"/>
            <a:ext cx="2011680" cy="457200"/>
          </a:xfrm>
          <a:prstGeom prst="rect">
            <a:avLst/>
          </a:prstGeom>
          <a:noFill/>
          <a:ln/>
        </p:spPr>
        <p:txBody>
          <a:bodyPr wrap="square" rtlCol="0" anchor="ctr"/>
          <a:lstStyle/>
          <a:p>
            <a:pPr marL="0" indent="0" algn="r">
              <a:buNone/>
            </a:pPr>
            <a:r>
              <a:rPr lang="en-US" sz="1600" b="1" dirty="0">
                <a:solidFill>
                  <a:srgbClr val="16201C"/>
                </a:solidFill>
                <a:latin typeface="Calibri" pitchFamily="34" charset="0"/>
                <a:ea typeface="Calibri" pitchFamily="34" charset="-122"/>
                <a:cs typeface="Calibri" pitchFamily="34" charset="-120"/>
              </a:rPr>
              <a:t>76.1%</a:t>
            </a:r>
            <a:endParaRPr lang="en-US" sz="1600" dirty="0"/>
          </a:p>
        </p:txBody>
      </p:sp>
      <p:sp>
        <p:nvSpPr>
          <p:cNvPr id="10" name="Shape 8"/>
          <p:cNvSpPr/>
          <p:nvPr/>
        </p:nvSpPr>
        <p:spPr>
          <a:xfrm>
            <a:off x="1143000" y="4233672"/>
            <a:ext cx="4480560" cy="0"/>
          </a:xfrm>
          <a:prstGeom prst="line">
            <a:avLst/>
          </a:prstGeom>
          <a:noFill/>
          <a:ln w="12700">
            <a:solidFill>
              <a:srgbClr val="E3E9E6"/>
            </a:solidFill>
            <a:prstDash val="solid"/>
          </a:ln>
        </p:spPr>
      </p:sp>
      <p:sp>
        <p:nvSpPr>
          <p:cNvPr id="11" name="Text 9"/>
          <p:cNvSpPr/>
          <p:nvPr/>
        </p:nvSpPr>
        <p:spPr>
          <a:xfrm>
            <a:off x="1143000" y="3721608"/>
            <a:ext cx="2468880" cy="45720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Parameters</a:t>
            </a:r>
            <a:endParaRPr lang="en-US" sz="1300" dirty="0"/>
          </a:p>
        </p:txBody>
      </p:sp>
      <p:sp>
        <p:nvSpPr>
          <p:cNvPr id="12" name="Text 10"/>
          <p:cNvSpPr/>
          <p:nvPr/>
        </p:nvSpPr>
        <p:spPr>
          <a:xfrm>
            <a:off x="3611880" y="3721608"/>
            <a:ext cx="2011680" cy="457200"/>
          </a:xfrm>
          <a:prstGeom prst="rect">
            <a:avLst/>
          </a:prstGeom>
          <a:noFill/>
          <a:ln/>
        </p:spPr>
        <p:txBody>
          <a:bodyPr wrap="square" rtlCol="0" anchor="ctr"/>
          <a:lstStyle/>
          <a:p>
            <a:pPr marL="0" indent="0" algn="r">
              <a:buNone/>
            </a:pPr>
            <a:r>
              <a:rPr lang="en-US" sz="1600" b="1" dirty="0">
                <a:solidFill>
                  <a:srgbClr val="16201C"/>
                </a:solidFill>
                <a:latin typeface="Calibri" pitchFamily="34" charset="0"/>
                <a:ea typeface="Calibri" pitchFamily="34" charset="-122"/>
                <a:cs typeface="Calibri" pitchFamily="34" charset="-120"/>
              </a:rPr>
              <a:t>25 M</a:t>
            </a:r>
            <a:endParaRPr lang="en-US" sz="1600" dirty="0"/>
          </a:p>
        </p:txBody>
      </p:sp>
      <p:sp>
        <p:nvSpPr>
          <p:cNvPr id="13" name="Shape 11"/>
          <p:cNvSpPr/>
          <p:nvPr/>
        </p:nvSpPr>
        <p:spPr>
          <a:xfrm>
            <a:off x="1143000" y="4892040"/>
            <a:ext cx="4480560" cy="0"/>
          </a:xfrm>
          <a:prstGeom prst="line">
            <a:avLst/>
          </a:prstGeom>
          <a:noFill/>
          <a:ln w="12700">
            <a:solidFill>
              <a:srgbClr val="E3E9E6"/>
            </a:solidFill>
            <a:prstDash val="solid"/>
          </a:ln>
        </p:spPr>
      </p:sp>
      <p:sp>
        <p:nvSpPr>
          <p:cNvPr id="14" name="Text 12"/>
          <p:cNvSpPr/>
          <p:nvPr/>
        </p:nvSpPr>
        <p:spPr>
          <a:xfrm>
            <a:off x="1143000" y="4379976"/>
            <a:ext cx="2468880" cy="45720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Food-101 (fine-tuned)</a:t>
            </a:r>
            <a:endParaRPr lang="en-US" sz="1300" dirty="0"/>
          </a:p>
        </p:txBody>
      </p:sp>
      <p:sp>
        <p:nvSpPr>
          <p:cNvPr id="15" name="Text 13"/>
          <p:cNvSpPr/>
          <p:nvPr/>
        </p:nvSpPr>
        <p:spPr>
          <a:xfrm>
            <a:off x="3611880" y="4379976"/>
            <a:ext cx="2011680" cy="457200"/>
          </a:xfrm>
          <a:prstGeom prst="rect">
            <a:avLst/>
          </a:prstGeom>
          <a:noFill/>
          <a:ln/>
        </p:spPr>
        <p:txBody>
          <a:bodyPr wrap="square" rtlCol="0" anchor="ctr"/>
          <a:lstStyle/>
          <a:p>
            <a:pPr marL="0" indent="0" algn="r">
              <a:buNone/>
            </a:pPr>
            <a:r>
              <a:rPr lang="en-US" sz="1600" b="1" dirty="0">
                <a:solidFill>
                  <a:srgbClr val="16201C"/>
                </a:solidFill>
                <a:latin typeface="Calibri" pitchFamily="34" charset="0"/>
                <a:ea typeface="Calibri" pitchFamily="34" charset="-122"/>
                <a:cs typeface="Calibri" pitchFamily="34" charset="-120"/>
              </a:rPr>
              <a:t>~83%</a:t>
            </a:r>
            <a:endParaRPr lang="en-US" sz="1600" dirty="0"/>
          </a:p>
        </p:txBody>
      </p:sp>
      <p:sp>
        <p:nvSpPr>
          <p:cNvPr id="16" name="Shape 14"/>
          <p:cNvSpPr/>
          <p:nvPr/>
        </p:nvSpPr>
        <p:spPr>
          <a:xfrm>
            <a:off x="1143000" y="5550408"/>
            <a:ext cx="4480560" cy="0"/>
          </a:xfrm>
          <a:prstGeom prst="line">
            <a:avLst/>
          </a:prstGeom>
          <a:noFill/>
          <a:ln w="12700">
            <a:solidFill>
              <a:srgbClr val="E3E9E6"/>
            </a:solidFill>
            <a:prstDash val="solid"/>
          </a:ln>
        </p:spPr>
      </p:sp>
      <p:sp>
        <p:nvSpPr>
          <p:cNvPr id="17" name="Text 15"/>
          <p:cNvSpPr/>
          <p:nvPr/>
        </p:nvSpPr>
        <p:spPr>
          <a:xfrm>
            <a:off x="1143000" y="5038344"/>
            <a:ext cx="2468880" cy="45720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Role</a:t>
            </a:r>
            <a:endParaRPr lang="en-US" sz="1300" dirty="0"/>
          </a:p>
        </p:txBody>
      </p:sp>
      <p:sp>
        <p:nvSpPr>
          <p:cNvPr id="18" name="Text 16"/>
          <p:cNvSpPr/>
          <p:nvPr/>
        </p:nvSpPr>
        <p:spPr>
          <a:xfrm>
            <a:off x="3611880" y="5038344"/>
            <a:ext cx="2011680" cy="457200"/>
          </a:xfrm>
          <a:prstGeom prst="rect">
            <a:avLst/>
          </a:prstGeom>
          <a:noFill/>
          <a:ln/>
        </p:spPr>
        <p:txBody>
          <a:bodyPr wrap="square" rtlCol="0" anchor="ctr"/>
          <a:lstStyle/>
          <a:p>
            <a:pPr marL="0" indent="0" algn="r">
              <a:buNone/>
            </a:pPr>
            <a:r>
              <a:rPr lang="en-US" sz="1600" b="1" dirty="0">
                <a:solidFill>
                  <a:srgbClr val="16201C"/>
                </a:solidFill>
                <a:latin typeface="Calibri" pitchFamily="34" charset="0"/>
                <a:ea typeface="Calibri" pitchFamily="34" charset="-122"/>
                <a:cs typeface="Calibri" pitchFamily="34" charset="-120"/>
              </a:rPr>
              <a:t>Comparison baseline</a:t>
            </a:r>
            <a:endParaRPr lang="en-US" sz="1600" dirty="0"/>
          </a:p>
        </p:txBody>
      </p:sp>
      <p:sp>
        <p:nvSpPr>
          <p:cNvPr id="19" name="Shape 17"/>
          <p:cNvSpPr/>
          <p:nvPr/>
        </p:nvSpPr>
        <p:spPr>
          <a:xfrm>
            <a:off x="6446520" y="2011680"/>
            <a:ext cx="5212080" cy="3977640"/>
          </a:xfrm>
          <a:prstGeom prst="roundRect">
            <a:avLst>
              <a:gd name="adj" fmla="val 3218"/>
            </a:avLst>
          </a:prstGeom>
          <a:solidFill>
            <a:srgbClr val="14181A"/>
          </a:solidFill>
          <a:ln/>
        </p:spPr>
      </p:sp>
      <p:sp>
        <p:nvSpPr>
          <p:cNvPr id="20" name="Shape 18"/>
          <p:cNvSpPr/>
          <p:nvPr/>
        </p:nvSpPr>
        <p:spPr>
          <a:xfrm>
            <a:off x="10241280" y="2286000"/>
            <a:ext cx="1143000" cy="384048"/>
          </a:xfrm>
          <a:prstGeom prst="roundRect">
            <a:avLst>
              <a:gd name="adj" fmla="val 50000"/>
            </a:avLst>
          </a:prstGeom>
          <a:solidFill>
            <a:srgbClr val="3DDC97"/>
          </a:solidFill>
          <a:ln/>
        </p:spPr>
      </p:sp>
      <p:sp>
        <p:nvSpPr>
          <p:cNvPr id="21" name="Text 19"/>
          <p:cNvSpPr/>
          <p:nvPr/>
        </p:nvSpPr>
        <p:spPr>
          <a:xfrm>
            <a:off x="10241280" y="2286000"/>
            <a:ext cx="1143000" cy="384048"/>
          </a:xfrm>
          <a:prstGeom prst="rect">
            <a:avLst/>
          </a:prstGeom>
          <a:noFill/>
          <a:ln/>
        </p:spPr>
        <p:txBody>
          <a:bodyPr wrap="square" rtlCol="0" anchor="ctr"/>
          <a:lstStyle/>
          <a:p>
            <a:pPr marL="0" indent="0" algn="ctr">
              <a:buNone/>
            </a:pPr>
            <a:r>
              <a:rPr lang="en-US" sz="1050" b="1" dirty="0">
                <a:solidFill>
                  <a:srgbClr val="14181A"/>
                </a:solidFill>
                <a:latin typeface="Calibri" pitchFamily="34" charset="0"/>
                <a:ea typeface="Calibri" pitchFamily="34" charset="-122"/>
                <a:cs typeface="Calibri" pitchFamily="34" charset="-120"/>
              </a:rPr>
              <a:t>SELECTED</a:t>
            </a:r>
            <a:endParaRPr lang="en-US" sz="1050" dirty="0"/>
          </a:p>
        </p:txBody>
      </p:sp>
      <p:sp>
        <p:nvSpPr>
          <p:cNvPr id="22" name="Text 20"/>
          <p:cNvSpPr/>
          <p:nvPr/>
        </p:nvSpPr>
        <p:spPr>
          <a:xfrm>
            <a:off x="6812280" y="2286000"/>
            <a:ext cx="3566160" cy="502920"/>
          </a:xfrm>
          <a:prstGeom prst="rect">
            <a:avLst/>
          </a:prstGeom>
          <a:noFill/>
          <a:ln/>
        </p:spPr>
        <p:txBody>
          <a:bodyPr wrap="square"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EfficientNet-B4</a:t>
            </a:r>
            <a:endParaRPr lang="en-US" sz="2100" dirty="0"/>
          </a:p>
        </p:txBody>
      </p:sp>
      <p:sp>
        <p:nvSpPr>
          <p:cNvPr id="23" name="Shape 21"/>
          <p:cNvSpPr/>
          <p:nvPr/>
        </p:nvSpPr>
        <p:spPr>
          <a:xfrm>
            <a:off x="6812280" y="3575304"/>
            <a:ext cx="4480560" cy="0"/>
          </a:xfrm>
          <a:prstGeom prst="line">
            <a:avLst/>
          </a:prstGeom>
          <a:noFill/>
          <a:ln w="12700">
            <a:solidFill>
              <a:srgbClr val="2A3330"/>
            </a:solidFill>
            <a:prstDash val="solid"/>
          </a:ln>
        </p:spPr>
      </p:sp>
      <p:sp>
        <p:nvSpPr>
          <p:cNvPr id="24" name="Text 22"/>
          <p:cNvSpPr/>
          <p:nvPr/>
        </p:nvSpPr>
        <p:spPr>
          <a:xfrm>
            <a:off x="6812280" y="3063240"/>
            <a:ext cx="2468880" cy="457200"/>
          </a:xfrm>
          <a:prstGeom prst="rect">
            <a:avLst/>
          </a:prstGeom>
          <a:noFill/>
          <a:ln/>
        </p:spPr>
        <p:txBody>
          <a:bodyPr wrap="square" rtlCol="0" anchor="ctr"/>
          <a:lstStyle/>
          <a:p>
            <a:pPr marL="0" indent="0">
              <a:buNone/>
            </a:pPr>
            <a:r>
              <a:rPr lang="en-US" sz="1300" dirty="0">
                <a:solidFill>
                  <a:srgbClr val="9CA8A3"/>
                </a:solidFill>
                <a:latin typeface="Calibri" pitchFamily="34" charset="0"/>
                <a:ea typeface="Calibri" pitchFamily="34" charset="-122"/>
                <a:cs typeface="Calibri" pitchFamily="34" charset="-120"/>
              </a:rPr>
              <a:t>ImageNet Top-1</a:t>
            </a:r>
            <a:endParaRPr lang="en-US" sz="1300" dirty="0"/>
          </a:p>
        </p:txBody>
      </p:sp>
      <p:sp>
        <p:nvSpPr>
          <p:cNvPr id="25" name="Text 23"/>
          <p:cNvSpPr/>
          <p:nvPr/>
        </p:nvSpPr>
        <p:spPr>
          <a:xfrm>
            <a:off x="9281160" y="3063240"/>
            <a:ext cx="2011680" cy="457200"/>
          </a:xfrm>
          <a:prstGeom prst="rect">
            <a:avLst/>
          </a:prstGeom>
          <a:noFill/>
          <a:ln/>
        </p:spPr>
        <p:txBody>
          <a:bodyPr wrap="square" rtlCol="0" anchor="ctr"/>
          <a:lstStyle/>
          <a:p>
            <a:pPr marL="0" indent="0" algn="r">
              <a:buNone/>
            </a:pPr>
            <a:r>
              <a:rPr lang="en-US" sz="1600" b="1" dirty="0">
                <a:solidFill>
                  <a:srgbClr val="3DDC97"/>
                </a:solidFill>
                <a:latin typeface="Calibri" pitchFamily="34" charset="0"/>
                <a:ea typeface="Calibri" pitchFamily="34" charset="-122"/>
                <a:cs typeface="Calibri" pitchFamily="34" charset="-120"/>
              </a:rPr>
              <a:t>83.0%</a:t>
            </a:r>
            <a:endParaRPr lang="en-US" sz="1600" dirty="0"/>
          </a:p>
        </p:txBody>
      </p:sp>
      <p:sp>
        <p:nvSpPr>
          <p:cNvPr id="26" name="Shape 24"/>
          <p:cNvSpPr/>
          <p:nvPr/>
        </p:nvSpPr>
        <p:spPr>
          <a:xfrm>
            <a:off x="6812280" y="4233672"/>
            <a:ext cx="4480560" cy="0"/>
          </a:xfrm>
          <a:prstGeom prst="line">
            <a:avLst/>
          </a:prstGeom>
          <a:noFill/>
          <a:ln w="12700">
            <a:solidFill>
              <a:srgbClr val="2A3330"/>
            </a:solidFill>
            <a:prstDash val="solid"/>
          </a:ln>
        </p:spPr>
      </p:sp>
      <p:sp>
        <p:nvSpPr>
          <p:cNvPr id="27" name="Text 25"/>
          <p:cNvSpPr/>
          <p:nvPr/>
        </p:nvSpPr>
        <p:spPr>
          <a:xfrm>
            <a:off x="6812280" y="3721608"/>
            <a:ext cx="2468880" cy="457200"/>
          </a:xfrm>
          <a:prstGeom prst="rect">
            <a:avLst/>
          </a:prstGeom>
          <a:noFill/>
          <a:ln/>
        </p:spPr>
        <p:txBody>
          <a:bodyPr wrap="square" rtlCol="0" anchor="ctr"/>
          <a:lstStyle/>
          <a:p>
            <a:pPr marL="0" indent="0">
              <a:buNone/>
            </a:pPr>
            <a:r>
              <a:rPr lang="en-US" sz="1300" dirty="0">
                <a:solidFill>
                  <a:srgbClr val="9CA8A3"/>
                </a:solidFill>
                <a:latin typeface="Calibri" pitchFamily="34" charset="0"/>
                <a:ea typeface="Calibri" pitchFamily="34" charset="-122"/>
                <a:cs typeface="Calibri" pitchFamily="34" charset="-120"/>
              </a:rPr>
              <a:t>Parameters</a:t>
            </a:r>
            <a:endParaRPr lang="en-US" sz="1300" dirty="0"/>
          </a:p>
        </p:txBody>
      </p:sp>
      <p:sp>
        <p:nvSpPr>
          <p:cNvPr id="28" name="Text 26"/>
          <p:cNvSpPr/>
          <p:nvPr/>
        </p:nvSpPr>
        <p:spPr>
          <a:xfrm>
            <a:off x="9281160" y="3721608"/>
            <a:ext cx="2011680" cy="457200"/>
          </a:xfrm>
          <a:prstGeom prst="rect">
            <a:avLst/>
          </a:prstGeom>
          <a:noFill/>
          <a:ln/>
        </p:spPr>
        <p:txBody>
          <a:bodyPr wrap="square" rtlCol="0" anchor="ctr"/>
          <a:lstStyle/>
          <a:p>
            <a:pPr marL="0" indent="0" algn="r">
              <a:buNone/>
            </a:pPr>
            <a:r>
              <a:rPr lang="en-US" sz="1600" b="1" dirty="0">
                <a:solidFill>
                  <a:srgbClr val="3DDC97"/>
                </a:solidFill>
                <a:latin typeface="Calibri" pitchFamily="34" charset="0"/>
                <a:ea typeface="Calibri" pitchFamily="34" charset="-122"/>
                <a:cs typeface="Calibri" pitchFamily="34" charset="-120"/>
              </a:rPr>
              <a:t>19 M</a:t>
            </a:r>
            <a:endParaRPr lang="en-US" sz="1600" dirty="0"/>
          </a:p>
        </p:txBody>
      </p:sp>
      <p:sp>
        <p:nvSpPr>
          <p:cNvPr id="29" name="Shape 27"/>
          <p:cNvSpPr/>
          <p:nvPr/>
        </p:nvSpPr>
        <p:spPr>
          <a:xfrm>
            <a:off x="6812280" y="4892040"/>
            <a:ext cx="4480560" cy="0"/>
          </a:xfrm>
          <a:prstGeom prst="line">
            <a:avLst/>
          </a:prstGeom>
          <a:noFill/>
          <a:ln w="12700">
            <a:solidFill>
              <a:srgbClr val="2A3330"/>
            </a:solidFill>
            <a:prstDash val="solid"/>
          </a:ln>
        </p:spPr>
      </p:sp>
      <p:sp>
        <p:nvSpPr>
          <p:cNvPr id="30" name="Text 28"/>
          <p:cNvSpPr/>
          <p:nvPr/>
        </p:nvSpPr>
        <p:spPr>
          <a:xfrm>
            <a:off x="6812280" y="4379976"/>
            <a:ext cx="2468880" cy="457200"/>
          </a:xfrm>
          <a:prstGeom prst="rect">
            <a:avLst/>
          </a:prstGeom>
          <a:noFill/>
          <a:ln/>
        </p:spPr>
        <p:txBody>
          <a:bodyPr wrap="square" rtlCol="0" anchor="ctr"/>
          <a:lstStyle/>
          <a:p>
            <a:pPr marL="0" indent="0">
              <a:buNone/>
            </a:pPr>
            <a:r>
              <a:rPr lang="en-US" sz="1300" dirty="0">
                <a:solidFill>
                  <a:srgbClr val="9CA8A3"/>
                </a:solidFill>
                <a:latin typeface="Calibri" pitchFamily="34" charset="0"/>
                <a:ea typeface="Calibri" pitchFamily="34" charset="-122"/>
                <a:cs typeface="Calibri" pitchFamily="34" charset="-120"/>
              </a:rPr>
              <a:t>Food-101 (fine-tuned)</a:t>
            </a:r>
            <a:endParaRPr lang="en-US" sz="1300" dirty="0"/>
          </a:p>
        </p:txBody>
      </p:sp>
      <p:sp>
        <p:nvSpPr>
          <p:cNvPr id="31" name="Text 29"/>
          <p:cNvSpPr/>
          <p:nvPr/>
        </p:nvSpPr>
        <p:spPr>
          <a:xfrm>
            <a:off x="9281160" y="4379976"/>
            <a:ext cx="2011680" cy="457200"/>
          </a:xfrm>
          <a:prstGeom prst="rect">
            <a:avLst/>
          </a:prstGeom>
          <a:noFill/>
          <a:ln/>
        </p:spPr>
        <p:txBody>
          <a:bodyPr wrap="square" rtlCol="0" anchor="ctr"/>
          <a:lstStyle/>
          <a:p>
            <a:pPr marL="0" indent="0" algn="r">
              <a:buNone/>
            </a:pPr>
            <a:r>
              <a:rPr lang="en-US" sz="1600" b="1" dirty="0">
                <a:solidFill>
                  <a:srgbClr val="3DDC97"/>
                </a:solidFill>
                <a:latin typeface="Calibri" pitchFamily="34" charset="0"/>
                <a:ea typeface="Calibri" pitchFamily="34" charset="-122"/>
                <a:cs typeface="Calibri" pitchFamily="34" charset="-120"/>
              </a:rPr>
              <a:t>91.4%</a:t>
            </a:r>
            <a:endParaRPr lang="en-US" sz="1600" dirty="0"/>
          </a:p>
        </p:txBody>
      </p:sp>
      <p:sp>
        <p:nvSpPr>
          <p:cNvPr id="32" name="Shape 30"/>
          <p:cNvSpPr/>
          <p:nvPr/>
        </p:nvSpPr>
        <p:spPr>
          <a:xfrm>
            <a:off x="6812280" y="5550408"/>
            <a:ext cx="4480560" cy="0"/>
          </a:xfrm>
          <a:prstGeom prst="line">
            <a:avLst/>
          </a:prstGeom>
          <a:noFill/>
          <a:ln w="12700">
            <a:solidFill>
              <a:srgbClr val="2A3330"/>
            </a:solidFill>
            <a:prstDash val="solid"/>
          </a:ln>
        </p:spPr>
      </p:sp>
      <p:sp>
        <p:nvSpPr>
          <p:cNvPr id="33" name="Text 31"/>
          <p:cNvSpPr/>
          <p:nvPr/>
        </p:nvSpPr>
        <p:spPr>
          <a:xfrm>
            <a:off x="6812280" y="5038344"/>
            <a:ext cx="2468880" cy="457200"/>
          </a:xfrm>
          <a:prstGeom prst="rect">
            <a:avLst/>
          </a:prstGeom>
          <a:noFill/>
          <a:ln/>
        </p:spPr>
        <p:txBody>
          <a:bodyPr wrap="square" rtlCol="0" anchor="ctr"/>
          <a:lstStyle/>
          <a:p>
            <a:pPr marL="0" indent="0">
              <a:buNone/>
            </a:pPr>
            <a:r>
              <a:rPr lang="en-US" sz="1300" dirty="0">
                <a:solidFill>
                  <a:srgbClr val="9CA8A3"/>
                </a:solidFill>
                <a:latin typeface="Calibri" pitchFamily="34" charset="0"/>
                <a:ea typeface="Calibri" pitchFamily="34" charset="-122"/>
                <a:cs typeface="Calibri" pitchFamily="34" charset="-120"/>
              </a:rPr>
              <a:t>Role</a:t>
            </a:r>
            <a:endParaRPr lang="en-US" sz="1300" dirty="0"/>
          </a:p>
        </p:txBody>
      </p:sp>
      <p:sp>
        <p:nvSpPr>
          <p:cNvPr id="34" name="Text 32"/>
          <p:cNvSpPr/>
          <p:nvPr/>
        </p:nvSpPr>
        <p:spPr>
          <a:xfrm>
            <a:off x="9281160" y="5038344"/>
            <a:ext cx="2011680" cy="457200"/>
          </a:xfrm>
          <a:prstGeom prst="rect">
            <a:avLst/>
          </a:prstGeom>
          <a:noFill/>
          <a:ln/>
        </p:spPr>
        <p:txBody>
          <a:bodyPr wrap="square" rtlCol="0" anchor="ctr"/>
          <a:lstStyle/>
          <a:p>
            <a:pPr marL="0" indent="0" algn="r">
              <a:buNone/>
            </a:pPr>
            <a:r>
              <a:rPr lang="en-US" sz="1600" b="1" dirty="0">
                <a:solidFill>
                  <a:srgbClr val="3DDC97"/>
                </a:solidFill>
                <a:latin typeface="Calibri" pitchFamily="34" charset="0"/>
                <a:ea typeface="Calibri" pitchFamily="34" charset="-122"/>
                <a:cs typeface="Calibri" pitchFamily="34" charset="-120"/>
              </a:rPr>
              <a:t>Deployed model</a:t>
            </a:r>
            <a:endParaRPr lang="en-US" sz="1600" dirty="0"/>
          </a:p>
        </p:txBody>
      </p:sp>
      <p:sp>
        <p:nvSpPr>
          <p:cNvPr id="35" name="Text 33"/>
          <p:cNvSpPr/>
          <p:nvPr/>
        </p:nvSpPr>
        <p:spPr>
          <a:xfrm>
            <a:off x="777240" y="6172200"/>
            <a:ext cx="10607040" cy="457200"/>
          </a:xfrm>
          <a:prstGeom prst="rect">
            <a:avLst/>
          </a:prstGeom>
          <a:noFill/>
          <a:ln/>
        </p:spPr>
        <p:txBody>
          <a:bodyPr wrap="square" rtlCol="0" anchor="ctr"/>
          <a:lstStyle/>
          <a:p>
            <a:pPr marL="0" indent="0">
              <a:buNone/>
            </a:pPr>
            <a:r>
              <a:rPr lang="en-US" sz="1250" b="1" dirty="0">
                <a:solidFill>
                  <a:srgbClr val="16201C"/>
                </a:solidFill>
                <a:latin typeface="Calibri" pitchFamily="34" charset="0"/>
                <a:ea typeface="Calibri" pitchFamily="34" charset="-122"/>
                <a:cs typeface="Calibri" pitchFamily="34" charset="-120"/>
              </a:rPr>
              <a:t>The verdict: </a:t>
            </a:r>
            <a:r>
              <a:rPr lang="en-US" sz="1250" dirty="0">
                <a:solidFill>
                  <a:srgbClr val="6B7280"/>
                </a:solidFill>
                <a:latin typeface="Calibri" pitchFamily="34" charset="0"/>
                <a:ea typeface="Calibri" pitchFamily="34" charset="-122"/>
                <a:cs typeface="Calibri" pitchFamily="34" charset="-120"/>
              </a:rPr>
              <a:t>24% fewer parameters, yet 8.4 points higher accuracy on Food-101 — EfficientNet-B4's compound scaling earns its complexity rather than overfitting.</a:t>
            </a:r>
            <a:endParaRPr lang="en-US" sz="1250" dirty="0"/>
          </a:p>
        </p:txBody>
      </p:sp>
      <p:sp>
        <p:nvSpPr>
          <p:cNvPr id="36" name="Text 34"/>
          <p:cNvSpPr/>
          <p:nvPr/>
        </p:nvSpPr>
        <p:spPr>
          <a:xfrm>
            <a:off x="1154887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1F7A54"/>
                </a:solidFill>
                <a:latin typeface="Calibri" pitchFamily="34" charset="0"/>
                <a:ea typeface="Calibri" pitchFamily="34" charset="-122"/>
                <a:cs typeface="Calibri" pitchFamily="34" charset="-120"/>
              </a:rPr>
              <a:t>MODEL EVALUATION</a:t>
            </a:r>
            <a:endParaRPr lang="en-US" sz="1300" dirty="0"/>
          </a:p>
        </p:txBody>
      </p:sp>
      <p:sp>
        <p:nvSpPr>
          <p:cNvPr id="3" name="Text 1"/>
          <p:cNvSpPr/>
          <p:nvPr/>
        </p:nvSpPr>
        <p:spPr>
          <a:xfrm>
            <a:off x="548640" y="658368"/>
            <a:ext cx="9601200" cy="822960"/>
          </a:xfrm>
          <a:prstGeom prst="rect">
            <a:avLst/>
          </a:prstGeom>
          <a:noFill/>
          <a:ln/>
        </p:spPr>
        <p:txBody>
          <a:bodyPr wrap="square" rtlCol="0" anchor="ctr"/>
          <a:lstStyle/>
          <a:p>
            <a:pPr marL="0" indent="0">
              <a:buNone/>
            </a:pPr>
            <a:r>
              <a:rPr lang="en-US" sz="3200" b="1" dirty="0">
                <a:solidFill>
                  <a:srgbClr val="16201C"/>
                </a:solidFill>
                <a:latin typeface="Cambria" pitchFamily="34" charset="0"/>
                <a:ea typeface="Cambria" pitchFamily="34" charset="-122"/>
                <a:cs typeface="Cambria" pitchFamily="34" charset="-120"/>
              </a:rPr>
              <a:t>91.4% accuracy — double the industry norm</a:t>
            </a:r>
            <a:endParaRPr lang="en-US" sz="3200" dirty="0"/>
          </a:p>
        </p:txBody>
      </p:sp>
      <p:sp>
        <p:nvSpPr>
          <p:cNvPr id="4" name="Text 2"/>
          <p:cNvSpPr/>
          <p:nvPr/>
        </p:nvSpPr>
        <p:spPr>
          <a:xfrm>
            <a:off x="548640" y="1965960"/>
            <a:ext cx="3291840" cy="822960"/>
          </a:xfrm>
          <a:prstGeom prst="rect">
            <a:avLst/>
          </a:prstGeom>
          <a:noFill/>
          <a:ln/>
        </p:spPr>
        <p:txBody>
          <a:bodyPr wrap="square" rtlCol="0" anchor="ctr"/>
          <a:lstStyle/>
          <a:p>
            <a:pPr marL="0" indent="0" algn="ctr">
              <a:buNone/>
            </a:pPr>
            <a:r>
              <a:rPr lang="en-US" sz="4000" b="1" dirty="0">
                <a:solidFill>
                  <a:srgbClr val="1F7A54"/>
                </a:solidFill>
                <a:latin typeface="Cambria" pitchFamily="34" charset="0"/>
                <a:ea typeface="Cambria" pitchFamily="34" charset="-122"/>
                <a:cs typeface="Cambria" pitchFamily="34" charset="-120"/>
              </a:rPr>
              <a:t>91.4%</a:t>
            </a:r>
            <a:endParaRPr lang="en-US" sz="4000" dirty="0"/>
          </a:p>
        </p:txBody>
      </p:sp>
      <p:sp>
        <p:nvSpPr>
          <p:cNvPr id="5" name="Text 3"/>
          <p:cNvSpPr/>
          <p:nvPr/>
        </p:nvSpPr>
        <p:spPr>
          <a:xfrm>
            <a:off x="548640" y="2715768"/>
            <a:ext cx="3291840" cy="502920"/>
          </a:xfrm>
          <a:prstGeom prst="rect">
            <a:avLst/>
          </a:prstGeom>
          <a:noFill/>
          <a:ln/>
        </p:spPr>
        <p:txBody>
          <a:bodyPr wrap="square" rtlCol="0" anchor="ctr"/>
          <a:lstStyle/>
          <a:p>
            <a:pPr marL="0" indent="0" algn="ctr">
              <a:buNone/>
            </a:pPr>
            <a:r>
              <a:rPr lang="en-US" sz="1250" dirty="0">
                <a:solidFill>
                  <a:srgbClr val="6B7280"/>
                </a:solidFill>
                <a:latin typeface="Calibri" pitchFamily="34" charset="0"/>
                <a:ea typeface="Calibri" pitchFamily="34" charset="-122"/>
                <a:cs typeface="Calibri" pitchFamily="34" charset="-120"/>
              </a:rPr>
              <a:t>NutriLens (EfficientNet-B4)</a:t>
            </a:r>
            <a:endParaRPr lang="en-US" sz="1250" dirty="0"/>
          </a:p>
          <a:p>
            <a:pPr marL="0" indent="0" algn="ctr">
              <a:buNone/>
            </a:pPr>
            <a:r>
              <a:rPr lang="en-US" sz="1250" dirty="0">
                <a:solidFill>
                  <a:srgbClr val="6B7280"/>
                </a:solidFill>
                <a:latin typeface="Calibri" pitchFamily="34" charset="0"/>
                <a:ea typeface="Calibri" pitchFamily="34" charset="-122"/>
                <a:cs typeface="Calibri" pitchFamily="34" charset="-120"/>
              </a:rPr>
              <a:t>macro-avg top-1 accuracy</a:t>
            </a:r>
            <a:endParaRPr lang="en-US" sz="1250" dirty="0"/>
          </a:p>
        </p:txBody>
      </p:sp>
      <p:sp>
        <p:nvSpPr>
          <p:cNvPr id="6" name="Text 4"/>
          <p:cNvSpPr/>
          <p:nvPr/>
        </p:nvSpPr>
        <p:spPr>
          <a:xfrm>
            <a:off x="4114800" y="1965960"/>
            <a:ext cx="3291840" cy="822960"/>
          </a:xfrm>
          <a:prstGeom prst="rect">
            <a:avLst/>
          </a:prstGeom>
          <a:noFill/>
          <a:ln/>
        </p:spPr>
        <p:txBody>
          <a:bodyPr wrap="square" rtlCol="0" anchor="ctr"/>
          <a:lstStyle/>
          <a:p>
            <a:pPr marL="0" indent="0" algn="ctr">
              <a:buNone/>
            </a:pPr>
            <a:r>
              <a:rPr lang="en-US" sz="4000" b="1" dirty="0">
                <a:solidFill>
                  <a:srgbClr val="16201C"/>
                </a:solidFill>
                <a:latin typeface="Cambria" pitchFamily="34" charset="0"/>
                <a:ea typeface="Cambria" pitchFamily="34" charset="-122"/>
                <a:cs typeface="Cambria" pitchFamily="34" charset="-120"/>
              </a:rPr>
              <a:t>83%</a:t>
            </a:r>
            <a:endParaRPr lang="en-US" sz="4000" dirty="0"/>
          </a:p>
        </p:txBody>
      </p:sp>
      <p:sp>
        <p:nvSpPr>
          <p:cNvPr id="7" name="Text 5"/>
          <p:cNvSpPr/>
          <p:nvPr/>
        </p:nvSpPr>
        <p:spPr>
          <a:xfrm>
            <a:off x="4114800" y="2715768"/>
            <a:ext cx="3291840" cy="502920"/>
          </a:xfrm>
          <a:prstGeom prst="rect">
            <a:avLst/>
          </a:prstGeom>
          <a:noFill/>
          <a:ln/>
        </p:spPr>
        <p:txBody>
          <a:bodyPr wrap="square" rtlCol="0" anchor="ctr"/>
          <a:lstStyle/>
          <a:p>
            <a:pPr marL="0" indent="0" algn="ctr">
              <a:buNone/>
            </a:pPr>
            <a:r>
              <a:rPr lang="en-US" sz="1250" dirty="0">
                <a:solidFill>
                  <a:srgbClr val="6B7280"/>
                </a:solidFill>
                <a:latin typeface="Calibri" pitchFamily="34" charset="0"/>
                <a:ea typeface="Calibri" pitchFamily="34" charset="-122"/>
                <a:cs typeface="Calibri" pitchFamily="34" charset="-120"/>
              </a:rPr>
              <a:t>ResNet-50 baseline</a:t>
            </a:r>
            <a:endParaRPr lang="en-US" sz="1250" dirty="0"/>
          </a:p>
          <a:p>
            <a:pPr marL="0" indent="0" algn="ctr">
              <a:buNone/>
            </a:pPr>
            <a:r>
              <a:rPr lang="en-US" sz="1250" dirty="0">
                <a:solidFill>
                  <a:srgbClr val="6B7280"/>
                </a:solidFill>
                <a:latin typeface="Calibri" pitchFamily="34" charset="0"/>
                <a:ea typeface="Calibri" pitchFamily="34" charset="-122"/>
                <a:cs typeface="Calibri" pitchFamily="34" charset="-120"/>
              </a:rPr>
              <a:t>(same data &amp; training)</a:t>
            </a:r>
            <a:endParaRPr lang="en-US" sz="1250" dirty="0"/>
          </a:p>
        </p:txBody>
      </p:sp>
      <p:sp>
        <p:nvSpPr>
          <p:cNvPr id="8" name="Text 6"/>
          <p:cNvSpPr/>
          <p:nvPr/>
        </p:nvSpPr>
        <p:spPr>
          <a:xfrm>
            <a:off x="7680960" y="1965960"/>
            <a:ext cx="3291840" cy="822960"/>
          </a:xfrm>
          <a:prstGeom prst="rect">
            <a:avLst/>
          </a:prstGeom>
          <a:noFill/>
          <a:ln/>
        </p:spPr>
        <p:txBody>
          <a:bodyPr wrap="square" rtlCol="0" anchor="ctr"/>
          <a:lstStyle/>
          <a:p>
            <a:pPr marL="0" indent="0" algn="ctr">
              <a:buNone/>
            </a:pPr>
            <a:r>
              <a:rPr lang="en-US" sz="4000" b="1" dirty="0">
                <a:solidFill>
                  <a:srgbClr val="F76C6C"/>
                </a:solidFill>
                <a:latin typeface="Cambria" pitchFamily="34" charset="0"/>
                <a:ea typeface="Cambria" pitchFamily="34" charset="-122"/>
                <a:cs typeface="Cambria" pitchFamily="34" charset="-120"/>
              </a:rPr>
              <a:t>~46%</a:t>
            </a:r>
            <a:endParaRPr lang="en-US" sz="4000" dirty="0"/>
          </a:p>
        </p:txBody>
      </p:sp>
      <p:sp>
        <p:nvSpPr>
          <p:cNvPr id="9" name="Text 7"/>
          <p:cNvSpPr/>
          <p:nvPr/>
        </p:nvSpPr>
        <p:spPr>
          <a:xfrm>
            <a:off x="7680960" y="2715768"/>
            <a:ext cx="3291840" cy="502920"/>
          </a:xfrm>
          <a:prstGeom prst="rect">
            <a:avLst/>
          </a:prstGeom>
          <a:noFill/>
          <a:ln/>
        </p:spPr>
        <p:txBody>
          <a:bodyPr wrap="square" rtlCol="0" anchor="ctr"/>
          <a:lstStyle/>
          <a:p>
            <a:pPr marL="0" indent="0" algn="ctr">
              <a:buNone/>
            </a:pPr>
            <a:r>
              <a:rPr lang="en-US" sz="1250" dirty="0">
                <a:solidFill>
                  <a:srgbClr val="6B7280"/>
                </a:solidFill>
                <a:latin typeface="Calibri" pitchFamily="34" charset="0"/>
                <a:ea typeface="Calibri" pitchFamily="34" charset="-122"/>
                <a:cs typeface="Calibri" pitchFamily="34" charset="-120"/>
              </a:rPr>
              <a:t>Published commercial apps</a:t>
            </a:r>
            <a:endParaRPr lang="en-US" sz="1250" dirty="0"/>
          </a:p>
          <a:p>
            <a:pPr marL="0" indent="0" algn="ctr">
              <a:buNone/>
            </a:pPr>
            <a:r>
              <a:rPr lang="en-US" sz="1250" dirty="0">
                <a:solidFill>
                  <a:srgbClr val="6B7280"/>
                </a:solidFill>
                <a:latin typeface="Calibri" pitchFamily="34" charset="0"/>
                <a:ea typeface="Calibri" pitchFamily="34" charset="-122"/>
                <a:cs typeface="Calibri" pitchFamily="34" charset="-120"/>
              </a:rPr>
              <a:t>(FoodVisor, Lose It!)</a:t>
            </a:r>
            <a:endParaRPr lang="en-US" sz="1250" dirty="0"/>
          </a:p>
        </p:txBody>
      </p:sp>
      <p:graphicFrame>
        <p:nvGraphicFramePr>
          <p:cNvPr id="10" name="Chart 0"/>
          <p:cNvGraphicFramePr/>
          <p:nvPr/>
        </p:nvGraphicFramePr>
        <p:xfrm>
          <a:off x="548640" y="3703320"/>
          <a:ext cx="1106424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p:nvPr/>
        </p:nvSpPr>
        <p:spPr>
          <a:xfrm>
            <a:off x="1154887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1F7A54"/>
                </a:solidFill>
                <a:latin typeface="Calibri" pitchFamily="34" charset="0"/>
                <a:ea typeface="Calibri" pitchFamily="34" charset="-122"/>
                <a:cs typeface="Calibri" pitchFamily="34" charset="-120"/>
              </a:rPr>
              <a:t>MODEL EVALUATION</a:t>
            </a:r>
            <a:endParaRPr lang="en-US" sz="1300" dirty="0"/>
          </a:p>
        </p:txBody>
      </p:sp>
      <p:sp>
        <p:nvSpPr>
          <p:cNvPr id="3" name="Text 1"/>
          <p:cNvSpPr/>
          <p:nvPr/>
        </p:nvSpPr>
        <p:spPr>
          <a:xfrm>
            <a:off x="548640" y="658368"/>
            <a:ext cx="9601200" cy="822960"/>
          </a:xfrm>
          <a:prstGeom prst="rect">
            <a:avLst/>
          </a:prstGeom>
          <a:noFill/>
          <a:ln/>
        </p:spPr>
        <p:txBody>
          <a:bodyPr wrap="square" rtlCol="0" anchor="ctr"/>
          <a:lstStyle/>
          <a:p>
            <a:pPr marL="0" indent="0">
              <a:buNone/>
            </a:pPr>
            <a:r>
              <a:rPr lang="en-US" sz="3200" b="1" dirty="0">
                <a:solidFill>
                  <a:srgbClr val="16201C"/>
                </a:solidFill>
                <a:latin typeface="Cambria" pitchFamily="34" charset="0"/>
                <a:ea typeface="Cambria" pitchFamily="34" charset="-122"/>
                <a:cs typeface="Cambria" pitchFamily="34" charset="-120"/>
              </a:rPr>
              <a:t>Strong, near-perfect class separation</a:t>
            </a:r>
            <a:endParaRPr lang="en-US" sz="3200" dirty="0"/>
          </a:p>
        </p:txBody>
      </p:sp>
      <p:sp>
        <p:nvSpPr>
          <p:cNvPr id="4" name="Text 2"/>
          <p:cNvSpPr/>
          <p:nvPr/>
        </p:nvSpPr>
        <p:spPr>
          <a:xfrm>
            <a:off x="548640" y="1371600"/>
            <a:ext cx="10515600" cy="45720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Row-normalised confusion matrix across all 101 Food-101 classes — 25,250 test images the model never trained on.</a:t>
            </a:r>
            <a:endParaRPr lang="en-US" sz="1300" dirty="0"/>
          </a:p>
        </p:txBody>
      </p:sp>
      <p:pic>
        <p:nvPicPr>
          <p:cNvPr id="5" name="Image 0" descr="assets/confusion_matrix.jpeg"/>
          <p:cNvPicPr>
            <a:picLocks noChangeAspect="1"/>
          </p:cNvPicPr>
          <p:nvPr/>
        </p:nvPicPr>
        <p:blipFill>
          <a:blip r:embed="rId3"/>
          <a:stretch>
            <a:fillRect/>
          </a:stretch>
        </p:blipFill>
        <p:spPr>
          <a:xfrm>
            <a:off x="3558470" y="1920240"/>
            <a:ext cx="5072011" cy="4434840"/>
          </a:xfrm>
          <a:prstGeom prst="rect">
            <a:avLst/>
          </a:prstGeom>
        </p:spPr>
      </p:pic>
      <p:sp>
        <p:nvSpPr>
          <p:cNvPr id="6" name="Text 3"/>
          <p:cNvSpPr/>
          <p:nvPr/>
        </p:nvSpPr>
        <p:spPr>
          <a:xfrm>
            <a:off x="548640" y="6400800"/>
            <a:ext cx="10515600" cy="320040"/>
          </a:xfrm>
          <a:prstGeom prst="rect">
            <a:avLst/>
          </a:prstGeom>
          <a:noFill/>
          <a:ln/>
        </p:spPr>
        <p:txBody>
          <a:bodyPr wrap="square"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Solid diagonal = correct predictions. Confusion is confined to close visual relatives — steak ↔ prime rib ↔ filet mignon, chocolate mousse ↔ chocolate cake, bread pudding ↔ apple pie — exactly what Risk R1 in the project plan anticipated.</a:t>
            </a:r>
            <a:endParaRPr lang="en-US" sz="1100" dirty="0"/>
          </a:p>
        </p:txBody>
      </p:sp>
      <p:sp>
        <p:nvSpPr>
          <p:cNvPr id="7" name="Text 4"/>
          <p:cNvSpPr/>
          <p:nvPr/>
        </p:nvSpPr>
        <p:spPr>
          <a:xfrm>
            <a:off x="1154887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lIns="0" tIns="0" rIns="0" bIns="0">
            <a:spAutoFit/>
          </a:bodyPr>
          <a:lstStyle/>
          <a:p>
            <a:pPr algn="l">
              <a:lnSpc>
                <a:spcPct val="100000"/>
              </a:lnSpc>
            </a:pPr>
            <a:r>
              <a:rPr sz="1300" b="1">
                <a:solidFill>
                  <a:srgbClr val="1F7A54"/>
                </a:solidFill>
                <a:latin typeface="Calibri"/>
              </a:rPr>
              <a:t>INPUT GATES</a:t>
            </a:r>
          </a:p>
        </p:txBody>
      </p:sp>
      <p:sp>
        <p:nvSpPr>
          <p:cNvPr id="3" name="TextBox 2"/>
          <p:cNvSpPr txBox="1"/>
          <p:nvPr/>
        </p:nvSpPr>
        <p:spPr>
          <a:xfrm>
            <a:off x="548640" y="658368"/>
            <a:ext cx="10607040" cy="822960"/>
          </a:xfrm>
          <a:prstGeom prst="rect">
            <a:avLst/>
          </a:prstGeom>
          <a:noFill/>
        </p:spPr>
        <p:txBody>
          <a:bodyPr wrap="square" lIns="0" tIns="0" rIns="0" bIns="0">
            <a:spAutoFit/>
          </a:bodyPr>
          <a:lstStyle/>
          <a:p>
            <a:pPr algn="l">
              <a:lnSpc>
                <a:spcPct val="100000"/>
              </a:lnSpc>
            </a:pPr>
            <a:r>
              <a:rPr sz="3200" b="1">
                <a:solidFill>
                  <a:srgbClr val="16201C"/>
                </a:solidFill>
                <a:latin typeface="Cambria"/>
              </a:rPr>
              <a:t>Two gates before the model ever runs</a:t>
            </a:r>
          </a:p>
        </p:txBody>
      </p:sp>
      <p:sp>
        <p:nvSpPr>
          <p:cNvPr id="4" name="TextBox 3"/>
          <p:cNvSpPr txBox="1"/>
          <p:nvPr/>
        </p:nvSpPr>
        <p:spPr>
          <a:xfrm>
            <a:off x="548640" y="1389888"/>
            <a:ext cx="10881360" cy="502920"/>
          </a:xfrm>
          <a:prstGeom prst="rect">
            <a:avLst/>
          </a:prstGeom>
          <a:noFill/>
        </p:spPr>
        <p:txBody>
          <a:bodyPr wrap="square" lIns="0" tIns="0" rIns="0" bIns="0">
            <a:spAutoFit/>
          </a:bodyPr>
          <a:lstStyle/>
          <a:p>
            <a:pPr algn="l">
              <a:lnSpc>
                <a:spcPct val="118000"/>
              </a:lnSpc>
            </a:pPr>
            <a:r>
              <a:rPr sz="1250" b="0">
                <a:solidFill>
                  <a:srgbClr val="6B7280"/>
                </a:solidFill>
                <a:latin typeface="Calibri"/>
              </a:rPr>
              <a:t>EfficientNet-B4 is closed-set: its softmax is defined over 101 foods and must sum to 1 no matter what the camera is pointed at. It cannot say “not food”.</a:t>
            </a:r>
          </a:p>
        </p:txBody>
      </p:sp>
      <p:sp>
        <p:nvSpPr>
          <p:cNvPr id="5" name="Rounded Rectangle 4"/>
          <p:cNvSpPr/>
          <p:nvPr/>
        </p:nvSpPr>
        <p:spPr>
          <a:xfrm>
            <a:off x="548640" y="2011680"/>
            <a:ext cx="5394960" cy="3063240"/>
          </a:xfrm>
          <a:prstGeom prst="roundRect">
            <a:avLst>
              <a:gd name="adj" fmla="val 3117"/>
            </a:avLst>
          </a:prstGeom>
          <a:solidFill>
            <a:srgbClr val="F1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240280"/>
            <a:ext cx="4754880" cy="384048"/>
          </a:xfrm>
          <a:prstGeom prst="rect">
            <a:avLst/>
          </a:prstGeom>
          <a:noFill/>
        </p:spPr>
        <p:txBody>
          <a:bodyPr wrap="square" lIns="0" tIns="0" rIns="0" bIns="0">
            <a:spAutoFit/>
          </a:bodyPr>
          <a:lstStyle/>
          <a:p>
            <a:pPr algn="l">
              <a:lnSpc>
                <a:spcPct val="100000"/>
              </a:lnSpc>
            </a:pPr>
            <a:r>
              <a:rPr sz="1700" b="1">
                <a:solidFill>
                  <a:srgbClr val="16201C"/>
                </a:solidFill>
                <a:latin typeface="Cambria"/>
              </a:rPr>
              <a:t>Gate 1 — Validation &amp; quality</a:t>
            </a:r>
          </a:p>
        </p:txBody>
      </p:sp>
      <p:sp>
        <p:nvSpPr>
          <p:cNvPr id="7" name="TextBox 6"/>
          <p:cNvSpPr txBox="1"/>
          <p:nvPr/>
        </p:nvSpPr>
        <p:spPr>
          <a:xfrm>
            <a:off x="868680" y="2724912"/>
            <a:ext cx="4754880" cy="2148840"/>
          </a:xfrm>
          <a:prstGeom prst="rect">
            <a:avLst/>
          </a:prstGeom>
          <a:noFill/>
        </p:spPr>
        <p:txBody>
          <a:bodyPr wrap="square" lIns="0" tIns="0" rIns="0" bIns="0">
            <a:spAutoFit/>
          </a:bodyPr>
          <a:lstStyle/>
          <a:p>
            <a:pPr>
              <a:lnSpc>
                <a:spcPct val="112000"/>
              </a:lnSpc>
              <a:spcAft>
                <a:spcPts val="700"/>
              </a:spcAft>
            </a:pPr>
            <a:r>
              <a:rPr sz="1100" dirty="0">
                <a:solidFill>
                  <a:srgbClr val="6B7280"/>
                </a:solidFill>
                <a:latin typeface="Calibri"/>
              </a:rPr>
              <a:t>·  Format confirmed by decoding the bytes — never by the client's Content-Type header, which is trivially spoofed</a:t>
            </a:r>
          </a:p>
          <a:p>
            <a:pPr>
              <a:lnSpc>
                <a:spcPct val="112000"/>
              </a:lnSpc>
              <a:spcAft>
                <a:spcPts val="700"/>
              </a:spcAft>
            </a:pPr>
            <a:r>
              <a:rPr sz="1100" dirty="0">
                <a:solidFill>
                  <a:srgbClr val="6B7280"/>
                </a:solidFill>
                <a:latin typeface="Calibri"/>
              </a:rPr>
              <a:t>·  ≤ 10 MB  ·  ≥ 640 × 480 </a:t>
            </a:r>
            <a:r>
              <a:rPr sz="1100" dirty="0" err="1">
                <a:solidFill>
                  <a:srgbClr val="6B7280"/>
                </a:solidFill>
                <a:latin typeface="Calibri"/>
              </a:rPr>
              <a:t>px</a:t>
            </a:r>
            <a:endParaRPr sz="1100" dirty="0">
              <a:solidFill>
                <a:srgbClr val="6B7280"/>
              </a:solidFill>
              <a:latin typeface="Calibri"/>
            </a:endParaRPr>
          </a:p>
          <a:p>
            <a:pPr>
              <a:lnSpc>
                <a:spcPct val="112000"/>
              </a:lnSpc>
              <a:spcAft>
                <a:spcPts val="700"/>
              </a:spcAft>
            </a:pPr>
            <a:r>
              <a:rPr sz="1100" dirty="0">
                <a:solidFill>
                  <a:srgbClr val="6B7280"/>
                </a:solidFill>
                <a:latin typeface="Calibri"/>
              </a:rPr>
              <a:t>·  Mean luma 30–235 rejects too dark and washed out; variance of Laplacian &gt; 60 rejects blur</a:t>
            </a:r>
          </a:p>
          <a:p>
            <a:pPr>
              <a:lnSpc>
                <a:spcPct val="112000"/>
              </a:lnSpc>
              <a:spcAft>
                <a:spcPts val="700"/>
              </a:spcAft>
            </a:pPr>
            <a:r>
              <a:rPr sz="1100" dirty="0">
                <a:solidFill>
                  <a:srgbClr val="6B7280"/>
                </a:solidFill>
                <a:latin typeface="Calibri"/>
              </a:rPr>
              <a:t>·  Rejects only — never relights or sharpens. Enhancing at serve time is train/serve skew and lowers accuracy</a:t>
            </a:r>
          </a:p>
        </p:txBody>
      </p:sp>
      <p:sp>
        <p:nvSpPr>
          <p:cNvPr id="8" name="Rounded Rectangle 7"/>
          <p:cNvSpPr/>
          <p:nvPr/>
        </p:nvSpPr>
        <p:spPr>
          <a:xfrm>
            <a:off x="6263640" y="2011680"/>
            <a:ext cx="5394960" cy="3063240"/>
          </a:xfrm>
          <a:prstGeom prst="roundRect">
            <a:avLst>
              <a:gd name="adj" fmla="val 3117"/>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2240280"/>
            <a:ext cx="4754880" cy="384048"/>
          </a:xfrm>
          <a:prstGeom prst="rect">
            <a:avLst/>
          </a:prstGeom>
          <a:noFill/>
        </p:spPr>
        <p:txBody>
          <a:bodyPr wrap="square" lIns="0" tIns="0" rIns="0" bIns="0">
            <a:spAutoFit/>
          </a:bodyPr>
          <a:lstStyle/>
          <a:p>
            <a:pPr algn="l">
              <a:lnSpc>
                <a:spcPct val="100000"/>
              </a:lnSpc>
            </a:pPr>
            <a:r>
              <a:rPr sz="1700" b="1">
                <a:solidFill>
                  <a:srgbClr val="FFFFFF"/>
                </a:solidFill>
                <a:latin typeface="Cambria"/>
              </a:rPr>
              <a:t>Gate 2 — Open-set food gate</a:t>
            </a:r>
          </a:p>
        </p:txBody>
      </p:sp>
      <p:sp>
        <p:nvSpPr>
          <p:cNvPr id="10" name="TextBox 9"/>
          <p:cNvSpPr txBox="1"/>
          <p:nvPr/>
        </p:nvSpPr>
        <p:spPr>
          <a:xfrm>
            <a:off x="6583680" y="2724912"/>
            <a:ext cx="4754880" cy="2148840"/>
          </a:xfrm>
          <a:prstGeom prst="rect">
            <a:avLst/>
          </a:prstGeom>
          <a:noFill/>
        </p:spPr>
        <p:txBody>
          <a:bodyPr wrap="square" lIns="0" tIns="0" rIns="0" bIns="0">
            <a:spAutoFit/>
          </a:bodyPr>
          <a:lstStyle/>
          <a:p>
            <a:pPr>
              <a:lnSpc>
                <a:spcPct val="112000"/>
              </a:lnSpc>
              <a:spcAft>
                <a:spcPts val="700"/>
              </a:spcAft>
            </a:pPr>
            <a:r>
              <a:rPr sz="1100">
                <a:solidFill>
                  <a:srgbClr val="C7CFCB"/>
                </a:solidFill>
                <a:latin typeface="Calibri"/>
              </a:rPr>
              <a:t>·  MobileNetV3-Large on ImageNet-1k — a model that has actually been shown non-food</a:t>
            </a:r>
          </a:p>
          <a:p>
            <a:pPr>
              <a:lnSpc>
                <a:spcPct val="112000"/>
              </a:lnSpc>
              <a:spcAft>
                <a:spcPts val="700"/>
              </a:spcAft>
            </a:pPr>
            <a:r>
              <a:rPr sz="1100">
                <a:solidFill>
                  <a:srgbClr val="C7CFCB"/>
                </a:solidFill>
                <a:latin typeface="Calibri"/>
              </a:rPr>
              <a:t>·  Sums softmax mass over ~45 food classes plus 14 dining-context classes (plate, bowl, dining table, wok, frying pan)</a:t>
            </a:r>
          </a:p>
          <a:p>
            <a:pPr>
              <a:lnSpc>
                <a:spcPct val="112000"/>
              </a:lnSpc>
              <a:spcAft>
                <a:spcPts val="700"/>
              </a:spcAft>
            </a:pPr>
            <a:r>
              <a:rPr sz="1100">
                <a:solidFill>
                  <a:srgbClr val="C7CFCB"/>
                </a:solidFill>
                <a:latin typeface="Calibri"/>
              </a:rPr>
              <a:t>·  Context matters: shawarma has no ImageNet label, but “plate” and “dining table” still fire</a:t>
            </a:r>
          </a:p>
          <a:p>
            <a:pPr>
              <a:lnSpc>
                <a:spcPct val="112000"/>
              </a:lnSpc>
              <a:spcAft>
                <a:spcPts val="700"/>
              </a:spcAft>
            </a:pPr>
            <a:r>
              <a:rPr sz="1100">
                <a:solidFill>
                  <a:srgbClr val="C7CFCB"/>
                </a:solidFill>
                <a:latin typeface="Calibri"/>
              </a:rPr>
              <a:t>·  Below 0.05 → NO_FOOD_DETECTED. A few milliseconds next to B4 inference</a:t>
            </a:r>
          </a:p>
        </p:txBody>
      </p:sp>
      <p:sp>
        <p:nvSpPr>
          <p:cNvPr id="11" name="Rounded Rectangle 10"/>
          <p:cNvSpPr/>
          <p:nvPr/>
        </p:nvSpPr>
        <p:spPr>
          <a:xfrm>
            <a:off x="548640" y="5193792"/>
            <a:ext cx="11109960" cy="1170432"/>
          </a:xfrm>
          <a:prstGeom prst="roundRect">
            <a:avLst>
              <a:gd name="adj" fmla="val 3117"/>
            </a:avLst>
          </a:prstGeom>
          <a:solidFill>
            <a:srgbClr val="F1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68680" y="5440680"/>
            <a:ext cx="128016" cy="128016"/>
          </a:xfrm>
          <a:prstGeom prst="rect">
            <a:avLst/>
          </a:prstGeom>
          <a:solidFill>
            <a:srgbClr val="1F7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5376672"/>
            <a:ext cx="10149840" cy="274320"/>
          </a:xfrm>
          <a:prstGeom prst="rect">
            <a:avLst/>
          </a:prstGeom>
          <a:noFill/>
        </p:spPr>
        <p:txBody>
          <a:bodyPr wrap="square" lIns="0" tIns="0" rIns="0" bIns="0">
            <a:spAutoFit/>
          </a:bodyPr>
          <a:lstStyle/>
          <a:p>
            <a:pPr algn="l">
              <a:lnSpc>
                <a:spcPct val="100000"/>
              </a:lnSpc>
            </a:pPr>
            <a:r>
              <a:rPr sz="1250" b="1">
                <a:solidFill>
                  <a:srgbClr val="16201C"/>
                </a:solidFill>
                <a:latin typeface="Calibri"/>
              </a:rPr>
              <a:t>Why not just raise the confidence threshold?</a:t>
            </a:r>
          </a:p>
        </p:txBody>
      </p:sp>
      <p:sp>
        <p:nvSpPr>
          <p:cNvPr id="14" name="TextBox 13"/>
          <p:cNvSpPr txBox="1"/>
          <p:nvPr/>
        </p:nvSpPr>
        <p:spPr>
          <a:xfrm>
            <a:off x="1170432" y="5669280"/>
            <a:ext cx="10149840" cy="566928"/>
          </a:xfrm>
          <a:prstGeom prst="rect">
            <a:avLst/>
          </a:prstGeom>
          <a:noFill/>
        </p:spPr>
        <p:txBody>
          <a:bodyPr wrap="square" lIns="0" tIns="0" rIns="0" bIns="0">
            <a:spAutoFit/>
          </a:bodyPr>
          <a:lstStyle/>
          <a:p>
            <a:pPr algn="l">
              <a:lnSpc>
                <a:spcPct val="115000"/>
              </a:lnSpc>
            </a:pPr>
            <a:r>
              <a:rPr sz="1100" b="0">
                <a:solidFill>
                  <a:srgbClr val="6B7280"/>
                </a:solidFill>
                <a:latin typeface="Calibri"/>
              </a:rPr>
              <a:t>One laptop photo scored 0.05 — any floor catches it. A second, closer shot scored 0.46 on “apple pie” with the runner-up at 0.09: high score, wide margin, plainly not food. Confidence answers which of the 101, never whether any of the 101. The gate put 0.79 on “space bar” and effectively nothing on food.</a:t>
            </a:r>
          </a:p>
        </p:txBody>
      </p:sp>
      <p:sp>
        <p:nvSpPr>
          <p:cNvPr id="15" name="TextBox 14"/>
          <p:cNvSpPr txBox="1"/>
          <p:nvPr/>
        </p:nvSpPr>
        <p:spPr>
          <a:xfrm>
            <a:off x="11548872" y="6473952"/>
            <a:ext cx="457200" cy="274320"/>
          </a:xfrm>
          <a:prstGeom prst="rect">
            <a:avLst/>
          </a:prstGeom>
          <a:noFill/>
        </p:spPr>
        <p:txBody>
          <a:bodyPr wrap="square" lIns="0" tIns="0" rIns="0" bIns="0">
            <a:spAutoFit/>
          </a:bodyPr>
          <a:lstStyle/>
          <a:p>
            <a:pPr algn="l">
              <a:lnSpc>
                <a:spcPct val="100000"/>
              </a:lnSpc>
            </a:pPr>
            <a:r>
              <a:rPr sz="1000" b="0">
                <a:solidFill>
                  <a:srgbClr val="6B7280"/>
                </a:solidFill>
                <a:latin typeface="Calibri"/>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lIns="0" tIns="0" rIns="0" bIns="0">
            <a:spAutoFit/>
          </a:bodyPr>
          <a:lstStyle/>
          <a:p>
            <a:pPr algn="l">
              <a:lnSpc>
                <a:spcPct val="100000"/>
              </a:lnSpc>
            </a:pPr>
            <a:r>
              <a:rPr sz="1300" b="1">
                <a:solidFill>
                  <a:srgbClr val="1F7A54"/>
                </a:solidFill>
                <a:latin typeface="Calibri"/>
              </a:rPr>
              <a:t>PORTION ESTIMATION</a:t>
            </a:r>
          </a:p>
        </p:txBody>
      </p:sp>
      <p:sp>
        <p:nvSpPr>
          <p:cNvPr id="3" name="TextBox 2"/>
          <p:cNvSpPr txBox="1"/>
          <p:nvPr/>
        </p:nvSpPr>
        <p:spPr>
          <a:xfrm>
            <a:off x="548640" y="658368"/>
            <a:ext cx="10607040" cy="822960"/>
          </a:xfrm>
          <a:prstGeom prst="rect">
            <a:avLst/>
          </a:prstGeom>
          <a:noFill/>
        </p:spPr>
        <p:txBody>
          <a:bodyPr wrap="square" lIns="0" tIns="0" rIns="0" bIns="0">
            <a:spAutoFit/>
          </a:bodyPr>
          <a:lstStyle/>
          <a:p>
            <a:pPr algn="l">
              <a:lnSpc>
                <a:spcPct val="100000"/>
              </a:lnSpc>
            </a:pPr>
            <a:r>
              <a:rPr sz="3200" b="1">
                <a:solidFill>
                  <a:srgbClr val="16201C"/>
                </a:solidFill>
                <a:latin typeface="Cambria"/>
              </a:rPr>
              <a:t>A photograph has no ruler in it</a:t>
            </a:r>
          </a:p>
        </p:txBody>
      </p:sp>
      <p:sp>
        <p:nvSpPr>
          <p:cNvPr id="4" name="TextBox 3"/>
          <p:cNvSpPr txBox="1"/>
          <p:nvPr/>
        </p:nvSpPr>
        <p:spPr>
          <a:xfrm>
            <a:off x="548640" y="1389888"/>
            <a:ext cx="10881360" cy="502920"/>
          </a:xfrm>
          <a:prstGeom prst="rect">
            <a:avLst/>
          </a:prstGeom>
          <a:noFill/>
        </p:spPr>
        <p:txBody>
          <a:bodyPr wrap="square" lIns="0" tIns="0" rIns="0" bIns="0">
            <a:spAutoFit/>
          </a:bodyPr>
          <a:lstStyle/>
          <a:p>
            <a:pPr algn="l">
              <a:lnSpc>
                <a:spcPct val="118000"/>
              </a:lnSpc>
            </a:pPr>
            <a:r>
              <a:rPr sz="1250" b="0">
                <a:solidFill>
                  <a:srgbClr val="6B7280"/>
                </a:solidFill>
                <a:latin typeface="Calibri"/>
              </a:rPr>
              <a:t>Mass = volume × density. Volume needs area. Area needs centimetres-per-pixel. A single 2D photo gives none of the three — and we assumed no depth sensor, so it has to work on any phone camera.</a:t>
            </a:r>
          </a:p>
        </p:txBody>
      </p:sp>
      <p:sp>
        <p:nvSpPr>
          <p:cNvPr id="5" name="Rounded Rectangle 4"/>
          <p:cNvSpPr/>
          <p:nvPr/>
        </p:nvSpPr>
        <p:spPr>
          <a:xfrm>
            <a:off x="685800" y="2148840"/>
            <a:ext cx="658368" cy="658368"/>
          </a:xfrm>
          <a:prstGeom prst="roundRect">
            <a:avLst>
              <a:gd name="adj" fmla="val 3117"/>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304288"/>
            <a:ext cx="658368" cy="365760"/>
          </a:xfrm>
          <a:prstGeom prst="rect">
            <a:avLst/>
          </a:prstGeom>
          <a:noFill/>
        </p:spPr>
        <p:txBody>
          <a:bodyPr wrap="square" lIns="0" tIns="0" rIns="0" bIns="0">
            <a:spAutoFit/>
          </a:bodyPr>
          <a:lstStyle/>
          <a:p>
            <a:pPr algn="ctr">
              <a:lnSpc>
                <a:spcPct val="100000"/>
              </a:lnSpc>
            </a:pPr>
            <a:r>
              <a:rPr sz="1500" b="1">
                <a:solidFill>
                  <a:srgbClr val="3DDC97"/>
                </a:solidFill>
                <a:latin typeface="Cambria"/>
              </a:rPr>
              <a:t>1</a:t>
            </a:r>
          </a:p>
        </p:txBody>
      </p:sp>
      <p:sp>
        <p:nvSpPr>
          <p:cNvPr id="7" name="TextBox 6"/>
          <p:cNvSpPr txBox="1"/>
          <p:nvPr/>
        </p:nvSpPr>
        <p:spPr>
          <a:xfrm>
            <a:off x="685800" y="2944368"/>
            <a:ext cx="2514600" cy="320040"/>
          </a:xfrm>
          <a:prstGeom prst="rect">
            <a:avLst/>
          </a:prstGeom>
          <a:noFill/>
        </p:spPr>
        <p:txBody>
          <a:bodyPr wrap="square" lIns="0" tIns="0" rIns="0" bIns="0">
            <a:spAutoFit/>
          </a:bodyPr>
          <a:lstStyle/>
          <a:p>
            <a:pPr algn="l">
              <a:lnSpc>
                <a:spcPct val="100000"/>
              </a:lnSpc>
            </a:pPr>
            <a:r>
              <a:rPr sz="1500" b="1">
                <a:solidFill>
                  <a:srgbClr val="16201C"/>
                </a:solidFill>
                <a:latin typeface="Cambria"/>
              </a:rPr>
              <a:t>Segment</a:t>
            </a:r>
          </a:p>
        </p:txBody>
      </p:sp>
      <p:sp>
        <p:nvSpPr>
          <p:cNvPr id="8" name="TextBox 7"/>
          <p:cNvSpPr txBox="1"/>
          <p:nvPr/>
        </p:nvSpPr>
        <p:spPr>
          <a:xfrm>
            <a:off x="685800" y="3273552"/>
            <a:ext cx="2514600" cy="685800"/>
          </a:xfrm>
          <a:prstGeom prst="rect">
            <a:avLst/>
          </a:prstGeom>
          <a:noFill/>
        </p:spPr>
        <p:txBody>
          <a:bodyPr wrap="square" lIns="0" tIns="0" rIns="0" bIns="0">
            <a:spAutoFit/>
          </a:bodyPr>
          <a:lstStyle/>
          <a:p>
            <a:pPr algn="l">
              <a:lnSpc>
                <a:spcPct val="115000"/>
              </a:lnSpc>
            </a:pPr>
            <a:r>
              <a:rPr sz="1050" b="0">
                <a:solidFill>
                  <a:srgbClr val="6B7280"/>
                </a:solidFill>
                <a:latin typeface="Calibri"/>
              </a:rPr>
              <a:t>Isolate the food pixels from the plate and the background</a:t>
            </a:r>
          </a:p>
        </p:txBody>
      </p:sp>
      <p:sp>
        <p:nvSpPr>
          <p:cNvPr id="9" name="Rounded Rectangle 8"/>
          <p:cNvSpPr/>
          <p:nvPr/>
        </p:nvSpPr>
        <p:spPr>
          <a:xfrm>
            <a:off x="3520440" y="2148840"/>
            <a:ext cx="658368" cy="658368"/>
          </a:xfrm>
          <a:prstGeom prst="roundRect">
            <a:avLst>
              <a:gd name="adj" fmla="val 3117"/>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20440" y="2304288"/>
            <a:ext cx="658368" cy="365760"/>
          </a:xfrm>
          <a:prstGeom prst="rect">
            <a:avLst/>
          </a:prstGeom>
          <a:noFill/>
        </p:spPr>
        <p:txBody>
          <a:bodyPr wrap="square" lIns="0" tIns="0" rIns="0" bIns="0">
            <a:spAutoFit/>
          </a:bodyPr>
          <a:lstStyle/>
          <a:p>
            <a:pPr algn="ctr">
              <a:lnSpc>
                <a:spcPct val="100000"/>
              </a:lnSpc>
            </a:pPr>
            <a:r>
              <a:rPr sz="1500" b="1">
                <a:solidFill>
                  <a:srgbClr val="14181A"/>
                </a:solidFill>
                <a:latin typeface="Cambria"/>
              </a:rPr>
              <a:t>2</a:t>
            </a:r>
          </a:p>
        </p:txBody>
      </p:sp>
      <p:sp>
        <p:nvSpPr>
          <p:cNvPr id="11" name="TextBox 10"/>
          <p:cNvSpPr txBox="1"/>
          <p:nvPr/>
        </p:nvSpPr>
        <p:spPr>
          <a:xfrm>
            <a:off x="3520440" y="2944368"/>
            <a:ext cx="2514600" cy="320040"/>
          </a:xfrm>
          <a:prstGeom prst="rect">
            <a:avLst/>
          </a:prstGeom>
          <a:noFill/>
        </p:spPr>
        <p:txBody>
          <a:bodyPr wrap="square" lIns="0" tIns="0" rIns="0" bIns="0">
            <a:spAutoFit/>
          </a:bodyPr>
          <a:lstStyle/>
          <a:p>
            <a:pPr algn="l">
              <a:lnSpc>
                <a:spcPct val="100000"/>
              </a:lnSpc>
            </a:pPr>
            <a:r>
              <a:rPr sz="1500" b="1">
                <a:solidFill>
                  <a:srgbClr val="16201C"/>
                </a:solidFill>
                <a:latin typeface="Cambria"/>
              </a:rPr>
              <a:t>Scale</a:t>
            </a:r>
          </a:p>
        </p:txBody>
      </p:sp>
      <p:sp>
        <p:nvSpPr>
          <p:cNvPr id="12" name="TextBox 11"/>
          <p:cNvSpPr txBox="1"/>
          <p:nvPr/>
        </p:nvSpPr>
        <p:spPr>
          <a:xfrm>
            <a:off x="3520440" y="3273552"/>
            <a:ext cx="2514600" cy="685800"/>
          </a:xfrm>
          <a:prstGeom prst="rect">
            <a:avLst/>
          </a:prstGeom>
          <a:noFill/>
        </p:spPr>
        <p:txBody>
          <a:bodyPr wrap="square" lIns="0" tIns="0" rIns="0" bIns="0">
            <a:spAutoFit/>
          </a:bodyPr>
          <a:lstStyle/>
          <a:p>
            <a:pPr algn="l">
              <a:lnSpc>
                <a:spcPct val="115000"/>
              </a:lnSpc>
            </a:pPr>
            <a:r>
              <a:rPr sz="1050" b="0">
                <a:solidFill>
                  <a:srgbClr val="6B7280"/>
                </a:solidFill>
                <a:latin typeface="Calibri"/>
              </a:rPr>
              <a:t>Resolve centimetres-per-pixel from the best cue in the frame</a:t>
            </a:r>
          </a:p>
        </p:txBody>
      </p:sp>
      <p:sp>
        <p:nvSpPr>
          <p:cNvPr id="13" name="Rounded Rectangle 12"/>
          <p:cNvSpPr/>
          <p:nvPr/>
        </p:nvSpPr>
        <p:spPr>
          <a:xfrm>
            <a:off x="6355080" y="2148840"/>
            <a:ext cx="658368" cy="658368"/>
          </a:xfrm>
          <a:prstGeom prst="roundRect">
            <a:avLst>
              <a:gd name="adj" fmla="val 3117"/>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2304288"/>
            <a:ext cx="658368" cy="365760"/>
          </a:xfrm>
          <a:prstGeom prst="rect">
            <a:avLst/>
          </a:prstGeom>
          <a:noFill/>
        </p:spPr>
        <p:txBody>
          <a:bodyPr wrap="square" lIns="0" tIns="0" rIns="0" bIns="0">
            <a:spAutoFit/>
          </a:bodyPr>
          <a:lstStyle/>
          <a:p>
            <a:pPr algn="ctr">
              <a:lnSpc>
                <a:spcPct val="100000"/>
              </a:lnSpc>
            </a:pPr>
            <a:r>
              <a:rPr sz="1500" b="1">
                <a:solidFill>
                  <a:srgbClr val="3DDC97"/>
                </a:solidFill>
                <a:latin typeface="Cambria"/>
              </a:rPr>
              <a:t>3</a:t>
            </a:r>
          </a:p>
        </p:txBody>
      </p:sp>
      <p:sp>
        <p:nvSpPr>
          <p:cNvPr id="15" name="TextBox 14"/>
          <p:cNvSpPr txBox="1"/>
          <p:nvPr/>
        </p:nvSpPr>
        <p:spPr>
          <a:xfrm>
            <a:off x="6355080" y="2944368"/>
            <a:ext cx="2514600" cy="320040"/>
          </a:xfrm>
          <a:prstGeom prst="rect">
            <a:avLst/>
          </a:prstGeom>
          <a:noFill/>
        </p:spPr>
        <p:txBody>
          <a:bodyPr wrap="square" lIns="0" tIns="0" rIns="0" bIns="0">
            <a:spAutoFit/>
          </a:bodyPr>
          <a:lstStyle/>
          <a:p>
            <a:pPr algn="l">
              <a:lnSpc>
                <a:spcPct val="100000"/>
              </a:lnSpc>
            </a:pPr>
            <a:r>
              <a:rPr sz="1500" b="1">
                <a:solidFill>
                  <a:srgbClr val="16201C"/>
                </a:solidFill>
                <a:latin typeface="Cambria"/>
              </a:rPr>
              <a:t>Volume</a:t>
            </a:r>
          </a:p>
        </p:txBody>
      </p:sp>
      <p:sp>
        <p:nvSpPr>
          <p:cNvPr id="16" name="TextBox 15"/>
          <p:cNvSpPr txBox="1"/>
          <p:nvPr/>
        </p:nvSpPr>
        <p:spPr>
          <a:xfrm>
            <a:off x="6355080" y="3273552"/>
            <a:ext cx="2514600" cy="685800"/>
          </a:xfrm>
          <a:prstGeom prst="rect">
            <a:avLst/>
          </a:prstGeom>
          <a:noFill/>
        </p:spPr>
        <p:txBody>
          <a:bodyPr wrap="square" lIns="0" tIns="0" rIns="0" bIns="0">
            <a:spAutoFit/>
          </a:bodyPr>
          <a:lstStyle/>
          <a:p>
            <a:pPr algn="l">
              <a:lnSpc>
                <a:spcPct val="115000"/>
              </a:lnSpc>
            </a:pPr>
            <a:r>
              <a:rPr sz="1050" b="0" dirty="0">
                <a:solidFill>
                  <a:srgbClr val="6B7280"/>
                </a:solidFill>
                <a:latin typeface="Calibri"/>
              </a:rPr>
              <a:t>Lift the measured area to a volume via the food's shape prior</a:t>
            </a:r>
          </a:p>
        </p:txBody>
      </p:sp>
      <p:sp>
        <p:nvSpPr>
          <p:cNvPr id="17" name="Rounded Rectangle 16"/>
          <p:cNvSpPr/>
          <p:nvPr/>
        </p:nvSpPr>
        <p:spPr>
          <a:xfrm>
            <a:off x="9189720" y="2148840"/>
            <a:ext cx="658368" cy="658368"/>
          </a:xfrm>
          <a:prstGeom prst="roundRect">
            <a:avLst>
              <a:gd name="adj" fmla="val 3117"/>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89720" y="2304288"/>
            <a:ext cx="658368" cy="365760"/>
          </a:xfrm>
          <a:prstGeom prst="rect">
            <a:avLst/>
          </a:prstGeom>
          <a:noFill/>
        </p:spPr>
        <p:txBody>
          <a:bodyPr wrap="square" lIns="0" tIns="0" rIns="0" bIns="0">
            <a:spAutoFit/>
          </a:bodyPr>
          <a:lstStyle/>
          <a:p>
            <a:pPr algn="ctr">
              <a:lnSpc>
                <a:spcPct val="100000"/>
              </a:lnSpc>
            </a:pPr>
            <a:r>
              <a:rPr sz="1500" b="1">
                <a:solidFill>
                  <a:srgbClr val="14181A"/>
                </a:solidFill>
                <a:latin typeface="Cambria"/>
              </a:rPr>
              <a:t>4</a:t>
            </a:r>
          </a:p>
        </p:txBody>
      </p:sp>
      <p:sp>
        <p:nvSpPr>
          <p:cNvPr id="19" name="TextBox 18"/>
          <p:cNvSpPr txBox="1"/>
          <p:nvPr/>
        </p:nvSpPr>
        <p:spPr>
          <a:xfrm>
            <a:off x="9189720" y="2944368"/>
            <a:ext cx="2514600" cy="320040"/>
          </a:xfrm>
          <a:prstGeom prst="rect">
            <a:avLst/>
          </a:prstGeom>
          <a:noFill/>
        </p:spPr>
        <p:txBody>
          <a:bodyPr wrap="square" lIns="0" tIns="0" rIns="0" bIns="0">
            <a:spAutoFit/>
          </a:bodyPr>
          <a:lstStyle/>
          <a:p>
            <a:pPr algn="l">
              <a:lnSpc>
                <a:spcPct val="100000"/>
              </a:lnSpc>
            </a:pPr>
            <a:r>
              <a:rPr sz="1500" b="1">
                <a:solidFill>
                  <a:srgbClr val="16201C"/>
                </a:solidFill>
                <a:latin typeface="Cambria"/>
              </a:rPr>
              <a:t>Mass</a:t>
            </a:r>
          </a:p>
        </p:txBody>
      </p:sp>
      <p:sp>
        <p:nvSpPr>
          <p:cNvPr id="20" name="TextBox 19"/>
          <p:cNvSpPr txBox="1"/>
          <p:nvPr/>
        </p:nvSpPr>
        <p:spPr>
          <a:xfrm>
            <a:off x="9189720" y="3273552"/>
            <a:ext cx="2514600" cy="685800"/>
          </a:xfrm>
          <a:prstGeom prst="rect">
            <a:avLst/>
          </a:prstGeom>
          <a:noFill/>
        </p:spPr>
        <p:txBody>
          <a:bodyPr wrap="square" lIns="0" tIns="0" rIns="0" bIns="0">
            <a:spAutoFit/>
          </a:bodyPr>
          <a:lstStyle/>
          <a:p>
            <a:pPr algn="l">
              <a:lnSpc>
                <a:spcPct val="115000"/>
              </a:lnSpc>
            </a:pPr>
            <a:r>
              <a:rPr sz="1050" b="0">
                <a:solidFill>
                  <a:srgbClr val="6B7280"/>
                </a:solidFill>
                <a:latin typeface="Calibri"/>
              </a:rPr>
              <a:t>× density, clamp, then widen into an honest range</a:t>
            </a:r>
          </a:p>
        </p:txBody>
      </p:sp>
      <p:sp>
        <p:nvSpPr>
          <p:cNvPr id="21" name="Rounded Rectangle 20"/>
          <p:cNvSpPr/>
          <p:nvPr/>
        </p:nvSpPr>
        <p:spPr>
          <a:xfrm>
            <a:off x="548640" y="4206240"/>
            <a:ext cx="5394960" cy="2103120"/>
          </a:xfrm>
          <a:prstGeom prst="roundRect">
            <a:avLst>
              <a:gd name="adj" fmla="val 3117"/>
            </a:avLst>
          </a:prstGeom>
          <a:solidFill>
            <a:srgbClr val="F1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4416552"/>
            <a:ext cx="4754880" cy="384048"/>
          </a:xfrm>
          <a:prstGeom prst="rect">
            <a:avLst/>
          </a:prstGeom>
          <a:noFill/>
        </p:spPr>
        <p:txBody>
          <a:bodyPr wrap="square" lIns="0" tIns="0" rIns="0" bIns="0">
            <a:spAutoFit/>
          </a:bodyPr>
          <a:lstStyle/>
          <a:p>
            <a:pPr algn="l">
              <a:lnSpc>
                <a:spcPct val="100000"/>
              </a:lnSpc>
            </a:pPr>
            <a:r>
              <a:rPr sz="1700" b="1">
                <a:solidFill>
                  <a:srgbClr val="16201C"/>
                </a:solidFill>
                <a:latin typeface="Cambria"/>
              </a:rPr>
              <a:t>Step 1 in detail — segmentation</a:t>
            </a:r>
          </a:p>
        </p:txBody>
      </p:sp>
      <p:sp>
        <p:nvSpPr>
          <p:cNvPr id="23" name="TextBox 22"/>
          <p:cNvSpPr txBox="1"/>
          <p:nvPr/>
        </p:nvSpPr>
        <p:spPr>
          <a:xfrm>
            <a:off x="868680" y="4864608"/>
            <a:ext cx="4754880" cy="1325880"/>
          </a:xfrm>
          <a:prstGeom prst="rect">
            <a:avLst/>
          </a:prstGeom>
          <a:noFill/>
        </p:spPr>
        <p:txBody>
          <a:bodyPr wrap="square" lIns="0" tIns="0" rIns="0" bIns="0">
            <a:spAutoFit/>
          </a:bodyPr>
          <a:lstStyle/>
          <a:p>
            <a:pPr>
              <a:lnSpc>
                <a:spcPct val="112000"/>
              </a:lnSpc>
              <a:spcAft>
                <a:spcPts val="500"/>
              </a:spcAft>
            </a:pPr>
            <a:r>
              <a:rPr sz="1050" dirty="0">
                <a:solidFill>
                  <a:srgbClr val="6B7280"/>
                </a:solidFill>
                <a:latin typeface="Calibri"/>
              </a:rPr>
              <a:t>·  DeepLabV3-MobileNetV3-Large, trained on FoodSeg103 — 104 classes collapsed to food / not-food</a:t>
            </a:r>
          </a:p>
          <a:p>
            <a:pPr>
              <a:lnSpc>
                <a:spcPct val="112000"/>
              </a:lnSpc>
              <a:spcAft>
                <a:spcPts val="500"/>
              </a:spcAft>
            </a:pPr>
            <a:r>
              <a:rPr sz="1050" dirty="0">
                <a:solidFill>
                  <a:srgbClr val="6B7280"/>
                </a:solidFill>
                <a:latin typeface="Calibri"/>
              </a:rPr>
              <a:t>·  Mask resized back to full resolution with nearest-</a:t>
            </a:r>
            <a:r>
              <a:rPr sz="1050" dirty="0" err="1">
                <a:solidFill>
                  <a:srgbClr val="6B7280"/>
                </a:solidFill>
                <a:latin typeface="Calibri"/>
              </a:rPr>
              <a:t>neighbour</a:t>
            </a:r>
            <a:r>
              <a:rPr sz="1050" dirty="0">
                <a:solidFill>
                  <a:srgbClr val="6B7280"/>
                </a:solidFill>
                <a:latin typeface="Calibri"/>
              </a:rPr>
              <a:t>, so it stays strictly binary</a:t>
            </a:r>
          </a:p>
          <a:p>
            <a:pPr>
              <a:lnSpc>
                <a:spcPct val="112000"/>
              </a:lnSpc>
              <a:spcAft>
                <a:spcPts val="500"/>
              </a:spcAft>
            </a:pPr>
            <a:r>
              <a:rPr sz="1050" dirty="0">
                <a:solidFill>
                  <a:srgbClr val="6B7280"/>
                </a:solidFill>
                <a:latin typeface="Calibri"/>
              </a:rPr>
              <a:t>·  Falls back to Otsu + </a:t>
            </a:r>
            <a:r>
              <a:rPr sz="1050" dirty="0" err="1">
                <a:solidFill>
                  <a:srgbClr val="6B7280"/>
                </a:solidFill>
                <a:latin typeface="Calibri"/>
              </a:rPr>
              <a:t>GrabCut</a:t>
            </a:r>
            <a:r>
              <a:rPr sz="1050" dirty="0">
                <a:solidFill>
                  <a:srgbClr val="6B7280"/>
                </a:solidFill>
                <a:latin typeface="Calibri"/>
              </a:rPr>
              <a:t>, then a </a:t>
            </a:r>
            <a:r>
              <a:rPr sz="1050" dirty="0" err="1">
                <a:solidFill>
                  <a:srgbClr val="6B7280"/>
                </a:solidFill>
                <a:latin typeface="Calibri"/>
              </a:rPr>
              <a:t>centre</a:t>
            </a:r>
            <a:r>
              <a:rPr sz="1050" dirty="0">
                <a:solidFill>
                  <a:srgbClr val="6B7280"/>
                </a:solidFill>
                <a:latin typeface="Calibri"/>
              </a:rPr>
              <a:t> box — a portion is always returned</a:t>
            </a:r>
          </a:p>
        </p:txBody>
      </p:sp>
      <p:sp>
        <p:nvSpPr>
          <p:cNvPr id="24" name="Rounded Rectangle 23"/>
          <p:cNvSpPr/>
          <p:nvPr/>
        </p:nvSpPr>
        <p:spPr>
          <a:xfrm>
            <a:off x="6263640" y="4206240"/>
            <a:ext cx="5394960" cy="2103120"/>
          </a:xfrm>
          <a:prstGeom prst="roundRect">
            <a:avLst>
              <a:gd name="adj" fmla="val 3117"/>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0" y="4416552"/>
            <a:ext cx="4754880" cy="384048"/>
          </a:xfrm>
          <a:prstGeom prst="rect">
            <a:avLst/>
          </a:prstGeom>
          <a:noFill/>
        </p:spPr>
        <p:txBody>
          <a:bodyPr wrap="square" lIns="0" tIns="0" rIns="0" bIns="0">
            <a:spAutoFit/>
          </a:bodyPr>
          <a:lstStyle/>
          <a:p>
            <a:pPr algn="l">
              <a:lnSpc>
                <a:spcPct val="100000"/>
              </a:lnSpc>
            </a:pPr>
            <a:r>
              <a:rPr sz="1700" b="1" dirty="0">
                <a:solidFill>
                  <a:srgbClr val="FFFFFF"/>
                </a:solidFill>
                <a:latin typeface="Cambria"/>
              </a:rPr>
              <a:t>Why a trained </a:t>
            </a:r>
            <a:r>
              <a:rPr sz="1700" b="1" dirty="0" err="1">
                <a:solidFill>
                  <a:srgbClr val="FFFFFF"/>
                </a:solidFill>
                <a:latin typeface="Cambria"/>
              </a:rPr>
              <a:t>segmenter</a:t>
            </a:r>
            <a:r>
              <a:rPr sz="1700" b="1" dirty="0">
                <a:solidFill>
                  <a:srgbClr val="FFFFFF"/>
                </a:solidFill>
                <a:latin typeface="Cambria"/>
              </a:rPr>
              <a:t> earns its place</a:t>
            </a:r>
          </a:p>
        </p:txBody>
      </p:sp>
      <p:sp>
        <p:nvSpPr>
          <p:cNvPr id="26" name="TextBox 25"/>
          <p:cNvSpPr txBox="1"/>
          <p:nvPr/>
        </p:nvSpPr>
        <p:spPr>
          <a:xfrm>
            <a:off x="6583680" y="4864608"/>
            <a:ext cx="4754880" cy="1325880"/>
          </a:xfrm>
          <a:prstGeom prst="rect">
            <a:avLst/>
          </a:prstGeom>
          <a:noFill/>
        </p:spPr>
        <p:txBody>
          <a:bodyPr wrap="square" lIns="0" tIns="0" rIns="0" bIns="0">
            <a:spAutoFit/>
          </a:bodyPr>
          <a:lstStyle/>
          <a:p>
            <a:pPr>
              <a:lnSpc>
                <a:spcPct val="112000"/>
              </a:lnSpc>
              <a:spcAft>
                <a:spcPts val="500"/>
              </a:spcAft>
            </a:pPr>
            <a:r>
              <a:rPr sz="1050">
                <a:solidFill>
                  <a:srgbClr val="C7CFCB"/>
                </a:solidFill>
                <a:latin typeface="Calibri"/>
              </a:rPr>
              <a:t>·  Classical thresholding grabs the plate, not the food — and the plate is far larger</a:t>
            </a:r>
          </a:p>
          <a:p>
            <a:pPr>
              <a:lnSpc>
                <a:spcPct val="112000"/>
              </a:lnSpc>
              <a:spcAft>
                <a:spcPts val="500"/>
              </a:spcAft>
            </a:pPr>
            <a:r>
              <a:rPr sz="1050">
                <a:solidFill>
                  <a:srgbClr val="C7CFCB"/>
                </a:solidFill>
                <a:latin typeface="Calibri"/>
              </a:rPr>
              <a:t>·  That error is systematic: every mass reads high, every time</a:t>
            </a:r>
          </a:p>
          <a:p>
            <a:pPr>
              <a:lnSpc>
                <a:spcPct val="112000"/>
              </a:lnSpc>
              <a:spcAft>
                <a:spcPts val="500"/>
              </a:spcAft>
            </a:pPr>
            <a:r>
              <a:rPr sz="1050">
                <a:solidFill>
                  <a:srgbClr val="C7CFCB"/>
                </a:solidFill>
                <a:latin typeface="Calibri"/>
              </a:rPr>
              <a:t>·  Recognition already named the dish, so a binary silhouette is all we need — a cleaner target and a higher IoU</a:t>
            </a:r>
          </a:p>
        </p:txBody>
      </p:sp>
      <p:sp>
        <p:nvSpPr>
          <p:cNvPr id="27" name="TextBox 26"/>
          <p:cNvSpPr txBox="1"/>
          <p:nvPr/>
        </p:nvSpPr>
        <p:spPr>
          <a:xfrm>
            <a:off x="11548872" y="6473952"/>
            <a:ext cx="457200" cy="274320"/>
          </a:xfrm>
          <a:prstGeom prst="rect">
            <a:avLst/>
          </a:prstGeom>
          <a:noFill/>
        </p:spPr>
        <p:txBody>
          <a:bodyPr wrap="square" lIns="0" tIns="0" rIns="0" bIns="0">
            <a:spAutoFit/>
          </a:bodyPr>
          <a:lstStyle/>
          <a:p>
            <a:pPr algn="l">
              <a:lnSpc>
                <a:spcPct val="100000"/>
              </a:lnSpc>
            </a:pPr>
            <a:r>
              <a:rPr sz="1000" b="0">
                <a:solidFill>
                  <a:srgbClr val="6B7280"/>
                </a:solidFill>
                <a:latin typeface="Calibri"/>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lIns="0" tIns="0" rIns="0" bIns="0">
            <a:spAutoFit/>
          </a:bodyPr>
          <a:lstStyle/>
          <a:p>
            <a:pPr algn="l">
              <a:lnSpc>
                <a:spcPct val="100000"/>
              </a:lnSpc>
            </a:pPr>
            <a:r>
              <a:rPr sz="1300" b="1">
                <a:solidFill>
                  <a:srgbClr val="1F7A54"/>
                </a:solidFill>
                <a:latin typeface="Calibri"/>
              </a:rPr>
              <a:t>PORTION ESTIMATION</a:t>
            </a:r>
          </a:p>
        </p:txBody>
      </p:sp>
      <p:sp>
        <p:nvSpPr>
          <p:cNvPr id="3" name="TextBox 2"/>
          <p:cNvSpPr txBox="1"/>
          <p:nvPr/>
        </p:nvSpPr>
        <p:spPr>
          <a:xfrm>
            <a:off x="548640" y="658368"/>
            <a:ext cx="10607040" cy="822960"/>
          </a:xfrm>
          <a:prstGeom prst="rect">
            <a:avLst/>
          </a:prstGeom>
          <a:noFill/>
        </p:spPr>
        <p:txBody>
          <a:bodyPr wrap="square" lIns="0" tIns="0" rIns="0" bIns="0">
            <a:spAutoFit/>
          </a:bodyPr>
          <a:lstStyle/>
          <a:p>
            <a:pPr algn="l">
              <a:lnSpc>
                <a:spcPct val="100000"/>
              </a:lnSpc>
            </a:pPr>
            <a:r>
              <a:rPr sz="3200" b="1">
                <a:solidFill>
                  <a:srgbClr val="16201C"/>
                </a:solidFill>
                <a:latin typeface="Cambria"/>
              </a:rPr>
              <a:t>Three ways to find the ruler, in order of trust</a:t>
            </a:r>
          </a:p>
        </p:txBody>
      </p:sp>
      <p:sp>
        <p:nvSpPr>
          <p:cNvPr id="4" name="TextBox 3"/>
          <p:cNvSpPr txBox="1"/>
          <p:nvPr/>
        </p:nvSpPr>
        <p:spPr>
          <a:xfrm>
            <a:off x="548640" y="1389888"/>
            <a:ext cx="10881360" cy="502920"/>
          </a:xfrm>
          <a:prstGeom prst="rect">
            <a:avLst/>
          </a:prstGeom>
          <a:noFill/>
        </p:spPr>
        <p:txBody>
          <a:bodyPr wrap="square" lIns="0" tIns="0" rIns="0" bIns="0">
            <a:spAutoFit/>
          </a:bodyPr>
          <a:lstStyle/>
          <a:p>
            <a:pPr algn="l">
              <a:lnSpc>
                <a:spcPct val="118000"/>
              </a:lnSpc>
            </a:pPr>
            <a:r>
              <a:rPr sz="1250" b="0">
                <a:solidFill>
                  <a:srgbClr val="6B7280"/>
                </a:solidFill>
                <a:latin typeface="Calibri"/>
              </a:rPr>
              <a:t>The estimator tries the strongest cue first. Whichever one succeeds also sets how wide the final range is — the band never claims more precision than the cue it came from.</a:t>
            </a:r>
          </a:p>
        </p:txBody>
      </p:sp>
      <p:sp>
        <p:nvSpPr>
          <p:cNvPr id="5" name="Rounded Rectangle 4"/>
          <p:cNvSpPr/>
          <p:nvPr/>
        </p:nvSpPr>
        <p:spPr>
          <a:xfrm>
            <a:off x="548640" y="2011680"/>
            <a:ext cx="3520440" cy="2788920"/>
          </a:xfrm>
          <a:prstGeom prst="roundRect">
            <a:avLst>
              <a:gd name="adj" fmla="val 3117"/>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212848"/>
            <a:ext cx="2880360" cy="256032"/>
          </a:xfrm>
          <a:prstGeom prst="rect">
            <a:avLst/>
          </a:prstGeom>
          <a:noFill/>
        </p:spPr>
        <p:txBody>
          <a:bodyPr wrap="square" lIns="0" tIns="0" rIns="0" bIns="0">
            <a:spAutoFit/>
          </a:bodyPr>
          <a:lstStyle/>
          <a:p>
            <a:pPr algn="l">
              <a:lnSpc>
                <a:spcPct val="100000"/>
              </a:lnSpc>
            </a:pPr>
            <a:r>
              <a:rPr sz="1050" b="1">
                <a:solidFill>
                  <a:srgbClr val="3DDC97"/>
                </a:solidFill>
                <a:latin typeface="Calibri"/>
              </a:rPr>
              <a:t>±12%</a:t>
            </a:r>
          </a:p>
        </p:txBody>
      </p:sp>
      <p:sp>
        <p:nvSpPr>
          <p:cNvPr id="7" name="TextBox 6"/>
          <p:cNvSpPr txBox="1"/>
          <p:nvPr/>
        </p:nvSpPr>
        <p:spPr>
          <a:xfrm>
            <a:off x="868680" y="2450592"/>
            <a:ext cx="2880360" cy="384048"/>
          </a:xfrm>
          <a:prstGeom prst="rect">
            <a:avLst/>
          </a:prstGeom>
          <a:noFill/>
        </p:spPr>
        <p:txBody>
          <a:bodyPr wrap="square" lIns="0" tIns="0" rIns="0" bIns="0">
            <a:spAutoFit/>
          </a:bodyPr>
          <a:lstStyle/>
          <a:p>
            <a:pPr algn="l">
              <a:lnSpc>
                <a:spcPct val="100000"/>
              </a:lnSpc>
            </a:pPr>
            <a:r>
              <a:rPr sz="1800" b="1">
                <a:solidFill>
                  <a:srgbClr val="FFFFFF"/>
                </a:solidFill>
                <a:latin typeface="Cambria"/>
              </a:rPr>
              <a:t>Reference object</a:t>
            </a:r>
          </a:p>
        </p:txBody>
      </p:sp>
      <p:sp>
        <p:nvSpPr>
          <p:cNvPr id="8" name="TextBox 7"/>
          <p:cNvSpPr txBox="1"/>
          <p:nvPr/>
        </p:nvSpPr>
        <p:spPr>
          <a:xfrm>
            <a:off x="868680" y="2926080"/>
            <a:ext cx="2880360" cy="1737360"/>
          </a:xfrm>
          <a:prstGeom prst="rect">
            <a:avLst/>
          </a:prstGeom>
          <a:noFill/>
        </p:spPr>
        <p:txBody>
          <a:bodyPr wrap="square" lIns="0" tIns="0" rIns="0" bIns="0">
            <a:spAutoFit/>
          </a:bodyPr>
          <a:lstStyle/>
          <a:p>
            <a:pPr>
              <a:lnSpc>
                <a:spcPct val="112000"/>
              </a:lnSpc>
              <a:spcAft>
                <a:spcPts val="500"/>
              </a:spcAft>
            </a:pPr>
            <a:r>
              <a:rPr sz="1000" dirty="0">
                <a:solidFill>
                  <a:srgbClr val="C7CFCB"/>
                </a:solidFill>
                <a:latin typeface="Calibri"/>
              </a:rPr>
              <a:t>·  cm/</a:t>
            </a:r>
            <a:r>
              <a:rPr sz="1000" dirty="0" err="1">
                <a:solidFill>
                  <a:srgbClr val="C7CFCB"/>
                </a:solidFill>
                <a:latin typeface="Calibri"/>
              </a:rPr>
              <a:t>px</a:t>
            </a:r>
            <a:r>
              <a:rPr sz="1000" dirty="0">
                <a:solidFill>
                  <a:srgbClr val="C7CFCB"/>
                </a:solidFill>
                <a:latin typeface="Calibri"/>
              </a:rPr>
              <a:t> = real size ÷ pixel length</a:t>
            </a:r>
          </a:p>
          <a:p>
            <a:pPr>
              <a:lnSpc>
                <a:spcPct val="112000"/>
              </a:lnSpc>
              <a:spcAft>
                <a:spcPts val="500"/>
              </a:spcAft>
            </a:pPr>
            <a:r>
              <a:rPr sz="1000" dirty="0">
                <a:solidFill>
                  <a:srgbClr val="C7CFCB"/>
                </a:solidFill>
                <a:latin typeface="Calibri"/>
              </a:rPr>
              <a:t>·  Off-the-shelf COCO detector finds fork, spoon, knife — zero training needed</a:t>
            </a:r>
          </a:p>
          <a:p>
            <a:pPr>
              <a:lnSpc>
                <a:spcPct val="112000"/>
              </a:lnSpc>
              <a:spcAft>
                <a:spcPts val="500"/>
              </a:spcAft>
            </a:pPr>
            <a:r>
              <a:rPr sz="1000" dirty="0">
                <a:solidFill>
                  <a:srgbClr val="C7CFCB"/>
                </a:solidFill>
                <a:latin typeface="Calibri"/>
              </a:rPr>
              <a:t>·  Pixel length is the box diagonal √(w²+h²): a utensil at 45° makes an almost-square box, and one side under-reads by ~30%</a:t>
            </a:r>
          </a:p>
        </p:txBody>
      </p:sp>
      <p:sp>
        <p:nvSpPr>
          <p:cNvPr id="9" name="Rounded Rectangle 8"/>
          <p:cNvSpPr/>
          <p:nvPr/>
        </p:nvSpPr>
        <p:spPr>
          <a:xfrm>
            <a:off x="4251960" y="2011680"/>
            <a:ext cx="3520440" cy="2788920"/>
          </a:xfrm>
          <a:prstGeom prst="roundRect">
            <a:avLst>
              <a:gd name="adj" fmla="val 3117"/>
            </a:avLst>
          </a:prstGeom>
          <a:solidFill>
            <a:srgbClr val="F1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2212848"/>
            <a:ext cx="2880360" cy="256032"/>
          </a:xfrm>
          <a:prstGeom prst="rect">
            <a:avLst/>
          </a:prstGeom>
          <a:noFill/>
        </p:spPr>
        <p:txBody>
          <a:bodyPr wrap="square" lIns="0" tIns="0" rIns="0" bIns="0">
            <a:spAutoFit/>
          </a:bodyPr>
          <a:lstStyle/>
          <a:p>
            <a:pPr algn="l">
              <a:lnSpc>
                <a:spcPct val="100000"/>
              </a:lnSpc>
            </a:pPr>
            <a:r>
              <a:rPr sz="1050" b="1">
                <a:solidFill>
                  <a:srgbClr val="1F7A54"/>
                </a:solidFill>
                <a:latin typeface="Calibri"/>
              </a:rPr>
              <a:t>range-derived</a:t>
            </a:r>
          </a:p>
        </p:txBody>
      </p:sp>
      <p:sp>
        <p:nvSpPr>
          <p:cNvPr id="11" name="TextBox 10"/>
          <p:cNvSpPr txBox="1"/>
          <p:nvPr/>
        </p:nvSpPr>
        <p:spPr>
          <a:xfrm>
            <a:off x="4572000" y="2450592"/>
            <a:ext cx="2880360" cy="384048"/>
          </a:xfrm>
          <a:prstGeom prst="rect">
            <a:avLst/>
          </a:prstGeom>
          <a:noFill/>
        </p:spPr>
        <p:txBody>
          <a:bodyPr wrap="square" lIns="0" tIns="0" rIns="0" bIns="0">
            <a:spAutoFit/>
          </a:bodyPr>
          <a:lstStyle/>
          <a:p>
            <a:pPr algn="l">
              <a:lnSpc>
                <a:spcPct val="100000"/>
              </a:lnSpc>
            </a:pPr>
            <a:r>
              <a:rPr sz="1800" b="1">
                <a:solidFill>
                  <a:srgbClr val="16201C"/>
                </a:solidFill>
                <a:latin typeface="Cambria"/>
              </a:rPr>
              <a:t>Container prior</a:t>
            </a:r>
          </a:p>
        </p:txBody>
      </p:sp>
      <p:sp>
        <p:nvSpPr>
          <p:cNvPr id="12" name="TextBox 11"/>
          <p:cNvSpPr txBox="1"/>
          <p:nvPr/>
        </p:nvSpPr>
        <p:spPr>
          <a:xfrm>
            <a:off x="4572000" y="2926080"/>
            <a:ext cx="2880360" cy="1737360"/>
          </a:xfrm>
          <a:prstGeom prst="rect">
            <a:avLst/>
          </a:prstGeom>
          <a:noFill/>
        </p:spPr>
        <p:txBody>
          <a:bodyPr wrap="square" lIns="0" tIns="0" rIns="0" bIns="0">
            <a:spAutoFit/>
          </a:bodyPr>
          <a:lstStyle/>
          <a:p>
            <a:pPr>
              <a:lnSpc>
                <a:spcPct val="112000"/>
              </a:lnSpc>
              <a:spcAft>
                <a:spcPts val="500"/>
              </a:spcAft>
            </a:pPr>
            <a:r>
              <a:rPr sz="1000" dirty="0">
                <a:solidFill>
                  <a:srgbClr val="6B7280"/>
                </a:solidFill>
                <a:latin typeface="Calibri"/>
              </a:rPr>
              <a:t>·  MobileNetV3-Small on Open Images V7 crops → plate or bowl</a:t>
            </a:r>
          </a:p>
          <a:p>
            <a:pPr>
              <a:lnSpc>
                <a:spcPct val="112000"/>
              </a:lnSpc>
              <a:spcAft>
                <a:spcPts val="500"/>
              </a:spcAft>
            </a:pPr>
            <a:r>
              <a:rPr sz="1000" dirty="0">
                <a:solidFill>
                  <a:srgbClr val="6B7280"/>
                </a:solidFill>
                <a:latin typeface="Calibri"/>
              </a:rPr>
              <a:t>·  OpenCV rim detector measures its pixel area, thresholding at both polarities</a:t>
            </a:r>
          </a:p>
          <a:p>
            <a:pPr>
              <a:lnSpc>
                <a:spcPct val="112000"/>
              </a:lnSpc>
              <a:spcAft>
                <a:spcPts val="500"/>
              </a:spcAft>
            </a:pPr>
            <a:r>
              <a:rPr sz="1000" dirty="0">
                <a:solidFill>
                  <a:srgbClr val="6B7280"/>
                </a:solidFill>
                <a:latin typeface="Calibri"/>
              </a:rPr>
              <a:t>·  cm/</a:t>
            </a:r>
            <a:r>
              <a:rPr sz="1000" dirty="0" err="1">
                <a:solidFill>
                  <a:srgbClr val="6B7280"/>
                </a:solidFill>
                <a:latin typeface="Calibri"/>
              </a:rPr>
              <a:t>px</a:t>
            </a:r>
            <a:r>
              <a:rPr sz="1000" dirty="0">
                <a:solidFill>
                  <a:srgbClr val="6B7280"/>
                </a:solidFill>
                <a:latin typeface="Calibri"/>
              </a:rPr>
              <a:t> = √(</a:t>
            </a:r>
            <a:r>
              <a:rPr sz="1000" dirty="0" err="1">
                <a:solidFill>
                  <a:srgbClr val="6B7280"/>
                </a:solidFill>
                <a:latin typeface="Calibri"/>
              </a:rPr>
              <a:t>A_real</a:t>
            </a:r>
            <a:r>
              <a:rPr sz="1000" dirty="0">
                <a:solidFill>
                  <a:srgbClr val="6B7280"/>
                </a:solidFill>
                <a:latin typeface="Calibri"/>
              </a:rPr>
              <a:t> ÷ </a:t>
            </a:r>
            <a:r>
              <a:rPr sz="1000" dirty="0" err="1">
                <a:solidFill>
                  <a:srgbClr val="6B7280"/>
                </a:solidFill>
                <a:latin typeface="Calibri"/>
              </a:rPr>
              <a:t>A_px</a:t>
            </a:r>
            <a:r>
              <a:rPr sz="1000" dirty="0">
                <a:solidFill>
                  <a:srgbClr val="6B7280"/>
                </a:solidFill>
                <a:latin typeface="Calibri"/>
              </a:rPr>
              <a:t>) — area-based, so a square takeaway box works like a round plate</a:t>
            </a:r>
          </a:p>
        </p:txBody>
      </p:sp>
      <p:sp>
        <p:nvSpPr>
          <p:cNvPr id="13" name="Rounded Rectangle 12"/>
          <p:cNvSpPr/>
          <p:nvPr/>
        </p:nvSpPr>
        <p:spPr>
          <a:xfrm>
            <a:off x="7955279" y="2011680"/>
            <a:ext cx="3520440" cy="2788920"/>
          </a:xfrm>
          <a:prstGeom prst="roundRect">
            <a:avLst>
              <a:gd name="adj" fmla="val 3117"/>
            </a:avLst>
          </a:prstGeom>
          <a:solidFill>
            <a:srgbClr val="F1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75319" y="2212848"/>
            <a:ext cx="2880360" cy="256032"/>
          </a:xfrm>
          <a:prstGeom prst="rect">
            <a:avLst/>
          </a:prstGeom>
          <a:noFill/>
        </p:spPr>
        <p:txBody>
          <a:bodyPr wrap="square" lIns="0" tIns="0" rIns="0" bIns="0">
            <a:spAutoFit/>
          </a:bodyPr>
          <a:lstStyle/>
          <a:p>
            <a:pPr algn="l">
              <a:lnSpc>
                <a:spcPct val="100000"/>
              </a:lnSpc>
            </a:pPr>
            <a:r>
              <a:rPr sz="1050" b="1">
                <a:solidFill>
                  <a:srgbClr val="1F7A54"/>
                </a:solidFill>
                <a:latin typeface="Calibri"/>
              </a:rPr>
              <a:t>±35%</a:t>
            </a:r>
          </a:p>
        </p:txBody>
      </p:sp>
      <p:sp>
        <p:nvSpPr>
          <p:cNvPr id="15" name="TextBox 14"/>
          <p:cNvSpPr txBox="1"/>
          <p:nvPr/>
        </p:nvSpPr>
        <p:spPr>
          <a:xfrm>
            <a:off x="8275319" y="2450592"/>
            <a:ext cx="2880360" cy="384048"/>
          </a:xfrm>
          <a:prstGeom prst="rect">
            <a:avLst/>
          </a:prstGeom>
          <a:noFill/>
        </p:spPr>
        <p:txBody>
          <a:bodyPr wrap="square" lIns="0" tIns="0" rIns="0" bIns="0">
            <a:spAutoFit/>
          </a:bodyPr>
          <a:lstStyle/>
          <a:p>
            <a:pPr algn="l">
              <a:lnSpc>
                <a:spcPct val="100000"/>
              </a:lnSpc>
            </a:pPr>
            <a:r>
              <a:rPr sz="1800" b="1">
                <a:solidFill>
                  <a:srgbClr val="16201C"/>
                </a:solidFill>
                <a:latin typeface="Cambria"/>
              </a:rPr>
              <a:t>Framing only</a:t>
            </a:r>
          </a:p>
        </p:txBody>
      </p:sp>
      <p:sp>
        <p:nvSpPr>
          <p:cNvPr id="16" name="TextBox 15"/>
          <p:cNvSpPr txBox="1"/>
          <p:nvPr/>
        </p:nvSpPr>
        <p:spPr>
          <a:xfrm>
            <a:off x="8275319" y="2926080"/>
            <a:ext cx="2880360" cy="1737360"/>
          </a:xfrm>
          <a:prstGeom prst="rect">
            <a:avLst/>
          </a:prstGeom>
          <a:noFill/>
        </p:spPr>
        <p:txBody>
          <a:bodyPr wrap="square" lIns="0" tIns="0" rIns="0" bIns="0">
            <a:spAutoFit/>
          </a:bodyPr>
          <a:lstStyle/>
          <a:p>
            <a:pPr>
              <a:lnSpc>
                <a:spcPct val="112000"/>
              </a:lnSpc>
              <a:spcAft>
                <a:spcPts val="500"/>
              </a:spcAft>
            </a:pPr>
            <a:r>
              <a:rPr sz="1000">
                <a:solidFill>
                  <a:srgbClr val="6B7280"/>
                </a:solidFill>
                <a:latin typeface="Calibri"/>
              </a:rPr>
              <a:t>·  No reference and no container: assume the frame spans roughly 26 cm</a:t>
            </a:r>
          </a:p>
          <a:p>
            <a:pPr>
              <a:lnSpc>
                <a:spcPct val="112000"/>
              </a:lnSpc>
              <a:spcAft>
                <a:spcPts val="500"/>
              </a:spcAft>
            </a:pPr>
            <a:r>
              <a:rPr sz="1000">
                <a:solidFill>
                  <a:srgbClr val="6B7280"/>
                </a:solidFill>
                <a:latin typeface="Calibri"/>
              </a:rPr>
              <a:t>·  Deliberately the widest band in the pipeline</a:t>
            </a:r>
          </a:p>
          <a:p>
            <a:pPr>
              <a:lnSpc>
                <a:spcPct val="112000"/>
              </a:lnSpc>
              <a:spcAft>
                <a:spcPts val="500"/>
              </a:spcAft>
            </a:pPr>
            <a:r>
              <a:rPr sz="1000">
                <a:solidFill>
                  <a:srgbClr val="6B7280"/>
                </a:solidFill>
                <a:latin typeface="Calibri"/>
              </a:rPr>
              <a:t>·  Reported as shape_only, so it is never mistaken for a measurement</a:t>
            </a:r>
          </a:p>
        </p:txBody>
      </p:sp>
      <p:sp>
        <p:nvSpPr>
          <p:cNvPr id="17" name="Rounded Rectangle 16"/>
          <p:cNvSpPr/>
          <p:nvPr/>
        </p:nvSpPr>
        <p:spPr>
          <a:xfrm>
            <a:off x="548640" y="4983480"/>
            <a:ext cx="11109960" cy="1280160"/>
          </a:xfrm>
          <a:prstGeom prst="roundRect">
            <a:avLst>
              <a:gd name="adj" fmla="val 3117"/>
            </a:avLst>
          </a:prstGeom>
          <a:solidFill>
            <a:srgbClr val="F1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5138928"/>
            <a:ext cx="10469880" cy="256032"/>
          </a:xfrm>
          <a:prstGeom prst="rect">
            <a:avLst/>
          </a:prstGeom>
          <a:noFill/>
        </p:spPr>
        <p:txBody>
          <a:bodyPr wrap="square" lIns="0" tIns="0" rIns="0" bIns="0">
            <a:spAutoFit/>
          </a:bodyPr>
          <a:lstStyle/>
          <a:p>
            <a:pPr algn="l">
              <a:lnSpc>
                <a:spcPct val="100000"/>
              </a:lnSpc>
            </a:pPr>
            <a:r>
              <a:rPr sz="1200" b="1">
                <a:solidFill>
                  <a:srgbClr val="16201C"/>
                </a:solidFill>
                <a:latin typeface="Calibri"/>
              </a:rPr>
              <a:t>Reference priority — most reliable first</a:t>
            </a:r>
          </a:p>
        </p:txBody>
      </p:sp>
      <p:sp>
        <p:nvSpPr>
          <p:cNvPr id="19" name="TextBox 18"/>
          <p:cNvSpPr txBox="1"/>
          <p:nvPr/>
        </p:nvSpPr>
        <p:spPr>
          <a:xfrm>
            <a:off x="868680" y="5431536"/>
            <a:ext cx="10469880" cy="274320"/>
          </a:xfrm>
          <a:prstGeom prst="rect">
            <a:avLst/>
          </a:prstGeom>
          <a:noFill/>
        </p:spPr>
        <p:txBody>
          <a:bodyPr wrap="square" lIns="0" tIns="0" rIns="0" bIns="0">
            <a:spAutoFit/>
          </a:bodyPr>
          <a:lstStyle/>
          <a:p>
            <a:pPr algn="l">
              <a:lnSpc>
                <a:spcPct val="100000"/>
              </a:lnSpc>
            </a:pPr>
            <a:r>
              <a:rPr sz="1050" b="0" dirty="0">
                <a:solidFill>
                  <a:srgbClr val="6B7280"/>
                </a:solidFill>
                <a:latin typeface="Calibri"/>
              </a:rPr>
              <a:t>Credit card 8.56 cm (ISO/IEC 7810 — zero variance)  ›  Smartphone 14.7  ›  Coin 2.4  ›  Fork 19 · Spoon 18 · Knife 21  ›  Chopsticks 24  ›  Hand 8.4 (varies per person)</a:t>
            </a:r>
          </a:p>
        </p:txBody>
      </p:sp>
      <p:sp>
        <p:nvSpPr>
          <p:cNvPr id="20" name="TextBox 19"/>
          <p:cNvSpPr txBox="1"/>
          <p:nvPr/>
        </p:nvSpPr>
        <p:spPr>
          <a:xfrm>
            <a:off x="868680" y="5760720"/>
            <a:ext cx="10469880" cy="320040"/>
          </a:xfrm>
          <a:prstGeom prst="rect">
            <a:avLst/>
          </a:prstGeom>
          <a:noFill/>
        </p:spPr>
        <p:txBody>
          <a:bodyPr wrap="square" lIns="0" tIns="0" rIns="0" bIns="0">
            <a:spAutoFit/>
          </a:bodyPr>
          <a:lstStyle/>
          <a:p>
            <a:pPr algn="l">
              <a:lnSpc>
                <a:spcPct val="115000"/>
              </a:lnSpc>
            </a:pPr>
            <a:r>
              <a:rPr sz="1050" b="0">
                <a:solidFill>
                  <a:srgbClr val="6B7280"/>
                </a:solidFill>
                <a:latin typeface="Calibri"/>
              </a:rPr>
              <a:t>Two references in frame? The higher-priority one governs; if the next agrees within 15% they are averaged, otherwise the more reliable one is trusted alone. Each entry records which dimension its value refers to, so a fork's width is never measured against its length.</a:t>
            </a:r>
          </a:p>
        </p:txBody>
      </p:sp>
      <p:sp>
        <p:nvSpPr>
          <p:cNvPr id="21" name="TextBox 20"/>
          <p:cNvSpPr txBox="1"/>
          <p:nvPr/>
        </p:nvSpPr>
        <p:spPr>
          <a:xfrm>
            <a:off x="11548872" y="6473952"/>
            <a:ext cx="457200" cy="274320"/>
          </a:xfrm>
          <a:prstGeom prst="rect">
            <a:avLst/>
          </a:prstGeom>
          <a:noFill/>
        </p:spPr>
        <p:txBody>
          <a:bodyPr wrap="square" lIns="0" tIns="0" rIns="0" bIns="0">
            <a:spAutoFit/>
          </a:bodyPr>
          <a:lstStyle/>
          <a:p>
            <a:pPr algn="l">
              <a:lnSpc>
                <a:spcPct val="100000"/>
              </a:lnSpc>
            </a:pPr>
            <a:r>
              <a:rPr sz="1000" b="0">
                <a:solidFill>
                  <a:srgbClr val="6B7280"/>
                </a:solidFill>
                <a:latin typeface="Calibri"/>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lIns="0" tIns="0" rIns="0" bIns="0">
            <a:spAutoFit/>
          </a:bodyPr>
          <a:lstStyle/>
          <a:p>
            <a:pPr algn="l">
              <a:lnSpc>
                <a:spcPct val="100000"/>
              </a:lnSpc>
            </a:pPr>
            <a:r>
              <a:rPr sz="1300" b="1">
                <a:solidFill>
                  <a:srgbClr val="1F7A54"/>
                </a:solidFill>
                <a:latin typeface="Calibri"/>
              </a:rPr>
              <a:t>PORTION ESTIMATION</a:t>
            </a:r>
          </a:p>
        </p:txBody>
      </p:sp>
      <p:sp>
        <p:nvSpPr>
          <p:cNvPr id="3" name="TextBox 2"/>
          <p:cNvSpPr txBox="1"/>
          <p:nvPr/>
        </p:nvSpPr>
        <p:spPr>
          <a:xfrm>
            <a:off x="548640" y="658368"/>
            <a:ext cx="10607040" cy="822960"/>
          </a:xfrm>
          <a:prstGeom prst="rect">
            <a:avLst/>
          </a:prstGeom>
          <a:noFill/>
        </p:spPr>
        <p:txBody>
          <a:bodyPr wrap="square" lIns="0" tIns="0" rIns="0" bIns="0">
            <a:spAutoFit/>
          </a:bodyPr>
          <a:lstStyle/>
          <a:p>
            <a:pPr algn="l">
              <a:lnSpc>
                <a:spcPct val="100000"/>
              </a:lnSpc>
            </a:pPr>
            <a:r>
              <a:rPr sz="3200" b="1" dirty="0">
                <a:solidFill>
                  <a:srgbClr val="16201C"/>
                </a:solidFill>
                <a:latin typeface="Cambria"/>
              </a:rPr>
              <a:t>From pixels to grams — with an honest error bar</a:t>
            </a:r>
          </a:p>
        </p:txBody>
      </p:sp>
      <p:sp>
        <p:nvSpPr>
          <p:cNvPr id="4" name="TextBox 3"/>
          <p:cNvSpPr txBox="1"/>
          <p:nvPr/>
        </p:nvSpPr>
        <p:spPr>
          <a:xfrm>
            <a:off x="548640" y="1389888"/>
            <a:ext cx="10881360" cy="502920"/>
          </a:xfrm>
          <a:prstGeom prst="rect">
            <a:avLst/>
          </a:prstGeom>
          <a:noFill/>
        </p:spPr>
        <p:txBody>
          <a:bodyPr wrap="square" lIns="0" tIns="0" rIns="0" bIns="0">
            <a:spAutoFit/>
          </a:bodyPr>
          <a:lstStyle/>
          <a:p>
            <a:pPr algn="l">
              <a:lnSpc>
                <a:spcPct val="118000"/>
              </a:lnSpc>
            </a:pPr>
            <a:r>
              <a:rPr sz="1250" b="0">
                <a:solidFill>
                  <a:srgbClr val="6B7280"/>
                </a:solidFill>
                <a:latin typeface="Calibri"/>
              </a:rPr>
              <a:t>One measured area drives everything downstream: six shape models, 104 tuned food classes, and a per-class density table.</a:t>
            </a:r>
          </a:p>
        </p:txBody>
      </p:sp>
      <p:sp>
        <p:nvSpPr>
          <p:cNvPr id="5" name="Rounded Rectangle 4"/>
          <p:cNvSpPr/>
          <p:nvPr/>
        </p:nvSpPr>
        <p:spPr>
          <a:xfrm>
            <a:off x="548640" y="1965960"/>
            <a:ext cx="11109960" cy="530352"/>
          </a:xfrm>
          <a:prstGeom prst="roundRect">
            <a:avLst>
              <a:gd name="adj" fmla="val 3117"/>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121408"/>
            <a:ext cx="11109960" cy="274320"/>
          </a:xfrm>
          <a:prstGeom prst="rect">
            <a:avLst/>
          </a:prstGeom>
          <a:noFill/>
        </p:spPr>
        <p:txBody>
          <a:bodyPr wrap="square" lIns="0" tIns="0" rIns="0" bIns="0">
            <a:spAutoFit/>
          </a:bodyPr>
          <a:lstStyle/>
          <a:p>
            <a:pPr algn="ctr">
              <a:lnSpc>
                <a:spcPct val="100000"/>
              </a:lnSpc>
            </a:pPr>
            <a:r>
              <a:rPr sz="1250" b="1">
                <a:solidFill>
                  <a:srgbClr val="3DDC97"/>
                </a:solidFill>
                <a:latin typeface="Cambria"/>
              </a:rPr>
              <a:t>mask area (cm²)   →   shape prior   →   volume (cm³)   →   × density   →   mass (g)   →   clamp   →   min / point / max</a:t>
            </a:r>
          </a:p>
        </p:txBody>
      </p:sp>
      <p:sp>
        <p:nvSpPr>
          <p:cNvPr id="7" name="Rounded Rectangle 6"/>
          <p:cNvSpPr/>
          <p:nvPr/>
        </p:nvSpPr>
        <p:spPr>
          <a:xfrm>
            <a:off x="548640" y="2743200"/>
            <a:ext cx="5394960" cy="2286000"/>
          </a:xfrm>
          <a:prstGeom prst="roundRect">
            <a:avLst>
              <a:gd name="adj" fmla="val 3117"/>
            </a:avLst>
          </a:prstGeom>
          <a:solidFill>
            <a:srgbClr val="F1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944368"/>
            <a:ext cx="4754880" cy="384048"/>
          </a:xfrm>
          <a:prstGeom prst="rect">
            <a:avLst/>
          </a:prstGeom>
          <a:noFill/>
        </p:spPr>
        <p:txBody>
          <a:bodyPr wrap="square" lIns="0" tIns="0" rIns="0" bIns="0">
            <a:spAutoFit/>
          </a:bodyPr>
          <a:lstStyle/>
          <a:p>
            <a:pPr algn="l">
              <a:lnSpc>
                <a:spcPct val="100000"/>
              </a:lnSpc>
            </a:pPr>
            <a:r>
              <a:rPr sz="1700" b="1">
                <a:solidFill>
                  <a:srgbClr val="16201C"/>
                </a:solidFill>
                <a:latin typeface="Cambria"/>
              </a:rPr>
              <a:t>Six shape models, tuned per class</a:t>
            </a:r>
          </a:p>
        </p:txBody>
      </p:sp>
      <p:sp>
        <p:nvSpPr>
          <p:cNvPr id="9" name="TextBox 8"/>
          <p:cNvSpPr txBox="1"/>
          <p:nvPr/>
        </p:nvSpPr>
        <p:spPr>
          <a:xfrm>
            <a:off x="868680" y="3401568"/>
            <a:ext cx="4754880" cy="1554480"/>
          </a:xfrm>
          <a:prstGeom prst="rect">
            <a:avLst/>
          </a:prstGeom>
          <a:noFill/>
        </p:spPr>
        <p:txBody>
          <a:bodyPr wrap="square" lIns="0" tIns="0" rIns="0" bIns="0">
            <a:spAutoFit/>
          </a:bodyPr>
          <a:lstStyle/>
          <a:p>
            <a:pPr>
              <a:lnSpc>
                <a:spcPct val="112000"/>
              </a:lnSpc>
              <a:spcAft>
                <a:spcPts val="500"/>
              </a:spcAft>
            </a:pPr>
            <a:r>
              <a:rPr sz="1050" dirty="0">
                <a:solidFill>
                  <a:srgbClr val="6B7280"/>
                </a:solidFill>
                <a:latin typeface="Calibri"/>
              </a:rPr>
              <a:t>·  flat disc (47) · ellipsoid (18) · irregular pile (16) · liquid in bowl (13) · cylinder (8) · dome (2)</a:t>
            </a:r>
          </a:p>
          <a:p>
            <a:pPr>
              <a:lnSpc>
                <a:spcPct val="112000"/>
              </a:lnSpc>
              <a:spcAft>
                <a:spcPts val="500"/>
              </a:spcAft>
            </a:pPr>
            <a:r>
              <a:rPr sz="1050" dirty="0">
                <a:solidFill>
                  <a:srgbClr val="6B7280"/>
                </a:solidFill>
                <a:latin typeface="Calibri"/>
              </a:rPr>
              <a:t>·  pizza = flat disc, h 1.5 cm   ·   hamburger = ellipsoid, h 6 cm, density 0.45 g/cm³</a:t>
            </a:r>
          </a:p>
          <a:p>
            <a:pPr>
              <a:lnSpc>
                <a:spcPct val="112000"/>
              </a:lnSpc>
              <a:spcAft>
                <a:spcPts val="500"/>
              </a:spcAft>
            </a:pPr>
            <a:r>
              <a:rPr sz="1050" dirty="0">
                <a:solidFill>
                  <a:srgbClr val="6B7280"/>
                </a:solidFill>
                <a:latin typeface="Calibri"/>
              </a:rPr>
              <a:t>·  fries = irregular pile: </a:t>
            </a:r>
            <a:r>
              <a:rPr sz="1050" dirty="0" err="1">
                <a:solidFill>
                  <a:srgbClr val="6B7280"/>
                </a:solidFill>
                <a:latin typeface="Calibri"/>
              </a:rPr>
              <a:t>h_eff</a:t>
            </a:r>
            <a:r>
              <a:rPr sz="1050" dirty="0">
                <a:solidFill>
                  <a:srgbClr val="6B7280"/>
                </a:solidFill>
                <a:latin typeface="Calibri"/>
              </a:rPr>
              <a:t> = k·√A, so a heap grows taller as it spreads</a:t>
            </a:r>
          </a:p>
          <a:p>
            <a:pPr>
              <a:lnSpc>
                <a:spcPct val="112000"/>
              </a:lnSpc>
              <a:spcAft>
                <a:spcPts val="500"/>
              </a:spcAft>
            </a:pPr>
            <a:r>
              <a:rPr sz="1050" dirty="0">
                <a:solidFill>
                  <a:srgbClr val="6B7280"/>
                </a:solidFill>
                <a:latin typeface="Calibri"/>
              </a:rPr>
              <a:t>·  A per-class mass clamp rejects a mask that has leaked onto the plate</a:t>
            </a:r>
          </a:p>
        </p:txBody>
      </p:sp>
      <p:sp>
        <p:nvSpPr>
          <p:cNvPr id="10" name="Rounded Rectangle 9"/>
          <p:cNvSpPr/>
          <p:nvPr/>
        </p:nvSpPr>
        <p:spPr>
          <a:xfrm>
            <a:off x="6263640" y="2743200"/>
            <a:ext cx="5394960" cy="2286000"/>
          </a:xfrm>
          <a:prstGeom prst="roundRect">
            <a:avLst>
              <a:gd name="adj" fmla="val 3117"/>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0" y="2944368"/>
            <a:ext cx="4754880" cy="384048"/>
          </a:xfrm>
          <a:prstGeom prst="rect">
            <a:avLst/>
          </a:prstGeom>
          <a:noFill/>
        </p:spPr>
        <p:txBody>
          <a:bodyPr wrap="square" lIns="0" tIns="0" rIns="0" bIns="0">
            <a:spAutoFit/>
          </a:bodyPr>
          <a:lstStyle/>
          <a:p>
            <a:pPr algn="l">
              <a:lnSpc>
                <a:spcPct val="100000"/>
              </a:lnSpc>
            </a:pPr>
            <a:r>
              <a:rPr sz="1700" b="1">
                <a:solidFill>
                  <a:srgbClr val="FFFFFF"/>
                </a:solidFill>
                <a:latin typeface="Cambria"/>
              </a:rPr>
              <a:t>What the API actually returns</a:t>
            </a:r>
          </a:p>
        </p:txBody>
      </p:sp>
      <p:sp>
        <p:nvSpPr>
          <p:cNvPr id="12" name="TextBox 11"/>
          <p:cNvSpPr txBox="1"/>
          <p:nvPr/>
        </p:nvSpPr>
        <p:spPr>
          <a:xfrm>
            <a:off x="6583680" y="3383280"/>
            <a:ext cx="1783080" cy="365760"/>
          </a:xfrm>
          <a:prstGeom prst="rect">
            <a:avLst/>
          </a:prstGeom>
          <a:noFill/>
        </p:spPr>
        <p:txBody>
          <a:bodyPr wrap="square" lIns="0" tIns="0" rIns="0" bIns="0">
            <a:spAutoFit/>
          </a:bodyPr>
          <a:lstStyle/>
          <a:p>
            <a:pPr algn="l">
              <a:lnSpc>
                <a:spcPct val="100000"/>
              </a:lnSpc>
            </a:pPr>
            <a:r>
              <a:rPr sz="1000" b="0">
                <a:solidFill>
                  <a:srgbClr val="9CA8A3"/>
                </a:solidFill>
                <a:latin typeface="Calibri"/>
              </a:rPr>
              <a:t>min_g / max_g / point_g</a:t>
            </a:r>
          </a:p>
        </p:txBody>
      </p:sp>
      <p:sp>
        <p:nvSpPr>
          <p:cNvPr id="13" name="TextBox 12"/>
          <p:cNvSpPr txBox="1"/>
          <p:nvPr/>
        </p:nvSpPr>
        <p:spPr>
          <a:xfrm>
            <a:off x="8503920" y="3383280"/>
            <a:ext cx="2834640" cy="365760"/>
          </a:xfrm>
          <a:prstGeom prst="rect">
            <a:avLst/>
          </a:prstGeom>
          <a:noFill/>
        </p:spPr>
        <p:txBody>
          <a:bodyPr wrap="square" lIns="0" tIns="0" rIns="0" bIns="0">
            <a:spAutoFit/>
          </a:bodyPr>
          <a:lstStyle/>
          <a:p>
            <a:pPr algn="l">
              <a:lnSpc>
                <a:spcPct val="100000"/>
              </a:lnSpc>
            </a:pPr>
            <a:r>
              <a:rPr sz="1000" b="0">
                <a:solidFill>
                  <a:srgbClr val="FFFFFF"/>
                </a:solidFill>
                <a:latin typeface="Calibri"/>
              </a:rPr>
              <a:t>the band and its midpoint</a:t>
            </a:r>
          </a:p>
        </p:txBody>
      </p:sp>
      <p:sp>
        <p:nvSpPr>
          <p:cNvPr id="14" name="TextBox 13"/>
          <p:cNvSpPr txBox="1"/>
          <p:nvPr/>
        </p:nvSpPr>
        <p:spPr>
          <a:xfrm>
            <a:off x="6583680" y="3703320"/>
            <a:ext cx="1783080" cy="365760"/>
          </a:xfrm>
          <a:prstGeom prst="rect">
            <a:avLst/>
          </a:prstGeom>
          <a:noFill/>
        </p:spPr>
        <p:txBody>
          <a:bodyPr wrap="square" lIns="0" tIns="0" rIns="0" bIns="0">
            <a:spAutoFit/>
          </a:bodyPr>
          <a:lstStyle/>
          <a:p>
            <a:pPr algn="l">
              <a:lnSpc>
                <a:spcPct val="100000"/>
              </a:lnSpc>
            </a:pPr>
            <a:r>
              <a:rPr sz="1000" b="0">
                <a:solidFill>
                  <a:srgbClr val="9CA8A3"/>
                </a:solidFill>
                <a:latin typeface="Calibri"/>
              </a:rPr>
              <a:t>method</a:t>
            </a:r>
          </a:p>
        </p:txBody>
      </p:sp>
      <p:sp>
        <p:nvSpPr>
          <p:cNvPr id="15" name="TextBox 14"/>
          <p:cNvSpPr txBox="1"/>
          <p:nvPr/>
        </p:nvSpPr>
        <p:spPr>
          <a:xfrm>
            <a:off x="8503920" y="3703320"/>
            <a:ext cx="2834640" cy="365760"/>
          </a:xfrm>
          <a:prstGeom prst="rect">
            <a:avLst/>
          </a:prstGeom>
          <a:noFill/>
        </p:spPr>
        <p:txBody>
          <a:bodyPr wrap="square" lIns="0" tIns="0" rIns="0" bIns="0">
            <a:spAutoFit/>
          </a:bodyPr>
          <a:lstStyle/>
          <a:p>
            <a:pPr algn="l">
              <a:lnSpc>
                <a:spcPct val="100000"/>
              </a:lnSpc>
            </a:pPr>
            <a:r>
              <a:rPr sz="1000" b="0">
                <a:solidFill>
                  <a:srgbClr val="FFFFFF"/>
                </a:solidFill>
                <a:latin typeface="Calibri"/>
              </a:rPr>
              <a:t>reference_object · container_prior · shape_only</a:t>
            </a:r>
          </a:p>
        </p:txBody>
      </p:sp>
      <p:sp>
        <p:nvSpPr>
          <p:cNvPr id="16" name="TextBox 15"/>
          <p:cNvSpPr txBox="1"/>
          <p:nvPr/>
        </p:nvSpPr>
        <p:spPr>
          <a:xfrm>
            <a:off x="6583680" y="4023360"/>
            <a:ext cx="1783080" cy="365760"/>
          </a:xfrm>
          <a:prstGeom prst="rect">
            <a:avLst/>
          </a:prstGeom>
          <a:noFill/>
        </p:spPr>
        <p:txBody>
          <a:bodyPr wrap="square" lIns="0" tIns="0" rIns="0" bIns="0">
            <a:spAutoFit/>
          </a:bodyPr>
          <a:lstStyle/>
          <a:p>
            <a:pPr algn="l">
              <a:lnSpc>
                <a:spcPct val="100000"/>
              </a:lnSpc>
            </a:pPr>
            <a:r>
              <a:rPr sz="1000" b="0">
                <a:solidFill>
                  <a:srgbClr val="9CA8A3"/>
                </a:solidFill>
                <a:latin typeface="Calibri"/>
              </a:rPr>
              <a:t>reference</a:t>
            </a:r>
          </a:p>
        </p:txBody>
      </p:sp>
      <p:sp>
        <p:nvSpPr>
          <p:cNvPr id="17" name="TextBox 16"/>
          <p:cNvSpPr txBox="1"/>
          <p:nvPr/>
        </p:nvSpPr>
        <p:spPr>
          <a:xfrm>
            <a:off x="8503920" y="4023360"/>
            <a:ext cx="2834640" cy="365760"/>
          </a:xfrm>
          <a:prstGeom prst="rect">
            <a:avLst/>
          </a:prstGeom>
          <a:noFill/>
        </p:spPr>
        <p:txBody>
          <a:bodyPr wrap="square" lIns="0" tIns="0" rIns="0" bIns="0">
            <a:spAutoFit/>
          </a:bodyPr>
          <a:lstStyle/>
          <a:p>
            <a:pPr algn="l">
              <a:lnSpc>
                <a:spcPct val="100000"/>
              </a:lnSpc>
            </a:pPr>
            <a:r>
              <a:rPr sz="1000" b="0">
                <a:solidFill>
                  <a:srgbClr val="FFFFFF"/>
                </a:solidFill>
                <a:latin typeface="Calibri"/>
              </a:rPr>
              <a:t>the object used, if any</a:t>
            </a:r>
          </a:p>
        </p:txBody>
      </p:sp>
      <p:sp>
        <p:nvSpPr>
          <p:cNvPr id="18" name="TextBox 17"/>
          <p:cNvSpPr txBox="1"/>
          <p:nvPr/>
        </p:nvSpPr>
        <p:spPr>
          <a:xfrm>
            <a:off x="6583680" y="4343400"/>
            <a:ext cx="1783080" cy="365760"/>
          </a:xfrm>
          <a:prstGeom prst="rect">
            <a:avLst/>
          </a:prstGeom>
          <a:noFill/>
        </p:spPr>
        <p:txBody>
          <a:bodyPr wrap="square" lIns="0" tIns="0" rIns="0" bIns="0">
            <a:spAutoFit/>
          </a:bodyPr>
          <a:lstStyle/>
          <a:p>
            <a:pPr algn="l">
              <a:lnSpc>
                <a:spcPct val="100000"/>
              </a:lnSpc>
            </a:pPr>
            <a:r>
              <a:rPr sz="1000" b="0">
                <a:solidFill>
                  <a:srgbClr val="9CA8A3"/>
                </a:solidFill>
                <a:latin typeface="Calibri"/>
              </a:rPr>
              <a:t>scale_source</a:t>
            </a:r>
          </a:p>
        </p:txBody>
      </p:sp>
      <p:sp>
        <p:nvSpPr>
          <p:cNvPr id="19" name="TextBox 18"/>
          <p:cNvSpPr txBox="1"/>
          <p:nvPr/>
        </p:nvSpPr>
        <p:spPr>
          <a:xfrm>
            <a:off x="8503920" y="4343400"/>
            <a:ext cx="2834640" cy="365760"/>
          </a:xfrm>
          <a:prstGeom prst="rect">
            <a:avLst/>
          </a:prstGeom>
          <a:noFill/>
        </p:spPr>
        <p:txBody>
          <a:bodyPr wrap="square" lIns="0" tIns="0" rIns="0" bIns="0">
            <a:spAutoFit/>
          </a:bodyPr>
          <a:lstStyle/>
          <a:p>
            <a:pPr algn="l">
              <a:lnSpc>
                <a:spcPct val="100000"/>
              </a:lnSpc>
            </a:pPr>
            <a:r>
              <a:rPr sz="1000" b="0">
                <a:solidFill>
                  <a:srgbClr val="FFFFFF"/>
                </a:solidFill>
                <a:latin typeface="Calibri"/>
              </a:rPr>
              <a:t>“measured from a fork” · “assumed plate”</a:t>
            </a:r>
          </a:p>
        </p:txBody>
      </p:sp>
      <p:sp>
        <p:nvSpPr>
          <p:cNvPr id="20" name="TextBox 19"/>
          <p:cNvSpPr txBox="1"/>
          <p:nvPr/>
        </p:nvSpPr>
        <p:spPr>
          <a:xfrm>
            <a:off x="6583680" y="4700016"/>
            <a:ext cx="4754880" cy="256032"/>
          </a:xfrm>
          <a:prstGeom prst="rect">
            <a:avLst/>
          </a:prstGeom>
          <a:noFill/>
        </p:spPr>
        <p:txBody>
          <a:bodyPr wrap="square" lIns="0" tIns="0" rIns="0" bIns="0">
            <a:spAutoFit/>
          </a:bodyPr>
          <a:lstStyle/>
          <a:p>
            <a:pPr algn="l">
              <a:lnSpc>
                <a:spcPct val="100000"/>
              </a:lnSpc>
            </a:pPr>
            <a:r>
              <a:rPr sz="1050" b="0">
                <a:solidFill>
                  <a:srgbClr val="3DDC97"/>
                </a:solidFill>
                <a:latin typeface="Calibri"/>
              </a:rPr>
              <a:t>→  The app shows a 10 g stepper. The user always confirms (FR06).</a:t>
            </a:r>
          </a:p>
        </p:txBody>
      </p:sp>
      <p:sp>
        <p:nvSpPr>
          <p:cNvPr id="21" name="Rounded Rectangle 20"/>
          <p:cNvSpPr/>
          <p:nvPr/>
        </p:nvSpPr>
        <p:spPr>
          <a:xfrm>
            <a:off x="548640" y="5193792"/>
            <a:ext cx="11109960" cy="1115568"/>
          </a:xfrm>
          <a:prstGeom prst="roundRect">
            <a:avLst>
              <a:gd name="adj" fmla="val 3117"/>
            </a:avLst>
          </a:prstGeom>
          <a:solidFill>
            <a:srgbClr val="F1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68680" y="5440680"/>
            <a:ext cx="128016" cy="128016"/>
          </a:xfrm>
          <a:prstGeom prst="rect">
            <a:avLst/>
          </a:prstGeom>
          <a:solidFill>
            <a:srgbClr val="1F7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70432" y="5376672"/>
            <a:ext cx="10149840" cy="274320"/>
          </a:xfrm>
          <a:prstGeom prst="rect">
            <a:avLst/>
          </a:prstGeom>
          <a:noFill/>
        </p:spPr>
        <p:txBody>
          <a:bodyPr wrap="square" lIns="0" tIns="0" rIns="0" bIns="0">
            <a:spAutoFit/>
          </a:bodyPr>
          <a:lstStyle/>
          <a:p>
            <a:pPr algn="l">
              <a:lnSpc>
                <a:spcPct val="100000"/>
              </a:lnSpc>
            </a:pPr>
            <a:r>
              <a:rPr sz="1250" b="1">
                <a:solidFill>
                  <a:srgbClr val="16201C"/>
                </a:solidFill>
                <a:latin typeface="Calibri"/>
              </a:rPr>
              <a:t>Measured, not assumed</a:t>
            </a:r>
          </a:p>
        </p:txBody>
      </p:sp>
      <p:sp>
        <p:nvSpPr>
          <p:cNvPr id="24" name="TextBox 23"/>
          <p:cNvSpPr txBox="1"/>
          <p:nvPr/>
        </p:nvSpPr>
        <p:spPr>
          <a:xfrm>
            <a:off x="1170432" y="5669280"/>
            <a:ext cx="10149840" cy="530352"/>
          </a:xfrm>
          <a:prstGeom prst="rect">
            <a:avLst/>
          </a:prstGeom>
          <a:noFill/>
        </p:spPr>
        <p:txBody>
          <a:bodyPr wrap="square" lIns="0" tIns="0" rIns="0" bIns="0">
            <a:spAutoFit/>
          </a:bodyPr>
          <a:lstStyle/>
          <a:p>
            <a:pPr algn="l">
              <a:lnSpc>
                <a:spcPct val="115000"/>
              </a:lnSpc>
            </a:pPr>
            <a:r>
              <a:rPr sz="1100" b="0">
                <a:solidFill>
                  <a:srgbClr val="6B7280"/>
                </a:solidFill>
                <a:latin typeface="Calibri"/>
              </a:rPr>
              <a:t>16% mean absolute percentage error against kitchen-scale weights, where 20–40% is typical for monocular portion estimation. Range coverage is reported alongside it, because for a range estimate “does the band contain the truth” matters as much as the midpoint.</a:t>
            </a:r>
          </a:p>
        </p:txBody>
      </p:sp>
      <p:sp>
        <p:nvSpPr>
          <p:cNvPr id="25" name="TextBox 24"/>
          <p:cNvSpPr txBox="1"/>
          <p:nvPr/>
        </p:nvSpPr>
        <p:spPr>
          <a:xfrm>
            <a:off x="11548872" y="6473952"/>
            <a:ext cx="457200" cy="274320"/>
          </a:xfrm>
          <a:prstGeom prst="rect">
            <a:avLst/>
          </a:prstGeom>
          <a:noFill/>
        </p:spPr>
        <p:txBody>
          <a:bodyPr wrap="square" lIns="0" tIns="0" rIns="0" bIns="0">
            <a:spAutoFit/>
          </a:bodyPr>
          <a:lstStyle/>
          <a:p>
            <a:pPr algn="l">
              <a:lnSpc>
                <a:spcPct val="100000"/>
              </a:lnSpc>
            </a:pPr>
            <a:r>
              <a:rPr sz="1000" b="0">
                <a:solidFill>
                  <a:srgbClr val="6B7280"/>
                </a:solidFill>
                <a:latin typeface="Calibri"/>
              </a:rPr>
              <a:t>15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lIns="0" tIns="0" rIns="0" bIns="0">
            <a:spAutoFit/>
          </a:bodyPr>
          <a:lstStyle/>
          <a:p>
            <a:pPr algn="l">
              <a:lnSpc>
                <a:spcPct val="100000"/>
              </a:lnSpc>
            </a:pPr>
            <a:r>
              <a:rPr sz="1300" b="1">
                <a:solidFill>
                  <a:srgbClr val="1F7A54"/>
                </a:solidFill>
                <a:latin typeface="Calibri"/>
              </a:rPr>
              <a:t>NUTRITION DATA</a:t>
            </a:r>
          </a:p>
        </p:txBody>
      </p:sp>
      <p:sp>
        <p:nvSpPr>
          <p:cNvPr id="3" name="TextBox 2"/>
          <p:cNvSpPr txBox="1"/>
          <p:nvPr/>
        </p:nvSpPr>
        <p:spPr>
          <a:xfrm>
            <a:off x="548640" y="658368"/>
            <a:ext cx="10607040" cy="822960"/>
          </a:xfrm>
          <a:prstGeom prst="rect">
            <a:avLst/>
          </a:prstGeom>
          <a:noFill/>
        </p:spPr>
        <p:txBody>
          <a:bodyPr wrap="square" lIns="0" tIns="0" rIns="0" bIns="0">
            <a:spAutoFit/>
          </a:bodyPr>
          <a:lstStyle/>
          <a:p>
            <a:pPr algn="l">
              <a:lnSpc>
                <a:spcPct val="100000"/>
              </a:lnSpc>
            </a:pPr>
            <a:r>
              <a:rPr sz="3200" b="1">
                <a:solidFill>
                  <a:srgbClr val="16201C"/>
                </a:solidFill>
                <a:latin typeface="Cambria"/>
              </a:rPr>
              <a:t>Two vocabularies that don't speak to each other</a:t>
            </a:r>
          </a:p>
        </p:txBody>
      </p:sp>
      <p:sp>
        <p:nvSpPr>
          <p:cNvPr id="4" name="TextBox 3"/>
          <p:cNvSpPr txBox="1"/>
          <p:nvPr/>
        </p:nvSpPr>
        <p:spPr>
          <a:xfrm>
            <a:off x="548640" y="1389888"/>
            <a:ext cx="10881360" cy="502920"/>
          </a:xfrm>
          <a:prstGeom prst="rect">
            <a:avLst/>
          </a:prstGeom>
          <a:noFill/>
        </p:spPr>
        <p:txBody>
          <a:bodyPr wrap="square" lIns="0" tIns="0" rIns="0" bIns="0">
            <a:spAutoFit/>
          </a:bodyPr>
          <a:lstStyle/>
          <a:p>
            <a:pPr algn="l">
              <a:lnSpc>
                <a:spcPct val="118000"/>
              </a:lnSpc>
            </a:pPr>
            <a:r>
              <a:rPr sz="1250" b="0">
                <a:solidFill>
                  <a:srgbClr val="6B7280"/>
                </a:solidFill>
                <a:latin typeface="Calibri"/>
              </a:rPr>
              <a:t>The classifier says grilled_salmon. USDA says “Fish, salmon, Atlantic, farmed, cooked, dry heat.” Nothing in either system bridges them — so the bridge is ours.</a:t>
            </a:r>
          </a:p>
        </p:txBody>
      </p:sp>
      <p:sp>
        <p:nvSpPr>
          <p:cNvPr id="5" name="Rounded Rectangle 4"/>
          <p:cNvSpPr/>
          <p:nvPr/>
        </p:nvSpPr>
        <p:spPr>
          <a:xfrm>
            <a:off x="548640" y="2011680"/>
            <a:ext cx="6720840" cy="3794760"/>
          </a:xfrm>
          <a:prstGeom prst="roundRect">
            <a:avLst>
              <a:gd name="adj" fmla="val 3117"/>
            </a:avLst>
          </a:prstGeom>
          <a:solidFill>
            <a:srgbClr val="F1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286000"/>
            <a:ext cx="320040" cy="274320"/>
          </a:xfrm>
          <a:prstGeom prst="rect">
            <a:avLst/>
          </a:prstGeom>
          <a:noFill/>
        </p:spPr>
        <p:txBody>
          <a:bodyPr wrap="square" lIns="0" tIns="0" rIns="0" bIns="0">
            <a:spAutoFit/>
          </a:bodyPr>
          <a:lstStyle/>
          <a:p>
            <a:pPr algn="l">
              <a:lnSpc>
                <a:spcPct val="100000"/>
              </a:lnSpc>
            </a:pPr>
            <a:r>
              <a:rPr sz="1400" b="1">
                <a:solidFill>
                  <a:srgbClr val="1F7A54"/>
                </a:solidFill>
                <a:latin typeface="Cambria"/>
              </a:rPr>
              <a:t>1</a:t>
            </a:r>
          </a:p>
        </p:txBody>
      </p:sp>
      <p:sp>
        <p:nvSpPr>
          <p:cNvPr id="7" name="TextBox 6"/>
          <p:cNvSpPr txBox="1"/>
          <p:nvPr/>
        </p:nvSpPr>
        <p:spPr>
          <a:xfrm>
            <a:off x="1234440" y="2286000"/>
            <a:ext cx="5715000" cy="274320"/>
          </a:xfrm>
          <a:prstGeom prst="rect">
            <a:avLst/>
          </a:prstGeom>
          <a:noFill/>
        </p:spPr>
        <p:txBody>
          <a:bodyPr wrap="square" lIns="0" tIns="0" rIns="0" bIns="0">
            <a:spAutoFit/>
          </a:bodyPr>
          <a:lstStyle/>
          <a:p>
            <a:pPr algn="l">
              <a:lnSpc>
                <a:spcPct val="100000"/>
              </a:lnSpc>
            </a:pPr>
            <a:r>
              <a:rPr sz="1250" b="1">
                <a:solidFill>
                  <a:srgbClr val="16201C"/>
                </a:solidFill>
                <a:latin typeface="Calibri"/>
              </a:rPr>
              <a:t>The class name carries the wrong cooking method</a:t>
            </a:r>
          </a:p>
        </p:txBody>
      </p:sp>
      <p:sp>
        <p:nvSpPr>
          <p:cNvPr id="8" name="TextBox 7"/>
          <p:cNvSpPr txBox="1"/>
          <p:nvPr/>
        </p:nvSpPr>
        <p:spPr>
          <a:xfrm>
            <a:off x="1234440" y="2578608"/>
            <a:ext cx="5715000" cy="777240"/>
          </a:xfrm>
          <a:prstGeom prst="rect">
            <a:avLst/>
          </a:prstGeom>
          <a:noFill/>
        </p:spPr>
        <p:txBody>
          <a:bodyPr wrap="square" lIns="0" tIns="0" rIns="0" bIns="0">
            <a:spAutoFit/>
          </a:bodyPr>
          <a:lstStyle/>
          <a:p>
            <a:pPr algn="l">
              <a:lnSpc>
                <a:spcPct val="115000"/>
              </a:lnSpc>
            </a:pPr>
            <a:r>
              <a:rPr sz="1050" b="0" dirty="0" err="1">
                <a:solidFill>
                  <a:srgbClr val="6B7280"/>
                </a:solidFill>
                <a:latin typeface="Calibri"/>
              </a:rPr>
              <a:t>grilled_salmon</a:t>
            </a:r>
            <a:r>
              <a:rPr sz="1050" b="0" dirty="0">
                <a:solidFill>
                  <a:srgbClr val="6B7280"/>
                </a:solidFill>
                <a:latin typeface="Calibri"/>
              </a:rPr>
              <a:t> logged as baked would return grilled values. The adjective is a Food-101 artefact; the method the user confirmed is the fact. Strip it and substitute → “salmon cooked baked”.</a:t>
            </a:r>
          </a:p>
        </p:txBody>
      </p:sp>
      <p:sp>
        <p:nvSpPr>
          <p:cNvPr id="9" name="TextBox 8"/>
          <p:cNvSpPr txBox="1"/>
          <p:nvPr/>
        </p:nvSpPr>
        <p:spPr>
          <a:xfrm>
            <a:off x="868680" y="3493008"/>
            <a:ext cx="320040" cy="274320"/>
          </a:xfrm>
          <a:prstGeom prst="rect">
            <a:avLst/>
          </a:prstGeom>
          <a:noFill/>
        </p:spPr>
        <p:txBody>
          <a:bodyPr wrap="square" lIns="0" tIns="0" rIns="0" bIns="0">
            <a:spAutoFit/>
          </a:bodyPr>
          <a:lstStyle/>
          <a:p>
            <a:pPr algn="l">
              <a:lnSpc>
                <a:spcPct val="100000"/>
              </a:lnSpc>
            </a:pPr>
            <a:r>
              <a:rPr sz="1400" b="1">
                <a:solidFill>
                  <a:srgbClr val="1F7A54"/>
                </a:solidFill>
                <a:latin typeface="Cambria"/>
              </a:rPr>
              <a:t>2</a:t>
            </a:r>
          </a:p>
        </p:txBody>
      </p:sp>
      <p:sp>
        <p:nvSpPr>
          <p:cNvPr id="10" name="TextBox 9"/>
          <p:cNvSpPr txBox="1"/>
          <p:nvPr/>
        </p:nvSpPr>
        <p:spPr>
          <a:xfrm>
            <a:off x="1234440" y="3493008"/>
            <a:ext cx="5715000" cy="274320"/>
          </a:xfrm>
          <a:prstGeom prst="rect">
            <a:avLst/>
          </a:prstGeom>
          <a:noFill/>
        </p:spPr>
        <p:txBody>
          <a:bodyPr wrap="square" lIns="0" tIns="0" rIns="0" bIns="0">
            <a:spAutoFit/>
          </a:bodyPr>
          <a:lstStyle/>
          <a:p>
            <a:pPr algn="l">
              <a:lnSpc>
                <a:spcPct val="100000"/>
              </a:lnSpc>
            </a:pPr>
            <a:r>
              <a:rPr sz="1250" b="1">
                <a:solidFill>
                  <a:srgbClr val="16201C"/>
                </a:solidFill>
                <a:latin typeface="Calibri"/>
              </a:rPr>
              <a:t>USDA has never indexed the dish</a:t>
            </a:r>
          </a:p>
        </p:txBody>
      </p:sp>
      <p:sp>
        <p:nvSpPr>
          <p:cNvPr id="11" name="TextBox 10"/>
          <p:cNvSpPr txBox="1"/>
          <p:nvPr/>
        </p:nvSpPr>
        <p:spPr>
          <a:xfrm>
            <a:off x="1234440" y="3785616"/>
            <a:ext cx="5715000" cy="777240"/>
          </a:xfrm>
          <a:prstGeom prst="rect">
            <a:avLst/>
          </a:prstGeom>
          <a:noFill/>
        </p:spPr>
        <p:txBody>
          <a:bodyPr wrap="square" lIns="0" tIns="0" rIns="0" bIns="0">
            <a:spAutoFit/>
          </a:bodyPr>
          <a:lstStyle/>
          <a:p>
            <a:pPr algn="l">
              <a:lnSpc>
                <a:spcPct val="115000"/>
              </a:lnSpc>
            </a:pPr>
            <a:r>
              <a:rPr sz="1050" b="0">
                <a:solidFill>
                  <a:srgbClr val="6B7280"/>
                </a:solidFill>
                <a:latin typeface="Calibri"/>
              </a:rPr>
              <a:t>beignets, takoyaki and croque_madame return nothing — a 404 on food the user can plainly see. A hand-written override table maps them: escargots → snail, guacamole → avocado.</a:t>
            </a:r>
          </a:p>
        </p:txBody>
      </p:sp>
      <p:sp>
        <p:nvSpPr>
          <p:cNvPr id="12" name="TextBox 11"/>
          <p:cNvSpPr txBox="1"/>
          <p:nvPr/>
        </p:nvSpPr>
        <p:spPr>
          <a:xfrm>
            <a:off x="868680" y="4700016"/>
            <a:ext cx="320040" cy="274320"/>
          </a:xfrm>
          <a:prstGeom prst="rect">
            <a:avLst/>
          </a:prstGeom>
          <a:noFill/>
        </p:spPr>
        <p:txBody>
          <a:bodyPr wrap="square" lIns="0" tIns="0" rIns="0" bIns="0">
            <a:spAutoFit/>
          </a:bodyPr>
          <a:lstStyle/>
          <a:p>
            <a:pPr algn="l">
              <a:lnSpc>
                <a:spcPct val="100000"/>
              </a:lnSpc>
            </a:pPr>
            <a:r>
              <a:rPr sz="1400" b="1">
                <a:solidFill>
                  <a:srgbClr val="1F7A54"/>
                </a:solidFill>
                <a:latin typeface="Cambria"/>
              </a:rPr>
              <a:t>3</a:t>
            </a:r>
          </a:p>
        </p:txBody>
      </p:sp>
      <p:sp>
        <p:nvSpPr>
          <p:cNvPr id="13" name="TextBox 12"/>
          <p:cNvSpPr txBox="1"/>
          <p:nvPr/>
        </p:nvSpPr>
        <p:spPr>
          <a:xfrm>
            <a:off x="1234440" y="4700016"/>
            <a:ext cx="5715000" cy="274320"/>
          </a:xfrm>
          <a:prstGeom prst="rect">
            <a:avLst/>
          </a:prstGeom>
          <a:noFill/>
        </p:spPr>
        <p:txBody>
          <a:bodyPr wrap="square" lIns="0" tIns="0" rIns="0" bIns="0">
            <a:spAutoFit/>
          </a:bodyPr>
          <a:lstStyle/>
          <a:p>
            <a:pPr algn="l">
              <a:lnSpc>
                <a:spcPct val="100000"/>
              </a:lnSpc>
            </a:pPr>
            <a:r>
              <a:rPr sz="1250" b="1">
                <a:solidFill>
                  <a:srgbClr val="16201C"/>
                </a:solidFill>
                <a:latin typeface="Calibri"/>
              </a:rPr>
              <a:t>Every search term is optional by default</a:t>
            </a:r>
          </a:p>
        </p:txBody>
      </p:sp>
      <p:sp>
        <p:nvSpPr>
          <p:cNvPr id="14" name="TextBox 13"/>
          <p:cNvSpPr txBox="1"/>
          <p:nvPr/>
        </p:nvSpPr>
        <p:spPr>
          <a:xfrm>
            <a:off x="1234440" y="4992624"/>
            <a:ext cx="5715000" cy="777240"/>
          </a:xfrm>
          <a:prstGeom prst="rect">
            <a:avLst/>
          </a:prstGeom>
          <a:noFill/>
        </p:spPr>
        <p:txBody>
          <a:bodyPr wrap="square" lIns="0" tIns="0" rIns="0" bIns="0">
            <a:spAutoFit/>
          </a:bodyPr>
          <a:lstStyle/>
          <a:p>
            <a:pPr algn="l">
              <a:lnSpc>
                <a:spcPct val="115000"/>
              </a:lnSpc>
            </a:pPr>
            <a:r>
              <a:rPr sz="1050" b="0" dirty="0">
                <a:solidFill>
                  <a:srgbClr val="6B7280"/>
                </a:solidFill>
                <a:latin typeface="Calibri"/>
              </a:rPr>
              <a:t>USDA ranks on the whole query, so the short, extremely common cooking words outrank the food itself. Food terms are marked required — a fix learned by running live queries, not by reasoning about them.</a:t>
            </a:r>
          </a:p>
        </p:txBody>
      </p:sp>
      <p:sp>
        <p:nvSpPr>
          <p:cNvPr id="15" name="Rounded Rectangle 14"/>
          <p:cNvSpPr/>
          <p:nvPr/>
        </p:nvSpPr>
        <p:spPr>
          <a:xfrm>
            <a:off x="7589520" y="2011680"/>
            <a:ext cx="4069080" cy="3794760"/>
          </a:xfrm>
          <a:prstGeom prst="roundRect">
            <a:avLst>
              <a:gd name="adj" fmla="val 3117"/>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48600" y="2240280"/>
            <a:ext cx="3474720" cy="384048"/>
          </a:xfrm>
          <a:prstGeom prst="rect">
            <a:avLst/>
          </a:prstGeom>
          <a:noFill/>
        </p:spPr>
        <p:txBody>
          <a:bodyPr wrap="square" lIns="0" tIns="0" rIns="0" bIns="0">
            <a:spAutoFit/>
          </a:bodyPr>
          <a:lstStyle/>
          <a:p>
            <a:pPr algn="l">
              <a:lnSpc>
                <a:spcPct val="100000"/>
              </a:lnSpc>
            </a:pPr>
            <a:r>
              <a:rPr sz="1700" b="1" dirty="0">
                <a:solidFill>
                  <a:srgbClr val="FFFFFF"/>
                </a:solidFill>
                <a:latin typeface="Cambria"/>
              </a:rPr>
              <a:t>Keeping it standing up</a:t>
            </a:r>
          </a:p>
        </p:txBody>
      </p:sp>
      <p:sp>
        <p:nvSpPr>
          <p:cNvPr id="17" name="TextBox 16"/>
          <p:cNvSpPr txBox="1"/>
          <p:nvPr/>
        </p:nvSpPr>
        <p:spPr>
          <a:xfrm>
            <a:off x="7909560" y="2743200"/>
            <a:ext cx="3474720" cy="2834640"/>
          </a:xfrm>
          <a:prstGeom prst="rect">
            <a:avLst/>
          </a:prstGeom>
          <a:noFill/>
        </p:spPr>
        <p:txBody>
          <a:bodyPr wrap="square" lIns="0" tIns="0" rIns="0" bIns="0">
            <a:spAutoFit/>
          </a:bodyPr>
          <a:lstStyle/>
          <a:p>
            <a:pPr>
              <a:lnSpc>
                <a:spcPct val="112000"/>
              </a:lnSpc>
              <a:spcAft>
                <a:spcPts val="700"/>
              </a:spcAft>
            </a:pPr>
            <a:r>
              <a:rPr sz="1050" dirty="0">
                <a:solidFill>
                  <a:srgbClr val="C7CFCB"/>
                </a:solidFill>
                <a:latin typeface="Calibri"/>
              </a:rPr>
              <a:t>·  An hourly rate limiter sized deliberately below USDA's published cap — we throttle before they do</a:t>
            </a:r>
          </a:p>
          <a:p>
            <a:pPr>
              <a:lnSpc>
                <a:spcPct val="112000"/>
              </a:lnSpc>
              <a:spcAft>
                <a:spcPts val="700"/>
              </a:spcAft>
            </a:pPr>
            <a:r>
              <a:rPr sz="1050" dirty="0">
                <a:solidFill>
                  <a:srgbClr val="C7CFCB"/>
                </a:solidFill>
                <a:latin typeface="Calibri"/>
              </a:rPr>
              <a:t>·  180-day PostgreSQL cache; a cached row serves the request when USDA is slow or unavailable</a:t>
            </a:r>
          </a:p>
          <a:p>
            <a:pPr>
              <a:lnSpc>
                <a:spcPct val="112000"/>
              </a:lnSpc>
              <a:spcAft>
                <a:spcPts val="700"/>
              </a:spcAft>
            </a:pPr>
            <a:r>
              <a:rPr sz="1050" dirty="0">
                <a:solidFill>
                  <a:srgbClr val="C7CFCB"/>
                </a:solidFill>
                <a:latin typeface="Calibri"/>
              </a:rPr>
              <a:t>·  Values held per 100 g and scaled to the confirmed portion at lookup, so one cached row serves any portion</a:t>
            </a:r>
          </a:p>
          <a:p>
            <a:pPr>
              <a:lnSpc>
                <a:spcPct val="112000"/>
              </a:lnSpc>
              <a:spcAft>
                <a:spcPts val="700"/>
              </a:spcAft>
            </a:pPr>
            <a:r>
              <a:rPr sz="1050" dirty="0">
                <a:solidFill>
                  <a:srgbClr val="C7CFCB"/>
                </a:solidFill>
                <a:latin typeface="Calibri"/>
              </a:rPr>
              <a:t>·  Macros are computed server-side — the client cannot submit its own calorie figures</a:t>
            </a:r>
          </a:p>
          <a:p>
            <a:pPr>
              <a:lnSpc>
                <a:spcPct val="112000"/>
              </a:lnSpc>
              <a:spcAft>
                <a:spcPts val="700"/>
              </a:spcAft>
            </a:pPr>
            <a:r>
              <a:rPr sz="1050" dirty="0">
                <a:solidFill>
                  <a:srgbClr val="C7CFCB"/>
                </a:solidFill>
                <a:latin typeface="Calibri"/>
              </a:rPr>
              <a:t>·  Every number on screen traces to a laboratory-verified USDA row</a:t>
            </a:r>
          </a:p>
        </p:txBody>
      </p:sp>
      <p:sp>
        <p:nvSpPr>
          <p:cNvPr id="18" name="TextBox 17"/>
          <p:cNvSpPr txBox="1"/>
          <p:nvPr/>
        </p:nvSpPr>
        <p:spPr>
          <a:xfrm>
            <a:off x="11548872" y="6473952"/>
            <a:ext cx="457200" cy="274320"/>
          </a:xfrm>
          <a:prstGeom prst="rect">
            <a:avLst/>
          </a:prstGeom>
          <a:noFill/>
        </p:spPr>
        <p:txBody>
          <a:bodyPr wrap="square" lIns="0" tIns="0" rIns="0" bIns="0">
            <a:spAutoFit/>
          </a:bodyPr>
          <a:lstStyle/>
          <a:p>
            <a:pPr algn="l">
              <a:lnSpc>
                <a:spcPct val="100000"/>
              </a:lnSpc>
            </a:pPr>
            <a:r>
              <a:rPr sz="1000" b="0">
                <a:solidFill>
                  <a:srgbClr val="6B7280"/>
                </a:solidFill>
                <a:latin typeface="Calibri"/>
              </a:rPr>
              <a:t>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lIns="0" tIns="0" rIns="0" bIns="0">
            <a:spAutoFit/>
          </a:bodyPr>
          <a:lstStyle/>
          <a:p>
            <a:pPr algn="l">
              <a:lnSpc>
                <a:spcPct val="100000"/>
              </a:lnSpc>
            </a:pPr>
            <a:r>
              <a:rPr sz="1300" b="1">
                <a:solidFill>
                  <a:srgbClr val="1F7A54"/>
                </a:solidFill>
                <a:latin typeface="Calibri"/>
              </a:rPr>
              <a:t>PERSONALISATION</a:t>
            </a:r>
          </a:p>
        </p:txBody>
      </p:sp>
      <p:sp>
        <p:nvSpPr>
          <p:cNvPr id="3" name="TextBox 2"/>
          <p:cNvSpPr txBox="1"/>
          <p:nvPr/>
        </p:nvSpPr>
        <p:spPr>
          <a:xfrm>
            <a:off x="548640" y="658368"/>
            <a:ext cx="10607040" cy="822960"/>
          </a:xfrm>
          <a:prstGeom prst="rect">
            <a:avLst/>
          </a:prstGeom>
          <a:noFill/>
        </p:spPr>
        <p:txBody>
          <a:bodyPr wrap="square" lIns="0" tIns="0" rIns="0" bIns="0">
            <a:spAutoFit/>
          </a:bodyPr>
          <a:lstStyle/>
          <a:p>
            <a:pPr algn="l">
              <a:lnSpc>
                <a:spcPct val="100000"/>
              </a:lnSpc>
            </a:pPr>
            <a:r>
              <a:rPr sz="3200" b="1">
                <a:solidFill>
                  <a:srgbClr val="16201C"/>
                </a:solidFill>
                <a:latin typeface="Cambria"/>
              </a:rPr>
              <a:t>From seven meals to a target of your own</a:t>
            </a:r>
          </a:p>
        </p:txBody>
      </p:sp>
      <p:sp>
        <p:nvSpPr>
          <p:cNvPr id="4" name="TextBox 3"/>
          <p:cNvSpPr txBox="1"/>
          <p:nvPr/>
        </p:nvSpPr>
        <p:spPr>
          <a:xfrm>
            <a:off x="548640" y="1389888"/>
            <a:ext cx="10881360" cy="502920"/>
          </a:xfrm>
          <a:prstGeom prst="rect">
            <a:avLst/>
          </a:prstGeom>
          <a:noFill/>
        </p:spPr>
        <p:txBody>
          <a:bodyPr wrap="square" lIns="0" tIns="0" rIns="0" bIns="0">
            <a:spAutoFit/>
          </a:bodyPr>
          <a:lstStyle/>
          <a:p>
            <a:pPr algn="l">
              <a:lnSpc>
                <a:spcPct val="118000"/>
              </a:lnSpc>
            </a:pPr>
            <a:r>
              <a:rPr sz="1250" b="0">
                <a:solidFill>
                  <a:srgbClr val="6B7280"/>
                </a:solidFill>
                <a:latin typeface="Calibri"/>
              </a:rPr>
              <a:t>No advice until there is enough data to justify it — then a target derived from the user's own body, rather than a fixed number off a chart.</a:t>
            </a:r>
          </a:p>
        </p:txBody>
      </p:sp>
      <p:sp>
        <p:nvSpPr>
          <p:cNvPr id="5" name="Rounded Rectangle 4"/>
          <p:cNvSpPr/>
          <p:nvPr/>
        </p:nvSpPr>
        <p:spPr>
          <a:xfrm>
            <a:off x="548640" y="1965960"/>
            <a:ext cx="11109960" cy="530352"/>
          </a:xfrm>
          <a:prstGeom prst="roundRect">
            <a:avLst>
              <a:gd name="adj" fmla="val 3117"/>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121408"/>
            <a:ext cx="11109960" cy="274320"/>
          </a:xfrm>
          <a:prstGeom prst="rect">
            <a:avLst/>
          </a:prstGeom>
          <a:noFill/>
        </p:spPr>
        <p:txBody>
          <a:bodyPr wrap="square" lIns="0" tIns="0" rIns="0" bIns="0">
            <a:spAutoFit/>
          </a:bodyPr>
          <a:lstStyle/>
          <a:p>
            <a:pPr algn="ctr">
              <a:lnSpc>
                <a:spcPct val="100000"/>
              </a:lnSpc>
            </a:pPr>
            <a:r>
              <a:rPr sz="1100" b="1">
                <a:solidFill>
                  <a:srgbClr val="3DDC97"/>
                </a:solidFill>
                <a:latin typeface="Cambria"/>
              </a:rPr>
              <a:t>7 meals  →  7-day macro profile  →  Mifflin–St Jeor BMR  →  × activity = TDEE  →  goal adjustment  →  gap analysis  →  up to 5 insights</a:t>
            </a:r>
          </a:p>
        </p:txBody>
      </p:sp>
      <p:sp>
        <p:nvSpPr>
          <p:cNvPr id="7" name="Rounded Rectangle 6"/>
          <p:cNvSpPr/>
          <p:nvPr/>
        </p:nvSpPr>
        <p:spPr>
          <a:xfrm>
            <a:off x="548640" y="2743200"/>
            <a:ext cx="3520440" cy="2606040"/>
          </a:xfrm>
          <a:prstGeom prst="roundRect">
            <a:avLst>
              <a:gd name="adj" fmla="val 3117"/>
            </a:avLst>
          </a:prstGeom>
          <a:solidFill>
            <a:srgbClr val="F1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944368"/>
            <a:ext cx="2880360" cy="384048"/>
          </a:xfrm>
          <a:prstGeom prst="rect">
            <a:avLst/>
          </a:prstGeom>
          <a:noFill/>
        </p:spPr>
        <p:txBody>
          <a:bodyPr wrap="square" lIns="0" tIns="0" rIns="0" bIns="0">
            <a:spAutoFit/>
          </a:bodyPr>
          <a:lstStyle/>
          <a:p>
            <a:pPr algn="l">
              <a:lnSpc>
                <a:spcPct val="100000"/>
              </a:lnSpc>
            </a:pPr>
            <a:r>
              <a:rPr sz="1800" b="1">
                <a:solidFill>
                  <a:srgbClr val="16201C"/>
                </a:solidFill>
                <a:latin typeface="Cambria"/>
              </a:rPr>
              <a:t>The gate</a:t>
            </a:r>
          </a:p>
        </p:txBody>
      </p:sp>
      <p:sp>
        <p:nvSpPr>
          <p:cNvPr id="9" name="TextBox 8"/>
          <p:cNvSpPr txBox="1"/>
          <p:nvPr/>
        </p:nvSpPr>
        <p:spPr>
          <a:xfrm>
            <a:off x="868680" y="3401568"/>
            <a:ext cx="2880360" cy="1691640"/>
          </a:xfrm>
          <a:prstGeom prst="rect">
            <a:avLst/>
          </a:prstGeom>
          <a:noFill/>
        </p:spPr>
        <p:txBody>
          <a:bodyPr wrap="square" lIns="0" tIns="0" rIns="0" bIns="0">
            <a:spAutoFit/>
          </a:bodyPr>
          <a:lstStyle/>
          <a:p>
            <a:pPr>
              <a:lnSpc>
                <a:spcPct val="112000"/>
              </a:lnSpc>
              <a:spcAft>
                <a:spcPts val="500"/>
              </a:spcAft>
            </a:pPr>
            <a:r>
              <a:rPr sz="1000" dirty="0">
                <a:solidFill>
                  <a:srgbClr val="6B7280"/>
                </a:solidFill>
                <a:latin typeface="Calibri"/>
              </a:rPr>
              <a:t>·  Below seven logged meals the Insights screen shows a locked state with a progress counter (“4 / 7 meals logged”)</a:t>
            </a:r>
          </a:p>
          <a:p>
            <a:pPr>
              <a:lnSpc>
                <a:spcPct val="112000"/>
              </a:lnSpc>
              <a:spcAft>
                <a:spcPts val="500"/>
              </a:spcAft>
            </a:pPr>
            <a:r>
              <a:rPr sz="1000" dirty="0">
                <a:solidFill>
                  <a:srgbClr val="6B7280"/>
                </a:solidFill>
                <a:latin typeface="Calibri"/>
              </a:rPr>
              <a:t>·  That is a deliberate refusal, not a missing feature — advice from three meals is noise</a:t>
            </a:r>
          </a:p>
        </p:txBody>
      </p:sp>
      <p:sp>
        <p:nvSpPr>
          <p:cNvPr id="10" name="Rounded Rectangle 9"/>
          <p:cNvSpPr/>
          <p:nvPr/>
        </p:nvSpPr>
        <p:spPr>
          <a:xfrm>
            <a:off x="4251960" y="2743200"/>
            <a:ext cx="3520440" cy="2606040"/>
          </a:xfrm>
          <a:prstGeom prst="roundRect">
            <a:avLst>
              <a:gd name="adj" fmla="val 3117"/>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2944368"/>
            <a:ext cx="2880360" cy="384048"/>
          </a:xfrm>
          <a:prstGeom prst="rect">
            <a:avLst/>
          </a:prstGeom>
          <a:noFill/>
        </p:spPr>
        <p:txBody>
          <a:bodyPr wrap="square" lIns="0" tIns="0" rIns="0" bIns="0">
            <a:spAutoFit/>
          </a:bodyPr>
          <a:lstStyle/>
          <a:p>
            <a:pPr algn="l">
              <a:lnSpc>
                <a:spcPct val="100000"/>
              </a:lnSpc>
            </a:pPr>
            <a:r>
              <a:rPr sz="1800" b="1">
                <a:solidFill>
                  <a:srgbClr val="FFFFFF"/>
                </a:solidFill>
                <a:latin typeface="Cambria"/>
              </a:rPr>
              <a:t>The target</a:t>
            </a:r>
          </a:p>
        </p:txBody>
      </p:sp>
      <p:sp>
        <p:nvSpPr>
          <p:cNvPr id="12" name="TextBox 11"/>
          <p:cNvSpPr txBox="1"/>
          <p:nvPr/>
        </p:nvSpPr>
        <p:spPr>
          <a:xfrm>
            <a:off x="4589890" y="3401568"/>
            <a:ext cx="2880360" cy="1691640"/>
          </a:xfrm>
          <a:prstGeom prst="rect">
            <a:avLst/>
          </a:prstGeom>
          <a:noFill/>
        </p:spPr>
        <p:txBody>
          <a:bodyPr wrap="square" lIns="0" tIns="0" rIns="0" bIns="0">
            <a:spAutoFit/>
          </a:bodyPr>
          <a:lstStyle/>
          <a:p>
            <a:pPr>
              <a:lnSpc>
                <a:spcPct val="112000"/>
              </a:lnSpc>
              <a:spcAft>
                <a:spcPts val="500"/>
              </a:spcAft>
            </a:pPr>
            <a:r>
              <a:rPr sz="1000">
                <a:solidFill>
                  <a:srgbClr val="C7CFCB"/>
                </a:solidFill>
                <a:latin typeface="Calibri"/>
              </a:rPr>
              <a:t>·  Mifflin–St Jeor basal metabolic rate from height, weight and age</a:t>
            </a:r>
          </a:p>
          <a:p>
            <a:pPr>
              <a:lnSpc>
                <a:spcPct val="112000"/>
              </a:lnSpc>
              <a:spcAft>
                <a:spcPts val="500"/>
              </a:spcAft>
            </a:pPr>
            <a:r>
              <a:rPr sz="1000">
                <a:solidFill>
                  <a:srgbClr val="C7CFCB"/>
                </a:solidFill>
                <a:latin typeface="Calibri"/>
              </a:rPr>
              <a:t>·  × an activity factor for total daily energy expenditure</a:t>
            </a:r>
          </a:p>
          <a:p>
            <a:pPr>
              <a:lnSpc>
                <a:spcPct val="112000"/>
              </a:lnSpc>
              <a:spcAft>
                <a:spcPts val="500"/>
              </a:spcAft>
            </a:pPr>
            <a:r>
              <a:rPr sz="1000">
                <a:solidFill>
                  <a:srgbClr val="C7CFCB"/>
                </a:solidFill>
                <a:latin typeface="Calibri"/>
              </a:rPr>
              <a:t>·  Adjusted for the stated goal: deficit, maintenance, or surplus</a:t>
            </a:r>
          </a:p>
          <a:p>
            <a:pPr>
              <a:lnSpc>
                <a:spcPct val="112000"/>
              </a:lnSpc>
              <a:spcAft>
                <a:spcPts val="500"/>
              </a:spcAft>
            </a:pPr>
            <a:r>
              <a:rPr sz="1000">
                <a:solidFill>
                  <a:srgbClr val="C7CFCB"/>
                </a:solidFill>
                <a:latin typeface="Calibri"/>
              </a:rPr>
              <a:t>·  Missing metrics are named back to the user; the engine falls back to goal-based macro ratios</a:t>
            </a:r>
          </a:p>
        </p:txBody>
      </p:sp>
      <p:sp>
        <p:nvSpPr>
          <p:cNvPr id="13" name="Rounded Rectangle 12"/>
          <p:cNvSpPr/>
          <p:nvPr/>
        </p:nvSpPr>
        <p:spPr>
          <a:xfrm>
            <a:off x="7955279" y="2743200"/>
            <a:ext cx="3520440" cy="2606040"/>
          </a:xfrm>
          <a:prstGeom prst="roundRect">
            <a:avLst>
              <a:gd name="adj" fmla="val 3117"/>
            </a:avLst>
          </a:prstGeom>
          <a:solidFill>
            <a:srgbClr val="F1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75319" y="2944368"/>
            <a:ext cx="2880360" cy="384048"/>
          </a:xfrm>
          <a:prstGeom prst="rect">
            <a:avLst/>
          </a:prstGeom>
          <a:noFill/>
        </p:spPr>
        <p:txBody>
          <a:bodyPr wrap="square" lIns="0" tIns="0" rIns="0" bIns="0">
            <a:spAutoFit/>
          </a:bodyPr>
          <a:lstStyle/>
          <a:p>
            <a:pPr algn="l">
              <a:lnSpc>
                <a:spcPct val="100000"/>
              </a:lnSpc>
            </a:pPr>
            <a:r>
              <a:rPr sz="1800" b="1">
                <a:solidFill>
                  <a:srgbClr val="16201C"/>
                </a:solidFill>
                <a:latin typeface="Cambria"/>
              </a:rPr>
              <a:t>The output</a:t>
            </a:r>
          </a:p>
        </p:txBody>
      </p:sp>
      <p:sp>
        <p:nvSpPr>
          <p:cNvPr id="15" name="TextBox 14"/>
          <p:cNvSpPr txBox="1"/>
          <p:nvPr/>
        </p:nvSpPr>
        <p:spPr>
          <a:xfrm>
            <a:off x="8275319" y="3401568"/>
            <a:ext cx="2880360" cy="1691640"/>
          </a:xfrm>
          <a:prstGeom prst="rect">
            <a:avLst/>
          </a:prstGeom>
          <a:noFill/>
        </p:spPr>
        <p:txBody>
          <a:bodyPr wrap="square" lIns="0" tIns="0" rIns="0" bIns="0">
            <a:spAutoFit/>
          </a:bodyPr>
          <a:lstStyle/>
          <a:p>
            <a:pPr>
              <a:lnSpc>
                <a:spcPct val="112000"/>
              </a:lnSpc>
              <a:spcAft>
                <a:spcPts val="500"/>
              </a:spcAft>
            </a:pPr>
            <a:r>
              <a:rPr sz="1000">
                <a:solidFill>
                  <a:srgbClr val="6B7280"/>
                </a:solidFill>
                <a:latin typeface="Calibri"/>
              </a:rPr>
              <a:t>·  Up to five plain-language insights per generation, each tied to one nutrient and the user's goal</a:t>
            </a:r>
          </a:p>
          <a:p>
            <a:pPr>
              <a:lnSpc>
                <a:spcPct val="112000"/>
              </a:lnSpc>
              <a:spcAft>
                <a:spcPts val="500"/>
              </a:spcAft>
            </a:pPr>
            <a:r>
              <a:rPr sz="1000">
                <a:solidFill>
                  <a:srgbClr val="6B7280"/>
                </a:solidFill>
                <a:latin typeface="Calibri"/>
              </a:rPr>
              <a:t>·  Each carries the statutory disclaimer verbatim from the API, never hard-coded in the app</a:t>
            </a:r>
          </a:p>
          <a:p>
            <a:pPr>
              <a:lnSpc>
                <a:spcPct val="112000"/>
              </a:lnSpc>
              <a:spcAft>
                <a:spcPts val="500"/>
              </a:spcAft>
            </a:pPr>
            <a:r>
              <a:rPr sz="1000">
                <a:solidFill>
                  <a:srgbClr val="6B7280"/>
                </a:solidFill>
                <a:latin typeface="Calibri"/>
              </a:rPr>
              <a:t>·  Cached for six hours and regenerated as new meals land</a:t>
            </a:r>
          </a:p>
        </p:txBody>
      </p:sp>
      <p:sp>
        <p:nvSpPr>
          <p:cNvPr id="16" name="Rounded Rectangle 15"/>
          <p:cNvSpPr/>
          <p:nvPr/>
        </p:nvSpPr>
        <p:spPr>
          <a:xfrm>
            <a:off x="548640" y="5486400"/>
            <a:ext cx="11109960" cy="777240"/>
          </a:xfrm>
          <a:prstGeom prst="roundRect">
            <a:avLst>
              <a:gd name="adj" fmla="val 3117"/>
            </a:avLst>
          </a:prstGeom>
          <a:solidFill>
            <a:srgbClr val="F1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5650992"/>
            <a:ext cx="10469880" cy="475488"/>
          </a:xfrm>
          <a:prstGeom prst="rect">
            <a:avLst/>
          </a:prstGeom>
          <a:noFill/>
        </p:spPr>
        <p:txBody>
          <a:bodyPr wrap="square" lIns="0" tIns="0" rIns="0" bIns="0">
            <a:spAutoFit/>
          </a:bodyPr>
          <a:lstStyle/>
          <a:p>
            <a:pPr algn="l">
              <a:lnSpc>
                <a:spcPct val="115000"/>
              </a:lnSpc>
            </a:pPr>
            <a:r>
              <a:rPr sz="1100" b="0">
                <a:solidFill>
                  <a:srgbClr val="6B7280"/>
                </a:solidFill>
                <a:latin typeface="Calibri"/>
              </a:rPr>
              <a:t>Content-based filtering, not collaborative: the system has one user's history to work with, and a cold-start recommendation drawn from other people's diets would be advice nobody asked for. The engine compares the user against their own goal, and nothing else.</a:t>
            </a:r>
          </a:p>
        </p:txBody>
      </p:sp>
      <p:sp>
        <p:nvSpPr>
          <p:cNvPr id="18" name="TextBox 17"/>
          <p:cNvSpPr txBox="1"/>
          <p:nvPr/>
        </p:nvSpPr>
        <p:spPr>
          <a:xfrm>
            <a:off x="11548872" y="6473952"/>
            <a:ext cx="457200" cy="274320"/>
          </a:xfrm>
          <a:prstGeom prst="rect">
            <a:avLst/>
          </a:prstGeom>
          <a:noFill/>
        </p:spPr>
        <p:txBody>
          <a:bodyPr wrap="square" lIns="0" tIns="0" rIns="0" bIns="0">
            <a:spAutoFit/>
          </a:bodyPr>
          <a:lstStyle/>
          <a:p>
            <a:pPr algn="l">
              <a:lnSpc>
                <a:spcPct val="100000"/>
              </a:lnSpc>
            </a:pPr>
            <a:r>
              <a:rPr sz="1000" b="0">
                <a:solidFill>
                  <a:srgbClr val="6B7280"/>
                </a:solidFill>
                <a:latin typeface="Calibri"/>
              </a:rPr>
              <a:t>17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14181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DDC97"/>
                </a:solidFill>
                <a:latin typeface="Calibri" pitchFamily="34" charset="0"/>
                <a:ea typeface="Calibri" pitchFamily="34" charset="-122"/>
                <a:cs typeface="Calibri" pitchFamily="34" charset="-120"/>
              </a:rPr>
              <a:t>APP WALKTHROUGH</a:t>
            </a:r>
            <a:endParaRPr lang="en-US" sz="1300" dirty="0"/>
          </a:p>
        </p:txBody>
      </p:sp>
      <p:sp>
        <p:nvSpPr>
          <p:cNvPr id="3" name="Text 1"/>
          <p:cNvSpPr/>
          <p:nvPr/>
        </p:nvSpPr>
        <p:spPr>
          <a:xfrm>
            <a:off x="548640" y="658368"/>
            <a:ext cx="9601200" cy="8229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Get started in seconds</a:t>
            </a:r>
            <a:endParaRPr lang="en-US" sz="3200" dirty="0"/>
          </a:p>
        </p:txBody>
      </p:sp>
      <p:sp>
        <p:nvSpPr>
          <p:cNvPr id="4" name="Shape 2"/>
          <p:cNvSpPr/>
          <p:nvPr/>
        </p:nvSpPr>
        <p:spPr>
          <a:xfrm>
            <a:off x="2276856" y="1819656"/>
            <a:ext cx="1981962" cy="4270248"/>
          </a:xfrm>
          <a:prstGeom prst="roundRect">
            <a:avLst>
              <a:gd name="adj" fmla="val 6459"/>
            </a:avLst>
          </a:prstGeom>
          <a:solidFill>
            <a:srgbClr val="FFFFFF"/>
          </a:solidFill>
          <a:ln w="12700">
            <a:solidFill>
              <a:srgbClr val="E3E9E6"/>
            </a:solidFill>
            <a:prstDash val="solid"/>
          </a:ln>
          <a:effectLst>
            <a:outerShdw blurRad="127000" dist="38100" dir="5400000" algn="bl" rotWithShape="0">
              <a:srgbClr val="000000">
                <a:alpha val="25000"/>
              </a:srgbClr>
            </a:outerShdw>
          </a:effectLst>
        </p:spPr>
      </p:sp>
      <p:pic>
        <p:nvPicPr>
          <p:cNvPr id="5" name="Image 0" descr="assets/login.jpeg"/>
          <p:cNvPicPr>
            <a:picLocks noChangeAspect="1"/>
          </p:cNvPicPr>
          <p:nvPr/>
        </p:nvPicPr>
        <p:blipFill>
          <a:blip r:embed="rId3"/>
          <a:stretch>
            <a:fillRect/>
          </a:stretch>
        </p:blipFill>
        <p:spPr>
          <a:xfrm>
            <a:off x="2331720" y="1874520"/>
            <a:ext cx="1872234" cy="4160520"/>
          </a:xfrm>
          <a:prstGeom prst="rect">
            <a:avLst/>
          </a:prstGeom>
        </p:spPr>
      </p:pic>
      <p:sp>
        <p:nvSpPr>
          <p:cNvPr id="6" name="Text 3"/>
          <p:cNvSpPr/>
          <p:nvPr/>
        </p:nvSpPr>
        <p:spPr>
          <a:xfrm>
            <a:off x="2194560" y="6126480"/>
            <a:ext cx="2146554" cy="27432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Login</a:t>
            </a:r>
            <a:endParaRPr lang="en-US" sz="1100" dirty="0"/>
          </a:p>
        </p:txBody>
      </p:sp>
      <p:sp>
        <p:nvSpPr>
          <p:cNvPr id="7" name="Shape 4"/>
          <p:cNvSpPr/>
          <p:nvPr/>
        </p:nvSpPr>
        <p:spPr>
          <a:xfrm>
            <a:off x="6391656" y="1819656"/>
            <a:ext cx="1981962" cy="4270248"/>
          </a:xfrm>
          <a:prstGeom prst="roundRect">
            <a:avLst>
              <a:gd name="adj" fmla="val 6459"/>
            </a:avLst>
          </a:prstGeom>
          <a:solidFill>
            <a:srgbClr val="FFFFFF"/>
          </a:solidFill>
          <a:ln w="12700">
            <a:solidFill>
              <a:srgbClr val="E3E9E6"/>
            </a:solidFill>
            <a:prstDash val="solid"/>
          </a:ln>
          <a:effectLst>
            <a:outerShdw blurRad="127000" dist="38100" dir="5400000" algn="bl" rotWithShape="0">
              <a:srgbClr val="000000">
                <a:alpha val="25000"/>
              </a:srgbClr>
            </a:outerShdw>
          </a:effectLst>
        </p:spPr>
      </p:sp>
      <p:pic>
        <p:nvPicPr>
          <p:cNvPr id="8" name="Image 1" descr="assets/signup.jpeg"/>
          <p:cNvPicPr>
            <a:picLocks noChangeAspect="1"/>
          </p:cNvPicPr>
          <p:nvPr/>
        </p:nvPicPr>
        <p:blipFill>
          <a:blip r:embed="rId4"/>
          <a:stretch>
            <a:fillRect/>
          </a:stretch>
        </p:blipFill>
        <p:spPr>
          <a:xfrm>
            <a:off x="6446520" y="1874520"/>
            <a:ext cx="1872234" cy="4160520"/>
          </a:xfrm>
          <a:prstGeom prst="rect">
            <a:avLst/>
          </a:prstGeom>
        </p:spPr>
      </p:pic>
      <p:sp>
        <p:nvSpPr>
          <p:cNvPr id="9" name="Text 5"/>
          <p:cNvSpPr/>
          <p:nvPr/>
        </p:nvSpPr>
        <p:spPr>
          <a:xfrm>
            <a:off x="6309360" y="6126480"/>
            <a:ext cx="2146554" cy="27432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Create account with a health goal</a:t>
            </a:r>
            <a:endParaRPr lang="en-US" sz="1100" dirty="0"/>
          </a:p>
        </p:txBody>
      </p:sp>
      <p:sp>
        <p:nvSpPr>
          <p:cNvPr id="10" name="Text 6"/>
          <p:cNvSpPr/>
          <p:nvPr/>
        </p:nvSpPr>
        <p:spPr>
          <a:xfrm>
            <a:off x="1154887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14181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DDC97"/>
                </a:solidFill>
                <a:latin typeface="Calibri" pitchFamily="34" charset="0"/>
                <a:ea typeface="Calibri" pitchFamily="34" charset="-122"/>
                <a:cs typeface="Calibri" pitchFamily="34" charset="-120"/>
              </a:rPr>
              <a:t>APP WALKTHROUGH</a:t>
            </a:r>
            <a:endParaRPr lang="en-US" sz="1300" dirty="0"/>
          </a:p>
        </p:txBody>
      </p:sp>
      <p:sp>
        <p:nvSpPr>
          <p:cNvPr id="3" name="Text 1"/>
          <p:cNvSpPr/>
          <p:nvPr/>
        </p:nvSpPr>
        <p:spPr>
          <a:xfrm>
            <a:off x="548640" y="658368"/>
            <a:ext cx="9601200" cy="8229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Photo in, nutrition out</a:t>
            </a:r>
            <a:endParaRPr lang="en-US" sz="3200" dirty="0"/>
          </a:p>
        </p:txBody>
      </p:sp>
      <p:sp>
        <p:nvSpPr>
          <p:cNvPr id="4" name="Text 2"/>
          <p:cNvSpPr/>
          <p:nvPr/>
        </p:nvSpPr>
        <p:spPr>
          <a:xfrm>
            <a:off x="548640" y="1371600"/>
            <a:ext cx="9144000" cy="365760"/>
          </a:xfrm>
          <a:prstGeom prst="rect">
            <a:avLst/>
          </a:prstGeom>
          <a:noFill/>
          <a:ln/>
        </p:spPr>
        <p:txBody>
          <a:bodyPr wrap="square" rtlCol="0" anchor="ctr"/>
          <a:lstStyle/>
          <a:p>
            <a:pPr marL="0" indent="0">
              <a:buNone/>
            </a:pPr>
            <a:r>
              <a:rPr lang="en-US" sz="1300" dirty="0">
                <a:solidFill>
                  <a:srgbClr val="9CA8A3"/>
                </a:solidFill>
                <a:latin typeface="Calibri" pitchFamily="34" charset="0"/>
                <a:ea typeface="Calibri" pitchFamily="34" charset="-122"/>
                <a:cs typeface="Calibri" pitchFamily="34" charset="-120"/>
              </a:rPr>
              <a:t>The entire recognition-to-nutrition journey in three taps.</a:t>
            </a:r>
            <a:endParaRPr lang="en-US" sz="1300" dirty="0"/>
          </a:p>
        </p:txBody>
      </p:sp>
      <p:sp>
        <p:nvSpPr>
          <p:cNvPr id="5" name="Shape 3"/>
          <p:cNvSpPr/>
          <p:nvPr/>
        </p:nvSpPr>
        <p:spPr>
          <a:xfrm>
            <a:off x="722376" y="2002536"/>
            <a:ext cx="1817370" cy="3904488"/>
          </a:xfrm>
          <a:prstGeom prst="roundRect">
            <a:avLst>
              <a:gd name="adj" fmla="val 7044"/>
            </a:avLst>
          </a:prstGeom>
          <a:solidFill>
            <a:srgbClr val="FFFFFF"/>
          </a:solidFill>
          <a:ln w="12700">
            <a:solidFill>
              <a:srgbClr val="E3E9E6"/>
            </a:solidFill>
            <a:prstDash val="solid"/>
          </a:ln>
          <a:effectLst>
            <a:outerShdw blurRad="127000" dist="38100" dir="5400000" algn="bl" rotWithShape="0">
              <a:srgbClr val="000000">
                <a:alpha val="25000"/>
              </a:srgbClr>
            </a:outerShdw>
          </a:effectLst>
        </p:spPr>
      </p:sp>
      <p:pic>
        <p:nvPicPr>
          <p:cNvPr id="6" name="Image 0" descr="assets/capture.jpeg"/>
          <p:cNvPicPr>
            <a:picLocks noChangeAspect="1"/>
          </p:cNvPicPr>
          <p:nvPr/>
        </p:nvPicPr>
        <p:blipFill>
          <a:blip r:embed="rId3"/>
          <a:stretch>
            <a:fillRect/>
          </a:stretch>
        </p:blipFill>
        <p:spPr>
          <a:xfrm>
            <a:off x="777240" y="2057400"/>
            <a:ext cx="1707642" cy="3794760"/>
          </a:xfrm>
          <a:prstGeom prst="rect">
            <a:avLst/>
          </a:prstGeom>
        </p:spPr>
      </p:pic>
      <p:sp>
        <p:nvSpPr>
          <p:cNvPr id="7" name="Text 4"/>
          <p:cNvSpPr/>
          <p:nvPr/>
        </p:nvSpPr>
        <p:spPr>
          <a:xfrm>
            <a:off x="640080" y="5943600"/>
            <a:ext cx="1981962" cy="27432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1. Capture</a:t>
            </a:r>
            <a:endParaRPr lang="en-US" sz="1100" dirty="0"/>
          </a:p>
        </p:txBody>
      </p:sp>
      <p:sp>
        <p:nvSpPr>
          <p:cNvPr id="8" name="Shape 5"/>
          <p:cNvSpPr/>
          <p:nvPr/>
        </p:nvSpPr>
        <p:spPr>
          <a:xfrm>
            <a:off x="4379976" y="2002536"/>
            <a:ext cx="1817370" cy="3904488"/>
          </a:xfrm>
          <a:prstGeom prst="roundRect">
            <a:avLst>
              <a:gd name="adj" fmla="val 7044"/>
            </a:avLst>
          </a:prstGeom>
          <a:solidFill>
            <a:srgbClr val="FFFFFF"/>
          </a:solidFill>
          <a:ln w="12700">
            <a:solidFill>
              <a:srgbClr val="E3E9E6"/>
            </a:solidFill>
            <a:prstDash val="solid"/>
          </a:ln>
          <a:effectLst>
            <a:outerShdw blurRad="127000" dist="38100" dir="5400000" algn="bl" rotWithShape="0">
              <a:srgbClr val="000000">
                <a:alpha val="25000"/>
              </a:srgbClr>
            </a:outerShdw>
          </a:effectLst>
        </p:spPr>
      </p:sp>
      <p:pic>
        <p:nvPicPr>
          <p:cNvPr id="9" name="Image 1" descr="assets/recognition_confirm.jpeg"/>
          <p:cNvPicPr>
            <a:picLocks noChangeAspect="1"/>
          </p:cNvPicPr>
          <p:nvPr/>
        </p:nvPicPr>
        <p:blipFill>
          <a:blip r:embed="rId4"/>
          <a:stretch>
            <a:fillRect/>
          </a:stretch>
        </p:blipFill>
        <p:spPr>
          <a:xfrm>
            <a:off x="4434840" y="2057400"/>
            <a:ext cx="1707642" cy="3794760"/>
          </a:xfrm>
          <a:prstGeom prst="rect">
            <a:avLst/>
          </a:prstGeom>
        </p:spPr>
      </p:pic>
      <p:sp>
        <p:nvSpPr>
          <p:cNvPr id="10" name="Text 6"/>
          <p:cNvSpPr/>
          <p:nvPr/>
        </p:nvSpPr>
        <p:spPr>
          <a:xfrm>
            <a:off x="4297680" y="5943600"/>
            <a:ext cx="1981962" cy="27432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2. Confirm &amp; adjust portion</a:t>
            </a:r>
            <a:endParaRPr lang="en-US" sz="1100" dirty="0"/>
          </a:p>
        </p:txBody>
      </p:sp>
      <p:sp>
        <p:nvSpPr>
          <p:cNvPr id="11" name="Shape 7"/>
          <p:cNvSpPr/>
          <p:nvPr/>
        </p:nvSpPr>
        <p:spPr>
          <a:xfrm>
            <a:off x="8037576" y="2002536"/>
            <a:ext cx="1817370" cy="3904488"/>
          </a:xfrm>
          <a:prstGeom prst="roundRect">
            <a:avLst>
              <a:gd name="adj" fmla="val 7044"/>
            </a:avLst>
          </a:prstGeom>
          <a:solidFill>
            <a:srgbClr val="FFFFFF"/>
          </a:solidFill>
          <a:ln w="12700">
            <a:solidFill>
              <a:srgbClr val="E3E9E6"/>
            </a:solidFill>
            <a:prstDash val="solid"/>
          </a:ln>
          <a:effectLst>
            <a:outerShdw blurRad="127000" dist="38100" dir="5400000" algn="bl" rotWithShape="0">
              <a:srgbClr val="000000">
                <a:alpha val="25000"/>
              </a:srgbClr>
            </a:outerShdw>
          </a:effectLst>
        </p:spPr>
      </p:sp>
      <p:pic>
        <p:nvPicPr>
          <p:cNvPr id="12" name="Image 2" descr="assets/nutrition_result.jpeg"/>
          <p:cNvPicPr>
            <a:picLocks noChangeAspect="1"/>
          </p:cNvPicPr>
          <p:nvPr/>
        </p:nvPicPr>
        <p:blipFill>
          <a:blip r:embed="rId5"/>
          <a:stretch>
            <a:fillRect/>
          </a:stretch>
        </p:blipFill>
        <p:spPr>
          <a:xfrm>
            <a:off x="8092440" y="2057400"/>
            <a:ext cx="1707642" cy="3794760"/>
          </a:xfrm>
          <a:prstGeom prst="rect">
            <a:avLst/>
          </a:prstGeom>
        </p:spPr>
      </p:pic>
      <p:sp>
        <p:nvSpPr>
          <p:cNvPr id="13" name="Text 8"/>
          <p:cNvSpPr/>
          <p:nvPr/>
        </p:nvSpPr>
        <p:spPr>
          <a:xfrm>
            <a:off x="7955280" y="5943600"/>
            <a:ext cx="1981962" cy="27432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3. Review &amp; log</a:t>
            </a:r>
            <a:endParaRPr lang="en-US" sz="1100" dirty="0"/>
          </a:p>
        </p:txBody>
      </p:sp>
      <p:sp>
        <p:nvSpPr>
          <p:cNvPr id="14" name="Text 9"/>
          <p:cNvSpPr/>
          <p:nvPr/>
        </p:nvSpPr>
        <p:spPr>
          <a:xfrm>
            <a:off x="2667762" y="3680460"/>
            <a:ext cx="548640" cy="548640"/>
          </a:xfrm>
          <a:prstGeom prst="rect">
            <a:avLst/>
          </a:prstGeom>
          <a:noFill/>
          <a:ln/>
        </p:spPr>
        <p:txBody>
          <a:bodyPr wrap="square" rtlCol="0" anchor="ctr"/>
          <a:lstStyle/>
          <a:p>
            <a:pPr marL="0" indent="0" algn="ctr">
              <a:buNone/>
            </a:pPr>
            <a:r>
              <a:rPr lang="en-US" sz="2600" dirty="0">
                <a:solidFill>
                  <a:srgbClr val="3DDC97"/>
                </a:solidFill>
                <a:latin typeface="Calibri" pitchFamily="34" charset="0"/>
                <a:ea typeface="Calibri" pitchFamily="34" charset="-122"/>
                <a:cs typeface="Calibri" pitchFamily="34" charset="-120"/>
              </a:rPr>
              <a:t>→</a:t>
            </a:r>
            <a:endParaRPr lang="en-US" sz="2600" dirty="0"/>
          </a:p>
        </p:txBody>
      </p:sp>
      <p:sp>
        <p:nvSpPr>
          <p:cNvPr id="15" name="Text 10"/>
          <p:cNvSpPr/>
          <p:nvPr/>
        </p:nvSpPr>
        <p:spPr>
          <a:xfrm>
            <a:off x="6325362" y="3680460"/>
            <a:ext cx="548640" cy="548640"/>
          </a:xfrm>
          <a:prstGeom prst="rect">
            <a:avLst/>
          </a:prstGeom>
          <a:noFill/>
          <a:ln/>
        </p:spPr>
        <p:txBody>
          <a:bodyPr wrap="square" rtlCol="0" anchor="ctr"/>
          <a:lstStyle/>
          <a:p>
            <a:pPr marL="0" indent="0" algn="ctr">
              <a:buNone/>
            </a:pPr>
            <a:r>
              <a:rPr lang="en-US" sz="2600" dirty="0">
                <a:solidFill>
                  <a:srgbClr val="3DDC97"/>
                </a:solidFill>
                <a:latin typeface="Calibri" pitchFamily="34" charset="0"/>
                <a:ea typeface="Calibri" pitchFamily="34" charset="-122"/>
                <a:cs typeface="Calibri" pitchFamily="34" charset="-120"/>
              </a:rPr>
              <a:t>→</a:t>
            </a:r>
            <a:endParaRPr lang="en-US" sz="2600" dirty="0"/>
          </a:p>
        </p:txBody>
      </p:sp>
      <p:sp>
        <p:nvSpPr>
          <p:cNvPr id="16" name="Text 11"/>
          <p:cNvSpPr/>
          <p:nvPr/>
        </p:nvSpPr>
        <p:spPr>
          <a:xfrm>
            <a:off x="1154887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14181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DDC97"/>
                </a:solidFill>
                <a:latin typeface="Calibri" pitchFamily="34" charset="0"/>
                <a:ea typeface="Calibri" pitchFamily="34" charset="-122"/>
                <a:cs typeface="Calibri" pitchFamily="34" charset="-120"/>
              </a:rPr>
              <a:t>APP WALKTHROUGH</a:t>
            </a:r>
            <a:endParaRPr lang="en-US" sz="1300" dirty="0"/>
          </a:p>
        </p:txBody>
      </p:sp>
      <p:sp>
        <p:nvSpPr>
          <p:cNvPr id="3" name="Text 1"/>
          <p:cNvSpPr/>
          <p:nvPr/>
        </p:nvSpPr>
        <p:spPr>
          <a:xfrm>
            <a:off x="548640" y="658368"/>
            <a:ext cx="9601200" cy="8229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Track history, get personalised insights</a:t>
            </a:r>
            <a:endParaRPr lang="en-US" sz="3200" dirty="0"/>
          </a:p>
        </p:txBody>
      </p:sp>
      <p:sp>
        <p:nvSpPr>
          <p:cNvPr id="4" name="Shape 2"/>
          <p:cNvSpPr/>
          <p:nvPr/>
        </p:nvSpPr>
        <p:spPr>
          <a:xfrm>
            <a:off x="630936" y="2093976"/>
            <a:ext cx="1776222" cy="3813048"/>
          </a:xfrm>
          <a:prstGeom prst="roundRect">
            <a:avLst>
              <a:gd name="adj" fmla="val 7207"/>
            </a:avLst>
          </a:prstGeom>
          <a:solidFill>
            <a:srgbClr val="FFFFFF"/>
          </a:solidFill>
          <a:ln w="12700">
            <a:solidFill>
              <a:srgbClr val="E3E9E6"/>
            </a:solidFill>
            <a:prstDash val="solid"/>
          </a:ln>
          <a:effectLst>
            <a:outerShdw blurRad="127000" dist="38100" dir="5400000" algn="bl" rotWithShape="0">
              <a:srgbClr val="000000">
                <a:alpha val="25000"/>
              </a:srgbClr>
            </a:outerShdw>
          </a:effectLst>
        </p:spPr>
      </p:sp>
      <p:pic>
        <p:nvPicPr>
          <p:cNvPr id="5" name="Image 0" descr="assets/history.jpeg"/>
          <p:cNvPicPr>
            <a:picLocks noChangeAspect="1"/>
          </p:cNvPicPr>
          <p:nvPr/>
        </p:nvPicPr>
        <p:blipFill>
          <a:blip r:embed="rId3"/>
          <a:stretch>
            <a:fillRect/>
          </a:stretch>
        </p:blipFill>
        <p:spPr>
          <a:xfrm>
            <a:off x="685800" y="2148840"/>
            <a:ext cx="1666494" cy="3703320"/>
          </a:xfrm>
          <a:prstGeom prst="rect">
            <a:avLst/>
          </a:prstGeom>
        </p:spPr>
      </p:pic>
      <p:sp>
        <p:nvSpPr>
          <p:cNvPr id="6" name="Text 3"/>
          <p:cNvSpPr/>
          <p:nvPr/>
        </p:nvSpPr>
        <p:spPr>
          <a:xfrm>
            <a:off x="548640" y="5943600"/>
            <a:ext cx="1940814" cy="27432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Meal History</a:t>
            </a:r>
            <a:endParaRPr lang="en-US" sz="1100" dirty="0"/>
          </a:p>
        </p:txBody>
      </p:sp>
      <p:sp>
        <p:nvSpPr>
          <p:cNvPr id="7" name="Shape 4"/>
          <p:cNvSpPr/>
          <p:nvPr/>
        </p:nvSpPr>
        <p:spPr>
          <a:xfrm>
            <a:off x="4288536" y="2093976"/>
            <a:ext cx="1776222" cy="3813048"/>
          </a:xfrm>
          <a:prstGeom prst="roundRect">
            <a:avLst>
              <a:gd name="adj" fmla="val 7207"/>
            </a:avLst>
          </a:prstGeom>
          <a:solidFill>
            <a:srgbClr val="FFFFFF"/>
          </a:solidFill>
          <a:ln w="12700">
            <a:solidFill>
              <a:srgbClr val="E3E9E6"/>
            </a:solidFill>
            <a:prstDash val="solid"/>
          </a:ln>
          <a:effectLst>
            <a:outerShdw blurRad="127000" dist="38100" dir="5400000" algn="bl" rotWithShape="0">
              <a:srgbClr val="000000">
                <a:alpha val="25000"/>
              </a:srgbClr>
            </a:outerShdw>
          </a:effectLst>
        </p:spPr>
      </p:sp>
      <p:pic>
        <p:nvPicPr>
          <p:cNvPr id="8" name="Image 1" descr="assets/insights1.jpeg"/>
          <p:cNvPicPr>
            <a:picLocks noChangeAspect="1"/>
          </p:cNvPicPr>
          <p:nvPr/>
        </p:nvPicPr>
        <p:blipFill>
          <a:blip r:embed="rId4"/>
          <a:stretch>
            <a:fillRect/>
          </a:stretch>
        </p:blipFill>
        <p:spPr>
          <a:xfrm>
            <a:off x="4343400" y="2148840"/>
            <a:ext cx="1666494" cy="3703320"/>
          </a:xfrm>
          <a:prstGeom prst="rect">
            <a:avLst/>
          </a:prstGeom>
        </p:spPr>
      </p:pic>
      <p:sp>
        <p:nvSpPr>
          <p:cNvPr id="9" name="Text 5"/>
          <p:cNvSpPr/>
          <p:nvPr/>
        </p:nvSpPr>
        <p:spPr>
          <a:xfrm>
            <a:off x="4206240" y="5943600"/>
            <a:ext cx="1940814" cy="27432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Daily Insights</a:t>
            </a:r>
            <a:endParaRPr lang="en-US" sz="1100" dirty="0"/>
          </a:p>
        </p:txBody>
      </p:sp>
      <p:sp>
        <p:nvSpPr>
          <p:cNvPr id="10" name="Shape 6"/>
          <p:cNvSpPr/>
          <p:nvPr/>
        </p:nvSpPr>
        <p:spPr>
          <a:xfrm>
            <a:off x="7946136" y="2093976"/>
            <a:ext cx="1776222" cy="3813048"/>
          </a:xfrm>
          <a:prstGeom prst="roundRect">
            <a:avLst>
              <a:gd name="adj" fmla="val 7207"/>
            </a:avLst>
          </a:prstGeom>
          <a:solidFill>
            <a:srgbClr val="FFFFFF"/>
          </a:solidFill>
          <a:ln w="12700">
            <a:solidFill>
              <a:srgbClr val="E3E9E6"/>
            </a:solidFill>
            <a:prstDash val="solid"/>
          </a:ln>
          <a:effectLst>
            <a:outerShdw blurRad="127000" dist="38100" dir="5400000" algn="bl" rotWithShape="0">
              <a:srgbClr val="000000">
                <a:alpha val="25000"/>
              </a:srgbClr>
            </a:outerShdw>
          </a:effectLst>
        </p:spPr>
      </p:sp>
      <p:pic>
        <p:nvPicPr>
          <p:cNvPr id="11" name="Image 2" descr="assets/profile.jpeg"/>
          <p:cNvPicPr>
            <a:picLocks noChangeAspect="1"/>
          </p:cNvPicPr>
          <p:nvPr/>
        </p:nvPicPr>
        <p:blipFill>
          <a:blip r:embed="rId5"/>
          <a:stretch>
            <a:fillRect/>
          </a:stretch>
        </p:blipFill>
        <p:spPr>
          <a:xfrm>
            <a:off x="8001000" y="2148840"/>
            <a:ext cx="1666494" cy="3703320"/>
          </a:xfrm>
          <a:prstGeom prst="rect">
            <a:avLst/>
          </a:prstGeom>
        </p:spPr>
      </p:pic>
      <p:sp>
        <p:nvSpPr>
          <p:cNvPr id="12" name="Text 7"/>
          <p:cNvSpPr/>
          <p:nvPr/>
        </p:nvSpPr>
        <p:spPr>
          <a:xfrm>
            <a:off x="7863840" y="5943600"/>
            <a:ext cx="1940814" cy="27432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Profile &amp; Goals</a:t>
            </a:r>
            <a:endParaRPr lang="en-US" sz="1100" dirty="0"/>
          </a:p>
        </p:txBody>
      </p:sp>
      <p:sp>
        <p:nvSpPr>
          <p:cNvPr id="13" name="Text 8"/>
          <p:cNvSpPr/>
          <p:nvPr/>
        </p:nvSpPr>
        <p:spPr>
          <a:xfrm>
            <a:off x="1154887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1F7A54"/>
                </a:solidFill>
                <a:latin typeface="Calibri" pitchFamily="34" charset="0"/>
                <a:ea typeface="Calibri" pitchFamily="34" charset="-122"/>
                <a:cs typeface="Calibri" pitchFamily="34" charset="-120"/>
              </a:rPr>
              <a:t>TESTING &amp; VALIDATION</a:t>
            </a:r>
            <a:endParaRPr lang="en-US" sz="1300" dirty="0"/>
          </a:p>
        </p:txBody>
      </p:sp>
      <p:sp>
        <p:nvSpPr>
          <p:cNvPr id="3" name="Text 1"/>
          <p:cNvSpPr/>
          <p:nvPr/>
        </p:nvSpPr>
        <p:spPr>
          <a:xfrm>
            <a:off x="548640" y="658368"/>
            <a:ext cx="9601200" cy="822960"/>
          </a:xfrm>
          <a:prstGeom prst="rect">
            <a:avLst/>
          </a:prstGeom>
          <a:noFill/>
          <a:ln/>
        </p:spPr>
        <p:txBody>
          <a:bodyPr wrap="square" rtlCol="0" anchor="ctr"/>
          <a:lstStyle/>
          <a:p>
            <a:pPr marL="0" indent="0">
              <a:buNone/>
            </a:pPr>
            <a:r>
              <a:rPr lang="en-US" sz="3200" b="1" dirty="0">
                <a:solidFill>
                  <a:srgbClr val="16201C"/>
                </a:solidFill>
                <a:latin typeface="Cambria" pitchFamily="34" charset="0"/>
                <a:ea typeface="Cambria" pitchFamily="34" charset="-122"/>
                <a:cs typeface="Cambria" pitchFamily="34" charset="-120"/>
              </a:rPr>
              <a:t>Tested at four levels, not just claimed</a:t>
            </a:r>
            <a:endParaRPr lang="en-US" sz="3200" dirty="0"/>
          </a:p>
        </p:txBody>
      </p:sp>
      <p:sp>
        <p:nvSpPr>
          <p:cNvPr id="4" name="Shape 2"/>
          <p:cNvSpPr/>
          <p:nvPr/>
        </p:nvSpPr>
        <p:spPr>
          <a:xfrm>
            <a:off x="548640" y="1965960"/>
            <a:ext cx="2606040" cy="2331720"/>
          </a:xfrm>
          <a:prstGeom prst="roundRect">
            <a:avLst>
              <a:gd name="adj" fmla="val 3922"/>
            </a:avLst>
          </a:prstGeom>
          <a:solidFill>
            <a:srgbClr val="F1F5F3"/>
          </a:solidFill>
          <a:ln/>
        </p:spPr>
      </p:sp>
      <p:sp>
        <p:nvSpPr>
          <p:cNvPr id="5" name="Shape 3"/>
          <p:cNvSpPr/>
          <p:nvPr/>
        </p:nvSpPr>
        <p:spPr>
          <a:xfrm>
            <a:off x="1531620" y="2221992"/>
            <a:ext cx="640080" cy="640080"/>
          </a:xfrm>
          <a:prstGeom prst="ellipse">
            <a:avLst/>
          </a:prstGeom>
          <a:solidFill>
            <a:srgbClr val="14181A"/>
          </a:solidFill>
          <a:ln/>
        </p:spPr>
      </p:sp>
      <p:pic>
        <p:nvPicPr>
          <p:cNvPr id="6" name="Image 0" descr="assets/icon_shield_FFFFFF.png"/>
          <p:cNvPicPr>
            <a:picLocks noChangeAspect="1"/>
          </p:cNvPicPr>
          <p:nvPr/>
        </p:nvPicPr>
        <p:blipFill>
          <a:blip r:embed="rId3"/>
          <a:stretch>
            <a:fillRect/>
          </a:stretch>
        </p:blipFill>
        <p:spPr>
          <a:xfrm>
            <a:off x="1698041" y="2388413"/>
            <a:ext cx="307238" cy="307238"/>
          </a:xfrm>
          <a:prstGeom prst="rect">
            <a:avLst/>
          </a:prstGeom>
        </p:spPr>
      </p:pic>
      <p:sp>
        <p:nvSpPr>
          <p:cNvPr id="7" name="Text 4"/>
          <p:cNvSpPr/>
          <p:nvPr/>
        </p:nvSpPr>
        <p:spPr>
          <a:xfrm>
            <a:off x="548640" y="2926080"/>
            <a:ext cx="2606040" cy="548640"/>
          </a:xfrm>
          <a:prstGeom prst="rect">
            <a:avLst/>
          </a:prstGeom>
          <a:noFill/>
          <a:ln/>
        </p:spPr>
        <p:txBody>
          <a:bodyPr wrap="square" rtlCol="0" anchor="ctr"/>
          <a:lstStyle/>
          <a:p>
            <a:pPr marL="0" indent="0" algn="ctr">
              <a:buNone/>
            </a:pPr>
            <a:r>
              <a:rPr lang="en-US" sz="2600" b="1" dirty="0">
                <a:solidFill>
                  <a:srgbClr val="1F7A54"/>
                </a:solidFill>
                <a:latin typeface="Cambria" pitchFamily="34" charset="0"/>
                <a:ea typeface="Cambria" pitchFamily="34" charset="-122"/>
                <a:cs typeface="Cambria" pitchFamily="34" charset="-120"/>
              </a:rPr>
              <a:t>483</a:t>
            </a:r>
            <a:endParaRPr lang="en-US" sz="2600" dirty="0"/>
          </a:p>
        </p:txBody>
      </p:sp>
      <p:sp>
        <p:nvSpPr>
          <p:cNvPr id="8" name="Text 5"/>
          <p:cNvSpPr/>
          <p:nvPr/>
        </p:nvSpPr>
        <p:spPr>
          <a:xfrm>
            <a:off x="685800" y="3474720"/>
            <a:ext cx="2331720" cy="411480"/>
          </a:xfrm>
          <a:prstGeom prst="rect">
            <a:avLst/>
          </a:prstGeom>
          <a:noFill/>
          <a:ln/>
        </p:spPr>
        <p:txBody>
          <a:bodyPr wrap="square" rtlCol="0" anchor="ctr"/>
          <a:lstStyle/>
          <a:p>
            <a:pPr marL="0" indent="0" algn="ctr">
              <a:buNone/>
            </a:pPr>
            <a:r>
              <a:rPr lang="en-US" sz="1200" b="1" dirty="0">
                <a:solidFill>
                  <a:srgbClr val="16201C"/>
                </a:solidFill>
                <a:latin typeface="Calibri" pitchFamily="34" charset="0"/>
                <a:ea typeface="Calibri" pitchFamily="34" charset="-122"/>
                <a:cs typeface="Calibri" pitchFamily="34" charset="-120"/>
              </a:rPr>
              <a:t>Automated backend tests</a:t>
            </a:r>
            <a:endParaRPr lang="en-US" sz="1200" dirty="0"/>
          </a:p>
        </p:txBody>
      </p:sp>
      <p:sp>
        <p:nvSpPr>
          <p:cNvPr id="9" name="Text 6"/>
          <p:cNvSpPr/>
          <p:nvPr/>
        </p:nvSpPr>
        <p:spPr>
          <a:xfrm>
            <a:off x="685800" y="3867912"/>
            <a:ext cx="2331720" cy="365760"/>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20 pytest modules, against a real database</a:t>
            </a:r>
            <a:endParaRPr lang="en-US" sz="950" dirty="0"/>
          </a:p>
        </p:txBody>
      </p:sp>
      <p:sp>
        <p:nvSpPr>
          <p:cNvPr id="10" name="Shape 7"/>
          <p:cNvSpPr/>
          <p:nvPr/>
        </p:nvSpPr>
        <p:spPr>
          <a:xfrm>
            <a:off x="3337560" y="1965960"/>
            <a:ext cx="2606040" cy="2331720"/>
          </a:xfrm>
          <a:prstGeom prst="roundRect">
            <a:avLst>
              <a:gd name="adj" fmla="val 3922"/>
            </a:avLst>
          </a:prstGeom>
          <a:solidFill>
            <a:srgbClr val="F1F5F3"/>
          </a:solidFill>
          <a:ln/>
        </p:spPr>
      </p:sp>
      <p:sp>
        <p:nvSpPr>
          <p:cNvPr id="11" name="Shape 8"/>
          <p:cNvSpPr/>
          <p:nvPr/>
        </p:nvSpPr>
        <p:spPr>
          <a:xfrm>
            <a:off x="4320540" y="2221992"/>
            <a:ext cx="640080" cy="640080"/>
          </a:xfrm>
          <a:prstGeom prst="ellipse">
            <a:avLst/>
          </a:prstGeom>
          <a:solidFill>
            <a:srgbClr val="14181A"/>
          </a:solidFill>
          <a:ln/>
        </p:spPr>
      </p:sp>
      <p:pic>
        <p:nvPicPr>
          <p:cNvPr id="12" name="Image 1" descr="assets/icon_smartphone_FFFFFF.png"/>
          <p:cNvPicPr>
            <a:picLocks noChangeAspect="1"/>
          </p:cNvPicPr>
          <p:nvPr/>
        </p:nvPicPr>
        <p:blipFill>
          <a:blip r:embed="rId4"/>
          <a:stretch>
            <a:fillRect/>
          </a:stretch>
        </p:blipFill>
        <p:spPr>
          <a:xfrm>
            <a:off x="4486961" y="2388413"/>
            <a:ext cx="307238" cy="307238"/>
          </a:xfrm>
          <a:prstGeom prst="rect">
            <a:avLst/>
          </a:prstGeom>
        </p:spPr>
      </p:pic>
      <p:sp>
        <p:nvSpPr>
          <p:cNvPr id="13" name="Text 9"/>
          <p:cNvSpPr/>
          <p:nvPr/>
        </p:nvSpPr>
        <p:spPr>
          <a:xfrm>
            <a:off x="3337560" y="2926080"/>
            <a:ext cx="2606040" cy="548640"/>
          </a:xfrm>
          <a:prstGeom prst="rect">
            <a:avLst/>
          </a:prstGeom>
          <a:noFill/>
          <a:ln/>
        </p:spPr>
        <p:txBody>
          <a:bodyPr wrap="square" rtlCol="0" anchor="ctr"/>
          <a:lstStyle/>
          <a:p>
            <a:pPr marL="0" indent="0" algn="ctr">
              <a:buNone/>
            </a:pPr>
            <a:r>
              <a:rPr lang="en-US" sz="2600" b="1" dirty="0">
                <a:solidFill>
                  <a:srgbClr val="1F7A54"/>
                </a:solidFill>
                <a:latin typeface="Cambria" pitchFamily="34" charset="0"/>
              </a:rPr>
              <a:t>15</a:t>
            </a:r>
          </a:p>
        </p:txBody>
      </p:sp>
      <p:sp>
        <p:nvSpPr>
          <p:cNvPr id="14" name="Text 10"/>
          <p:cNvSpPr/>
          <p:nvPr/>
        </p:nvSpPr>
        <p:spPr>
          <a:xfrm>
            <a:off x="3474720" y="3474720"/>
            <a:ext cx="2331720" cy="411480"/>
          </a:xfrm>
          <a:prstGeom prst="rect">
            <a:avLst/>
          </a:prstGeom>
          <a:noFill/>
          <a:ln/>
        </p:spPr>
        <p:txBody>
          <a:bodyPr wrap="square" rtlCol="0" anchor="ctr"/>
          <a:lstStyle/>
          <a:p>
            <a:pPr marL="0" indent="0" algn="ctr">
              <a:buNone/>
            </a:pPr>
            <a:r>
              <a:rPr lang="en-US" sz="1200" b="1" dirty="0">
                <a:solidFill>
                  <a:srgbClr val="16201C"/>
                </a:solidFill>
                <a:latin typeface="Calibri" pitchFamily="34" charset="0"/>
                <a:ea typeface="Calibri" pitchFamily="34" charset="-122"/>
                <a:cs typeface="Calibri" pitchFamily="34" charset="-120"/>
              </a:rPr>
              <a:t>Manual end-to-end test cases</a:t>
            </a:r>
            <a:endParaRPr lang="en-US" sz="1200" dirty="0"/>
          </a:p>
        </p:txBody>
      </p:sp>
      <p:sp>
        <p:nvSpPr>
          <p:cNvPr id="15" name="Text 11"/>
          <p:cNvSpPr/>
          <p:nvPr/>
        </p:nvSpPr>
        <p:spPr>
          <a:xfrm>
            <a:off x="3474720" y="3867912"/>
            <a:ext cx="2331720" cy="365760"/>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incl. the 60% boundary and a non-food refusal</a:t>
            </a:r>
            <a:endParaRPr lang="en-US" sz="950" dirty="0"/>
          </a:p>
        </p:txBody>
      </p:sp>
      <p:sp>
        <p:nvSpPr>
          <p:cNvPr id="16" name="Shape 12"/>
          <p:cNvSpPr/>
          <p:nvPr/>
        </p:nvSpPr>
        <p:spPr>
          <a:xfrm>
            <a:off x="6126480" y="1965960"/>
            <a:ext cx="2606040" cy="2331720"/>
          </a:xfrm>
          <a:prstGeom prst="roundRect">
            <a:avLst>
              <a:gd name="adj" fmla="val 3922"/>
            </a:avLst>
          </a:prstGeom>
          <a:solidFill>
            <a:srgbClr val="F1F5F3"/>
          </a:solidFill>
          <a:ln/>
        </p:spPr>
      </p:sp>
      <p:sp>
        <p:nvSpPr>
          <p:cNvPr id="17" name="Shape 13"/>
          <p:cNvSpPr/>
          <p:nvPr/>
        </p:nvSpPr>
        <p:spPr>
          <a:xfrm>
            <a:off x="7109460" y="2221992"/>
            <a:ext cx="640080" cy="640080"/>
          </a:xfrm>
          <a:prstGeom prst="ellipse">
            <a:avLst/>
          </a:prstGeom>
          <a:solidFill>
            <a:srgbClr val="14181A"/>
          </a:solidFill>
          <a:ln/>
        </p:spPr>
      </p:sp>
      <p:pic>
        <p:nvPicPr>
          <p:cNvPr id="18" name="Image 2" descr="assets/icon_target_FFFFFF.png"/>
          <p:cNvPicPr>
            <a:picLocks noChangeAspect="1"/>
          </p:cNvPicPr>
          <p:nvPr/>
        </p:nvPicPr>
        <p:blipFill>
          <a:blip r:embed="rId5"/>
          <a:stretch>
            <a:fillRect/>
          </a:stretch>
        </p:blipFill>
        <p:spPr>
          <a:xfrm>
            <a:off x="7275881" y="2388413"/>
            <a:ext cx="307238" cy="307238"/>
          </a:xfrm>
          <a:prstGeom prst="rect">
            <a:avLst/>
          </a:prstGeom>
        </p:spPr>
      </p:pic>
      <p:sp>
        <p:nvSpPr>
          <p:cNvPr id="19" name="Text 14"/>
          <p:cNvSpPr/>
          <p:nvPr/>
        </p:nvSpPr>
        <p:spPr>
          <a:xfrm>
            <a:off x="6126480" y="2926080"/>
            <a:ext cx="2606040" cy="548640"/>
          </a:xfrm>
          <a:prstGeom prst="rect">
            <a:avLst/>
          </a:prstGeom>
          <a:noFill/>
          <a:ln/>
        </p:spPr>
        <p:txBody>
          <a:bodyPr wrap="square" rtlCol="0" anchor="ctr"/>
          <a:lstStyle/>
          <a:p>
            <a:pPr marL="0" indent="0" algn="ctr">
              <a:buNone/>
            </a:pPr>
            <a:r>
              <a:rPr lang="en-US" sz="2600" b="1" dirty="0">
                <a:solidFill>
                  <a:srgbClr val="1F7A54"/>
                </a:solidFill>
                <a:latin typeface="Cambria" pitchFamily="34" charset="0"/>
                <a:ea typeface="Cambria" pitchFamily="34" charset="-122"/>
                <a:cs typeface="Cambria" pitchFamily="34" charset="-120"/>
              </a:rPr>
              <a:t>16%</a:t>
            </a:r>
            <a:endParaRPr lang="en-US" sz="2600" dirty="0"/>
          </a:p>
        </p:txBody>
      </p:sp>
      <p:sp>
        <p:nvSpPr>
          <p:cNvPr id="20" name="Text 15"/>
          <p:cNvSpPr/>
          <p:nvPr/>
        </p:nvSpPr>
        <p:spPr>
          <a:xfrm>
            <a:off x="6263640" y="3474720"/>
            <a:ext cx="2331720" cy="411480"/>
          </a:xfrm>
          <a:prstGeom prst="rect">
            <a:avLst/>
          </a:prstGeom>
          <a:noFill/>
          <a:ln/>
        </p:spPr>
        <p:txBody>
          <a:bodyPr wrap="square" rtlCol="0" anchor="ctr"/>
          <a:lstStyle/>
          <a:p>
            <a:pPr marL="0" indent="0" algn="ctr">
              <a:buNone/>
            </a:pPr>
            <a:r>
              <a:rPr lang="en-US" sz="1200" b="1" dirty="0">
                <a:solidFill>
                  <a:srgbClr val="16201C"/>
                </a:solidFill>
                <a:latin typeface="Calibri" pitchFamily="34" charset="0"/>
                <a:ea typeface="Calibri" pitchFamily="34" charset="-122"/>
                <a:cs typeface="Calibri" pitchFamily="34" charset="-120"/>
              </a:rPr>
              <a:t>Portion error (MAPE)</a:t>
            </a:r>
            <a:endParaRPr lang="en-US" sz="1200" dirty="0"/>
          </a:p>
        </p:txBody>
      </p:sp>
      <p:sp>
        <p:nvSpPr>
          <p:cNvPr id="21" name="Text 16"/>
          <p:cNvSpPr/>
          <p:nvPr/>
        </p:nvSpPr>
        <p:spPr>
          <a:xfrm>
            <a:off x="6263640" y="3867912"/>
            <a:ext cx="2331720" cy="365760"/>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vs kitchen-scale weights; 20–40% is typical in the literature</a:t>
            </a:r>
            <a:endParaRPr lang="en-US" sz="950" dirty="0"/>
          </a:p>
        </p:txBody>
      </p:sp>
      <p:sp>
        <p:nvSpPr>
          <p:cNvPr id="22" name="Shape 17"/>
          <p:cNvSpPr/>
          <p:nvPr/>
        </p:nvSpPr>
        <p:spPr>
          <a:xfrm>
            <a:off x="8915400" y="1965960"/>
            <a:ext cx="2606040" cy="2331720"/>
          </a:xfrm>
          <a:prstGeom prst="roundRect">
            <a:avLst>
              <a:gd name="adj" fmla="val 3922"/>
            </a:avLst>
          </a:prstGeom>
          <a:solidFill>
            <a:srgbClr val="F1F5F3"/>
          </a:solidFill>
          <a:ln/>
        </p:spPr>
      </p:sp>
      <p:sp>
        <p:nvSpPr>
          <p:cNvPr id="23" name="Shape 18"/>
          <p:cNvSpPr/>
          <p:nvPr/>
        </p:nvSpPr>
        <p:spPr>
          <a:xfrm>
            <a:off x="9898380" y="2221992"/>
            <a:ext cx="640080" cy="640080"/>
          </a:xfrm>
          <a:prstGeom prst="ellipse">
            <a:avLst/>
          </a:prstGeom>
          <a:solidFill>
            <a:srgbClr val="14181A"/>
          </a:solidFill>
          <a:ln/>
        </p:spPr>
      </p:sp>
      <p:pic>
        <p:nvPicPr>
          <p:cNvPr id="24" name="Image 3" descr="assets/icon_clipboard_FFFFFF.png"/>
          <p:cNvPicPr>
            <a:picLocks noChangeAspect="1"/>
          </p:cNvPicPr>
          <p:nvPr/>
        </p:nvPicPr>
        <p:blipFill>
          <a:blip r:embed="rId6"/>
          <a:stretch>
            <a:fillRect/>
          </a:stretch>
        </p:blipFill>
        <p:spPr>
          <a:xfrm>
            <a:off x="10064801" y="2388413"/>
            <a:ext cx="307238" cy="307238"/>
          </a:xfrm>
          <a:prstGeom prst="rect">
            <a:avLst/>
          </a:prstGeom>
        </p:spPr>
      </p:pic>
      <p:sp>
        <p:nvSpPr>
          <p:cNvPr id="25" name="Text 19"/>
          <p:cNvSpPr/>
          <p:nvPr/>
        </p:nvSpPr>
        <p:spPr>
          <a:xfrm>
            <a:off x="8915400" y="2926080"/>
            <a:ext cx="2606040" cy="548640"/>
          </a:xfrm>
          <a:prstGeom prst="rect">
            <a:avLst/>
          </a:prstGeom>
          <a:noFill/>
          <a:ln/>
        </p:spPr>
        <p:txBody>
          <a:bodyPr wrap="square" rtlCol="0" anchor="ctr"/>
          <a:lstStyle/>
          <a:p>
            <a:pPr marL="0" indent="0" algn="ctr">
              <a:buNone/>
            </a:pPr>
            <a:r>
              <a:rPr lang="en-US" sz="2600" b="1" dirty="0">
                <a:solidFill>
                  <a:srgbClr val="1F7A54"/>
                </a:solidFill>
                <a:latin typeface="Cambria" pitchFamily="34" charset="0"/>
                <a:ea typeface="Cambria" pitchFamily="34" charset="-122"/>
                <a:cs typeface="Cambria" pitchFamily="34" charset="-120"/>
              </a:rPr>
              <a:t>13 / 14</a:t>
            </a:r>
            <a:endParaRPr lang="en-US" sz="2600" dirty="0"/>
          </a:p>
        </p:txBody>
      </p:sp>
      <p:sp>
        <p:nvSpPr>
          <p:cNvPr id="26" name="Text 20"/>
          <p:cNvSpPr/>
          <p:nvPr/>
        </p:nvSpPr>
        <p:spPr>
          <a:xfrm>
            <a:off x="9052560" y="3474720"/>
            <a:ext cx="2331720" cy="411480"/>
          </a:xfrm>
          <a:prstGeom prst="rect">
            <a:avLst/>
          </a:prstGeom>
          <a:noFill/>
          <a:ln/>
        </p:spPr>
        <p:txBody>
          <a:bodyPr wrap="square" rtlCol="0" anchor="ctr"/>
          <a:lstStyle/>
          <a:p>
            <a:pPr marL="0" indent="0" algn="ctr">
              <a:buNone/>
            </a:pPr>
            <a:r>
              <a:rPr lang="en-US" sz="1200" b="1" dirty="0">
                <a:solidFill>
                  <a:srgbClr val="16201C"/>
                </a:solidFill>
                <a:latin typeface="Calibri" pitchFamily="34" charset="0"/>
                <a:ea typeface="Calibri" pitchFamily="34" charset="-122"/>
                <a:cs typeface="Calibri" pitchFamily="34" charset="-120"/>
              </a:rPr>
              <a:t>Functional requirements verified</a:t>
            </a:r>
            <a:endParaRPr lang="en-US" sz="1200" dirty="0"/>
          </a:p>
        </p:txBody>
      </p:sp>
      <p:sp>
        <p:nvSpPr>
          <p:cNvPr id="27" name="Text 21"/>
          <p:cNvSpPr/>
          <p:nvPr/>
        </p:nvSpPr>
        <p:spPr>
          <a:xfrm>
            <a:off x="9052560" y="3867912"/>
            <a:ext cx="2331720" cy="365760"/>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the 14th — account deletion — is documented future work</a:t>
            </a:r>
            <a:endParaRPr lang="en-US" sz="950" dirty="0"/>
          </a:p>
        </p:txBody>
      </p:sp>
      <p:sp>
        <p:nvSpPr>
          <p:cNvPr id="28" name="Text 22"/>
          <p:cNvSpPr/>
          <p:nvPr/>
        </p:nvSpPr>
        <p:spPr>
          <a:xfrm>
            <a:off x="548640" y="4572000"/>
            <a:ext cx="3657600" cy="365760"/>
          </a:xfrm>
          <a:prstGeom prst="rect">
            <a:avLst/>
          </a:prstGeom>
          <a:noFill/>
          <a:ln/>
        </p:spPr>
        <p:txBody>
          <a:bodyPr wrap="square" rtlCol="0" anchor="ctr"/>
          <a:lstStyle/>
          <a:p>
            <a:pPr marL="0" indent="0">
              <a:buNone/>
            </a:pPr>
            <a:r>
              <a:rPr lang="en-US" sz="1350" b="1" dirty="0">
                <a:solidFill>
                  <a:srgbClr val="16201C"/>
                </a:solidFill>
                <a:latin typeface="Calibri" pitchFamily="34" charset="0"/>
                <a:ea typeface="Calibri" pitchFamily="34" charset="-122"/>
                <a:cs typeface="Calibri" pitchFamily="34" charset="-120"/>
              </a:rPr>
              <a:t>What the numbers actually rest on:</a:t>
            </a:r>
            <a:endParaRPr lang="en-US" sz="1350" dirty="0"/>
          </a:p>
        </p:txBody>
      </p:sp>
      <p:sp>
        <p:nvSpPr>
          <p:cNvPr id="29" name="Text 23"/>
          <p:cNvSpPr/>
          <p:nvPr/>
        </p:nvSpPr>
        <p:spPr>
          <a:xfrm>
            <a:off x="548640" y="4937760"/>
            <a:ext cx="10515600" cy="82296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Tests run through the real FastAPI request cycle against a real database, so routing, validation, auth and the ORM all have to agree. Meal-logging tests assert that a client cannot submit its own calorie values. The ML components sit behind injected protocols, so the portion geometry is pinned exactly with synthetic masks at known scale — no weights loaded. One photo landed at exactly 60% confidence and correctly showed the direct result; a laptop photo scoring 0.46 on “apple pie” was refused outright by the food gate.</a:t>
            </a:r>
            <a:endParaRPr lang="en-US" sz="1300" dirty="0"/>
          </a:p>
        </p:txBody>
      </p:sp>
      <p:sp>
        <p:nvSpPr>
          <p:cNvPr id="30" name="Text 24"/>
          <p:cNvSpPr/>
          <p:nvPr/>
        </p:nvSpPr>
        <p:spPr>
          <a:xfrm>
            <a:off x="1154887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1F7A54"/>
                </a:solidFill>
                <a:latin typeface="Calibri" pitchFamily="34" charset="0"/>
                <a:ea typeface="Calibri" pitchFamily="34" charset="-122"/>
                <a:cs typeface="Calibri" pitchFamily="34" charset="-120"/>
              </a:rPr>
              <a:t>HONEST ASSESSMENT</a:t>
            </a:r>
            <a:endParaRPr lang="en-US" sz="1300" dirty="0"/>
          </a:p>
        </p:txBody>
      </p:sp>
      <p:sp>
        <p:nvSpPr>
          <p:cNvPr id="3" name="Text 1"/>
          <p:cNvSpPr/>
          <p:nvPr/>
        </p:nvSpPr>
        <p:spPr>
          <a:xfrm>
            <a:off x="548640" y="658368"/>
            <a:ext cx="9601200" cy="822960"/>
          </a:xfrm>
          <a:prstGeom prst="rect">
            <a:avLst/>
          </a:prstGeom>
          <a:noFill/>
          <a:ln/>
        </p:spPr>
        <p:txBody>
          <a:bodyPr wrap="square" rtlCol="0" anchor="ctr"/>
          <a:lstStyle/>
          <a:p>
            <a:pPr marL="0" indent="0">
              <a:buNone/>
            </a:pPr>
            <a:r>
              <a:rPr lang="en-US" sz="3200" b="1" dirty="0">
                <a:solidFill>
                  <a:srgbClr val="16201C"/>
                </a:solidFill>
                <a:latin typeface="Cambria" pitchFamily="34" charset="0"/>
                <a:ea typeface="Cambria" pitchFamily="34" charset="-122"/>
                <a:cs typeface="Cambria" pitchFamily="34" charset="-120"/>
              </a:rPr>
              <a:t>What's left to do</a:t>
            </a:r>
            <a:endParaRPr lang="en-US" sz="3200" dirty="0"/>
          </a:p>
        </p:txBody>
      </p:sp>
      <p:sp>
        <p:nvSpPr>
          <p:cNvPr id="4" name="Shape 2"/>
          <p:cNvSpPr/>
          <p:nvPr/>
        </p:nvSpPr>
        <p:spPr>
          <a:xfrm>
            <a:off x="548640" y="1874520"/>
            <a:ext cx="5212080" cy="4434840"/>
          </a:xfrm>
          <a:prstGeom prst="roundRect">
            <a:avLst>
              <a:gd name="adj" fmla="val 2474"/>
            </a:avLst>
          </a:prstGeom>
          <a:solidFill>
            <a:srgbClr val="F1F5F3"/>
          </a:solidFill>
          <a:ln/>
        </p:spPr>
      </p:sp>
      <p:sp>
        <p:nvSpPr>
          <p:cNvPr id="5" name="Shape 3"/>
          <p:cNvSpPr/>
          <p:nvPr/>
        </p:nvSpPr>
        <p:spPr>
          <a:xfrm>
            <a:off x="868680" y="2148840"/>
            <a:ext cx="548640" cy="548640"/>
          </a:xfrm>
          <a:prstGeom prst="ellipse">
            <a:avLst/>
          </a:prstGeom>
          <a:solidFill>
            <a:srgbClr val="F76C6C"/>
          </a:solidFill>
          <a:ln/>
        </p:spPr>
      </p:sp>
      <p:pic>
        <p:nvPicPr>
          <p:cNvPr id="6" name="Image 0" descr="assets/icon_alert_FFFFFF.png"/>
          <p:cNvPicPr>
            <a:picLocks noChangeAspect="1"/>
          </p:cNvPicPr>
          <p:nvPr/>
        </p:nvPicPr>
        <p:blipFill>
          <a:blip r:embed="rId3"/>
          <a:stretch>
            <a:fillRect/>
          </a:stretch>
        </p:blipFill>
        <p:spPr>
          <a:xfrm>
            <a:off x="1011326" y="2291486"/>
            <a:ext cx="263347" cy="263347"/>
          </a:xfrm>
          <a:prstGeom prst="rect">
            <a:avLst/>
          </a:prstGeom>
        </p:spPr>
      </p:pic>
      <p:sp>
        <p:nvSpPr>
          <p:cNvPr id="7" name="Text 4"/>
          <p:cNvSpPr/>
          <p:nvPr/>
        </p:nvSpPr>
        <p:spPr>
          <a:xfrm>
            <a:off x="1554480" y="2212848"/>
            <a:ext cx="3657600" cy="457200"/>
          </a:xfrm>
          <a:prstGeom prst="rect">
            <a:avLst/>
          </a:prstGeom>
          <a:noFill/>
          <a:ln/>
        </p:spPr>
        <p:txBody>
          <a:bodyPr wrap="square" rtlCol="0" anchor="ctr"/>
          <a:lstStyle/>
          <a:p>
            <a:pPr marL="0" indent="0">
              <a:buNone/>
            </a:pPr>
            <a:r>
              <a:rPr lang="en-US" sz="1800" b="1" dirty="0">
                <a:solidFill>
                  <a:srgbClr val="16201C"/>
                </a:solidFill>
                <a:latin typeface="Cambria" pitchFamily="34" charset="0"/>
                <a:ea typeface="Cambria" pitchFamily="34" charset="-122"/>
                <a:cs typeface="Cambria" pitchFamily="34" charset="-120"/>
              </a:rPr>
              <a:t>Limitations</a:t>
            </a:r>
            <a:endParaRPr lang="en-US" sz="1800" dirty="0"/>
          </a:p>
        </p:txBody>
      </p:sp>
      <p:sp>
        <p:nvSpPr>
          <p:cNvPr id="8" name="Shape 5"/>
          <p:cNvSpPr/>
          <p:nvPr/>
        </p:nvSpPr>
        <p:spPr>
          <a:xfrm>
            <a:off x="868680" y="2980944"/>
            <a:ext cx="91440" cy="91440"/>
          </a:xfrm>
          <a:prstGeom prst="ellipse">
            <a:avLst/>
          </a:prstGeom>
          <a:solidFill>
            <a:srgbClr val="F76C6C"/>
          </a:solidFill>
          <a:ln/>
        </p:spPr>
      </p:sp>
      <p:sp>
        <p:nvSpPr>
          <p:cNvPr id="9" name="Text 6"/>
          <p:cNvSpPr/>
          <p:nvPr/>
        </p:nvSpPr>
        <p:spPr>
          <a:xfrm>
            <a:off x="1143000" y="2834640"/>
            <a:ext cx="4297680" cy="548640"/>
          </a:xfrm>
          <a:prstGeom prst="rect">
            <a:avLst/>
          </a:prstGeom>
          <a:noFill/>
          <a:ln/>
        </p:spPr>
        <p:txBody>
          <a:bodyPr wrap="square" rtlCol="0" anchor="ctr"/>
          <a:lstStyle/>
          <a:p>
            <a:pPr marL="0" indent="0">
              <a:buNone/>
            </a:pPr>
            <a:r>
              <a:rPr lang="en-US" sz="1200" dirty="0">
                <a:solidFill>
                  <a:srgbClr val="16201C"/>
                </a:solidFill>
                <a:latin typeface="Calibri" pitchFamily="34" charset="0"/>
                <a:ea typeface="Calibri" pitchFamily="34" charset="-122"/>
                <a:cs typeface="Calibri" pitchFamily="34" charset="-120"/>
              </a:rPr>
              <a:t>Portion validated on a small, developer-collected sample (16% MAPE) — not an independent one</a:t>
            </a:r>
            <a:endParaRPr lang="en-US" sz="1200" dirty="0"/>
          </a:p>
        </p:txBody>
      </p:sp>
      <p:sp>
        <p:nvSpPr>
          <p:cNvPr id="10" name="Shape 7"/>
          <p:cNvSpPr/>
          <p:nvPr/>
        </p:nvSpPr>
        <p:spPr>
          <a:xfrm>
            <a:off x="868680" y="3602736"/>
            <a:ext cx="91440" cy="91440"/>
          </a:xfrm>
          <a:prstGeom prst="ellipse">
            <a:avLst/>
          </a:prstGeom>
          <a:solidFill>
            <a:srgbClr val="F76C6C"/>
          </a:solidFill>
          <a:ln/>
        </p:spPr>
      </p:sp>
      <p:sp>
        <p:nvSpPr>
          <p:cNvPr id="11" name="Text 8"/>
          <p:cNvSpPr/>
          <p:nvPr/>
        </p:nvSpPr>
        <p:spPr>
          <a:xfrm>
            <a:off x="1143000" y="3456432"/>
            <a:ext cx="4297680" cy="548640"/>
          </a:xfrm>
          <a:prstGeom prst="rect">
            <a:avLst/>
          </a:prstGeom>
          <a:noFill/>
          <a:ln/>
        </p:spPr>
        <p:txBody>
          <a:bodyPr wrap="square" rtlCol="0" anchor="ctr"/>
          <a:lstStyle/>
          <a:p>
            <a:pPr marL="0" indent="0">
              <a:buNone/>
            </a:pPr>
            <a:r>
              <a:rPr lang="en-US" sz="1200" dirty="0">
                <a:solidFill>
                  <a:srgbClr val="16201C"/>
                </a:solidFill>
                <a:latin typeface="Calibri" pitchFamily="34" charset="0"/>
                <a:ea typeface="Calibri" pitchFamily="34" charset="-122"/>
                <a:cs typeface="Calibri" pitchFamily="34" charset="-120"/>
              </a:rPr>
              <a:t>Single-dish recognition only — no composite/mixed-plate support</a:t>
            </a:r>
            <a:endParaRPr lang="en-US" sz="1200" dirty="0"/>
          </a:p>
        </p:txBody>
      </p:sp>
      <p:sp>
        <p:nvSpPr>
          <p:cNvPr id="12" name="Shape 9"/>
          <p:cNvSpPr/>
          <p:nvPr/>
        </p:nvSpPr>
        <p:spPr>
          <a:xfrm>
            <a:off x="868680" y="4224528"/>
            <a:ext cx="91440" cy="91440"/>
          </a:xfrm>
          <a:prstGeom prst="ellipse">
            <a:avLst/>
          </a:prstGeom>
          <a:solidFill>
            <a:srgbClr val="F76C6C"/>
          </a:solidFill>
          <a:ln/>
        </p:spPr>
      </p:sp>
      <p:sp>
        <p:nvSpPr>
          <p:cNvPr id="13" name="Text 10"/>
          <p:cNvSpPr/>
          <p:nvPr/>
        </p:nvSpPr>
        <p:spPr>
          <a:xfrm>
            <a:off x="1143000" y="4078224"/>
            <a:ext cx="4297680" cy="548640"/>
          </a:xfrm>
          <a:prstGeom prst="rect">
            <a:avLst/>
          </a:prstGeom>
          <a:noFill/>
          <a:ln/>
        </p:spPr>
        <p:txBody>
          <a:bodyPr wrap="square" rtlCol="0" anchor="ctr"/>
          <a:lstStyle/>
          <a:p>
            <a:pPr marL="0" indent="0">
              <a:buNone/>
            </a:pPr>
            <a:r>
              <a:rPr lang="en-US" sz="1200" dirty="0">
                <a:solidFill>
                  <a:srgbClr val="16201C"/>
                </a:solidFill>
                <a:latin typeface="Calibri" pitchFamily="34" charset="0"/>
                <a:ea typeface="Calibri" pitchFamily="34" charset="-122"/>
                <a:cs typeface="Calibri" pitchFamily="34" charset="-120"/>
              </a:rPr>
              <a:t>Closed 101-class set — no Arabic/regional cuisine, and a dish with no class is confidently mislabelled</a:t>
            </a:r>
            <a:endParaRPr lang="en-US" sz="1200" dirty="0"/>
          </a:p>
        </p:txBody>
      </p:sp>
      <p:sp>
        <p:nvSpPr>
          <p:cNvPr id="14" name="Shape 11"/>
          <p:cNvSpPr/>
          <p:nvPr/>
        </p:nvSpPr>
        <p:spPr>
          <a:xfrm>
            <a:off x="868680" y="4846320"/>
            <a:ext cx="91440" cy="91440"/>
          </a:xfrm>
          <a:prstGeom prst="ellipse">
            <a:avLst/>
          </a:prstGeom>
          <a:solidFill>
            <a:srgbClr val="F76C6C"/>
          </a:solidFill>
          <a:ln/>
        </p:spPr>
      </p:sp>
      <p:sp>
        <p:nvSpPr>
          <p:cNvPr id="15" name="Text 12"/>
          <p:cNvSpPr/>
          <p:nvPr/>
        </p:nvSpPr>
        <p:spPr>
          <a:xfrm>
            <a:off x="1143000" y="4700016"/>
            <a:ext cx="4297680" cy="548640"/>
          </a:xfrm>
          <a:prstGeom prst="rect">
            <a:avLst/>
          </a:prstGeom>
          <a:noFill/>
          <a:ln/>
        </p:spPr>
        <p:txBody>
          <a:bodyPr wrap="square" rtlCol="0" anchor="ctr"/>
          <a:lstStyle/>
          <a:p>
            <a:pPr marL="0" indent="0">
              <a:buNone/>
            </a:pPr>
            <a:r>
              <a:rPr lang="en-US" sz="1200" dirty="0">
                <a:solidFill>
                  <a:srgbClr val="16201C"/>
                </a:solidFill>
                <a:latin typeface="Calibri" pitchFamily="34" charset="0"/>
                <a:ea typeface="Calibri" pitchFamily="34" charset="-122"/>
                <a:cs typeface="Calibri" pitchFamily="34" charset="-120"/>
              </a:rPr>
              <a:t>CPU inference — several seconds per request without a GPU; reference-object scaling ships opt-in</a:t>
            </a:r>
            <a:endParaRPr lang="en-US" sz="1200" dirty="0"/>
          </a:p>
        </p:txBody>
      </p:sp>
      <p:sp>
        <p:nvSpPr>
          <p:cNvPr id="16" name="Shape 13"/>
          <p:cNvSpPr/>
          <p:nvPr/>
        </p:nvSpPr>
        <p:spPr>
          <a:xfrm>
            <a:off x="868680" y="5468112"/>
            <a:ext cx="91440" cy="91440"/>
          </a:xfrm>
          <a:prstGeom prst="ellipse">
            <a:avLst/>
          </a:prstGeom>
          <a:solidFill>
            <a:srgbClr val="F76C6C"/>
          </a:solidFill>
          <a:ln/>
        </p:spPr>
      </p:sp>
      <p:sp>
        <p:nvSpPr>
          <p:cNvPr id="17" name="Text 14"/>
          <p:cNvSpPr/>
          <p:nvPr/>
        </p:nvSpPr>
        <p:spPr>
          <a:xfrm>
            <a:off x="1143000" y="5321808"/>
            <a:ext cx="4297680" cy="548640"/>
          </a:xfrm>
          <a:prstGeom prst="rect">
            <a:avLst/>
          </a:prstGeom>
          <a:noFill/>
          <a:ln/>
        </p:spPr>
        <p:txBody>
          <a:bodyPr wrap="square" rtlCol="0" anchor="ctr"/>
          <a:lstStyle/>
          <a:p>
            <a:pPr marL="0" indent="0">
              <a:buNone/>
            </a:pPr>
            <a:r>
              <a:rPr lang="en-US" sz="1200" dirty="0">
                <a:solidFill>
                  <a:srgbClr val="16201C"/>
                </a:solidFill>
                <a:latin typeface="Calibri" pitchFamily="34" charset="0"/>
                <a:ea typeface="Calibri" pitchFamily="34" charset="-122"/>
                <a:cs typeface="Calibri" pitchFamily="34" charset="-120"/>
              </a:rPr>
              <a:t>Account deletion (FR14) not yet implemented</a:t>
            </a:r>
            <a:endParaRPr lang="en-US" sz="1200" dirty="0"/>
          </a:p>
        </p:txBody>
      </p:sp>
      <p:sp>
        <p:nvSpPr>
          <p:cNvPr id="18" name="Shape 15"/>
          <p:cNvSpPr/>
          <p:nvPr/>
        </p:nvSpPr>
        <p:spPr>
          <a:xfrm>
            <a:off x="6035040" y="1874520"/>
            <a:ext cx="5577840" cy="4434840"/>
          </a:xfrm>
          <a:prstGeom prst="roundRect">
            <a:avLst>
              <a:gd name="adj" fmla="val 2474"/>
            </a:avLst>
          </a:prstGeom>
          <a:solidFill>
            <a:srgbClr val="14181A"/>
          </a:solidFill>
          <a:ln/>
        </p:spPr>
      </p:sp>
      <p:sp>
        <p:nvSpPr>
          <p:cNvPr id="19" name="Shape 16"/>
          <p:cNvSpPr/>
          <p:nvPr/>
        </p:nvSpPr>
        <p:spPr>
          <a:xfrm>
            <a:off x="6355080" y="2148840"/>
            <a:ext cx="548640" cy="548640"/>
          </a:xfrm>
          <a:prstGeom prst="ellipse">
            <a:avLst/>
          </a:prstGeom>
          <a:solidFill>
            <a:srgbClr val="3DDC97"/>
          </a:solidFill>
          <a:ln/>
        </p:spPr>
      </p:sp>
      <p:pic>
        <p:nvPicPr>
          <p:cNvPr id="20" name="Image 1" descr="assets/icon_compass_14181A.png"/>
          <p:cNvPicPr>
            <a:picLocks noChangeAspect="1"/>
          </p:cNvPicPr>
          <p:nvPr/>
        </p:nvPicPr>
        <p:blipFill>
          <a:blip r:embed="rId4"/>
          <a:stretch>
            <a:fillRect/>
          </a:stretch>
        </p:blipFill>
        <p:spPr>
          <a:xfrm>
            <a:off x="6497726" y="2291486"/>
            <a:ext cx="263347" cy="263347"/>
          </a:xfrm>
          <a:prstGeom prst="rect">
            <a:avLst/>
          </a:prstGeom>
        </p:spPr>
      </p:pic>
      <p:sp>
        <p:nvSpPr>
          <p:cNvPr id="21" name="Text 17"/>
          <p:cNvSpPr/>
          <p:nvPr/>
        </p:nvSpPr>
        <p:spPr>
          <a:xfrm>
            <a:off x="7040880" y="2212848"/>
            <a:ext cx="365760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Future Work</a:t>
            </a:r>
            <a:endParaRPr lang="en-US" sz="1800" dirty="0"/>
          </a:p>
        </p:txBody>
      </p:sp>
      <p:sp>
        <p:nvSpPr>
          <p:cNvPr id="22" name="Shape 18"/>
          <p:cNvSpPr/>
          <p:nvPr/>
        </p:nvSpPr>
        <p:spPr>
          <a:xfrm>
            <a:off x="6355080" y="2871216"/>
            <a:ext cx="384048" cy="384048"/>
          </a:xfrm>
          <a:prstGeom prst="ellipse">
            <a:avLst/>
          </a:prstGeom>
          <a:solidFill>
            <a:srgbClr val="1E2623"/>
          </a:solidFill>
          <a:ln/>
        </p:spPr>
      </p:sp>
      <p:sp>
        <p:nvSpPr>
          <p:cNvPr id="23" name="Text 19"/>
          <p:cNvSpPr/>
          <p:nvPr/>
        </p:nvSpPr>
        <p:spPr>
          <a:xfrm>
            <a:off x="6355080" y="2871216"/>
            <a:ext cx="384048" cy="384048"/>
          </a:xfrm>
          <a:prstGeom prst="rect">
            <a:avLst/>
          </a:prstGeom>
          <a:noFill/>
          <a:ln/>
        </p:spPr>
        <p:txBody>
          <a:bodyPr wrap="square" rtlCol="0" anchor="ctr"/>
          <a:lstStyle/>
          <a:p>
            <a:pPr marL="0" indent="0" algn="ctr">
              <a:buNone/>
            </a:pPr>
            <a:r>
              <a:rPr lang="en-US" sz="1300" b="1" dirty="0">
                <a:solidFill>
                  <a:srgbClr val="3DDC97"/>
                </a:solidFill>
                <a:latin typeface="Calibri" pitchFamily="34" charset="0"/>
                <a:ea typeface="Calibri" pitchFamily="34" charset="-122"/>
                <a:cs typeface="Calibri" pitchFamily="34" charset="-120"/>
              </a:rPr>
              <a:t>1</a:t>
            </a:r>
            <a:endParaRPr lang="en-US" sz="1300" dirty="0"/>
          </a:p>
        </p:txBody>
      </p:sp>
      <p:sp>
        <p:nvSpPr>
          <p:cNvPr id="24" name="Text 20"/>
          <p:cNvSpPr/>
          <p:nvPr/>
        </p:nvSpPr>
        <p:spPr>
          <a:xfrm>
            <a:off x="6858000" y="2807208"/>
            <a:ext cx="4434840" cy="548640"/>
          </a:xfrm>
          <a:prstGeom prst="rect">
            <a:avLst/>
          </a:prstGeom>
          <a:noFill/>
          <a:ln/>
        </p:spPr>
        <p:txBody>
          <a:bodyPr wrap="square" rtlCol="0" anchor="ctr"/>
          <a:lstStyle/>
          <a:p>
            <a:pPr marL="0" indent="0">
              <a:buNone/>
            </a:pPr>
            <a:r>
              <a:rPr lang="en-US" sz="1200" dirty="0">
                <a:solidFill>
                  <a:srgbClr val="D4DAD7"/>
                </a:solidFill>
                <a:latin typeface="Calibri" pitchFamily="34" charset="0"/>
                <a:ea typeface="Calibri" pitchFamily="34" charset="-122"/>
                <a:cs typeface="Calibri" pitchFamily="34" charset="-120"/>
              </a:rPr>
              <a:t>Extend portion validation to a larger, independently-collected weighed sample</a:t>
            </a:r>
            <a:endParaRPr lang="en-US" sz="1200" dirty="0"/>
          </a:p>
        </p:txBody>
      </p:sp>
      <p:sp>
        <p:nvSpPr>
          <p:cNvPr id="25" name="Shape 21"/>
          <p:cNvSpPr/>
          <p:nvPr/>
        </p:nvSpPr>
        <p:spPr>
          <a:xfrm>
            <a:off x="6355080" y="3493008"/>
            <a:ext cx="384048" cy="384048"/>
          </a:xfrm>
          <a:prstGeom prst="ellipse">
            <a:avLst/>
          </a:prstGeom>
          <a:solidFill>
            <a:srgbClr val="1E2623"/>
          </a:solidFill>
          <a:ln/>
        </p:spPr>
      </p:sp>
      <p:sp>
        <p:nvSpPr>
          <p:cNvPr id="26" name="Text 22"/>
          <p:cNvSpPr/>
          <p:nvPr/>
        </p:nvSpPr>
        <p:spPr>
          <a:xfrm>
            <a:off x="6355080" y="3493008"/>
            <a:ext cx="384048" cy="384048"/>
          </a:xfrm>
          <a:prstGeom prst="rect">
            <a:avLst/>
          </a:prstGeom>
          <a:noFill/>
          <a:ln/>
        </p:spPr>
        <p:txBody>
          <a:bodyPr wrap="square" rtlCol="0" anchor="ctr"/>
          <a:lstStyle/>
          <a:p>
            <a:pPr marL="0" indent="0" algn="ctr">
              <a:buNone/>
            </a:pPr>
            <a:r>
              <a:rPr lang="en-US" sz="1300" b="1" dirty="0">
                <a:solidFill>
                  <a:srgbClr val="3DDC97"/>
                </a:solidFill>
                <a:latin typeface="Calibri" pitchFamily="34" charset="0"/>
                <a:ea typeface="Calibri" pitchFamily="34" charset="-122"/>
                <a:cs typeface="Calibri" pitchFamily="34" charset="-120"/>
              </a:rPr>
              <a:t>2</a:t>
            </a:r>
            <a:endParaRPr lang="en-US" sz="1300" dirty="0"/>
          </a:p>
        </p:txBody>
      </p:sp>
      <p:sp>
        <p:nvSpPr>
          <p:cNvPr id="27" name="Text 23"/>
          <p:cNvSpPr/>
          <p:nvPr/>
        </p:nvSpPr>
        <p:spPr>
          <a:xfrm>
            <a:off x="6858000" y="3429000"/>
            <a:ext cx="4434840" cy="548640"/>
          </a:xfrm>
          <a:prstGeom prst="rect">
            <a:avLst/>
          </a:prstGeom>
          <a:noFill/>
          <a:ln/>
        </p:spPr>
        <p:txBody>
          <a:bodyPr wrap="square" rtlCol="0" anchor="ctr"/>
          <a:lstStyle/>
          <a:p>
            <a:pPr marL="0" indent="0">
              <a:buNone/>
            </a:pPr>
            <a:r>
              <a:rPr lang="en-US" sz="1200" dirty="0">
                <a:solidFill>
                  <a:srgbClr val="D4DAD7"/>
                </a:solidFill>
                <a:latin typeface="Calibri" pitchFamily="34" charset="0"/>
                <a:ea typeface="Calibri" pitchFamily="34" charset="-122"/>
                <a:cs typeface="Calibri" pitchFamily="34" charset="-120"/>
              </a:rPr>
              <a:t>Multi-dish recognition via segmentation or multi-label classification</a:t>
            </a:r>
            <a:endParaRPr lang="en-US" sz="1200" dirty="0"/>
          </a:p>
        </p:txBody>
      </p:sp>
      <p:sp>
        <p:nvSpPr>
          <p:cNvPr id="28" name="Shape 24"/>
          <p:cNvSpPr/>
          <p:nvPr/>
        </p:nvSpPr>
        <p:spPr>
          <a:xfrm>
            <a:off x="6355080" y="4114800"/>
            <a:ext cx="384048" cy="384048"/>
          </a:xfrm>
          <a:prstGeom prst="ellipse">
            <a:avLst/>
          </a:prstGeom>
          <a:solidFill>
            <a:srgbClr val="1E2623"/>
          </a:solidFill>
          <a:ln/>
        </p:spPr>
      </p:sp>
      <p:sp>
        <p:nvSpPr>
          <p:cNvPr id="29" name="Text 25"/>
          <p:cNvSpPr/>
          <p:nvPr/>
        </p:nvSpPr>
        <p:spPr>
          <a:xfrm>
            <a:off x="6355080" y="4114800"/>
            <a:ext cx="384048" cy="384048"/>
          </a:xfrm>
          <a:prstGeom prst="rect">
            <a:avLst/>
          </a:prstGeom>
          <a:noFill/>
          <a:ln/>
        </p:spPr>
        <p:txBody>
          <a:bodyPr wrap="square" rtlCol="0" anchor="ctr"/>
          <a:lstStyle/>
          <a:p>
            <a:pPr marL="0" indent="0" algn="ctr">
              <a:buNone/>
            </a:pPr>
            <a:r>
              <a:rPr lang="en-US" sz="1300" b="1" dirty="0">
                <a:solidFill>
                  <a:srgbClr val="3DDC97"/>
                </a:solidFill>
                <a:latin typeface="Calibri" pitchFamily="34" charset="0"/>
                <a:ea typeface="Calibri" pitchFamily="34" charset="-122"/>
                <a:cs typeface="Calibri" pitchFamily="34" charset="-120"/>
              </a:rPr>
              <a:t>3</a:t>
            </a:r>
            <a:endParaRPr lang="en-US" sz="1300" dirty="0"/>
          </a:p>
        </p:txBody>
      </p:sp>
      <p:sp>
        <p:nvSpPr>
          <p:cNvPr id="30" name="Text 26"/>
          <p:cNvSpPr/>
          <p:nvPr/>
        </p:nvSpPr>
        <p:spPr>
          <a:xfrm>
            <a:off x="6858000" y="4050792"/>
            <a:ext cx="4434840" cy="548640"/>
          </a:xfrm>
          <a:prstGeom prst="rect">
            <a:avLst/>
          </a:prstGeom>
          <a:noFill/>
          <a:ln/>
        </p:spPr>
        <p:txBody>
          <a:bodyPr wrap="square" rtlCol="0" anchor="ctr"/>
          <a:lstStyle/>
          <a:p>
            <a:pPr marL="0" indent="0">
              <a:buNone/>
            </a:pPr>
            <a:r>
              <a:rPr lang="en-US" sz="1200" dirty="0">
                <a:solidFill>
                  <a:srgbClr val="D4DAD7"/>
                </a:solidFill>
                <a:latin typeface="Calibri" pitchFamily="34" charset="0"/>
                <a:ea typeface="Calibri" pitchFamily="34" charset="-122"/>
                <a:cs typeface="Calibri" pitchFamily="34" charset="-120"/>
              </a:rPr>
              <a:t>Fine-tune on a regional Arabic / Levantine dataset</a:t>
            </a:r>
            <a:endParaRPr lang="en-US" sz="1200" dirty="0"/>
          </a:p>
        </p:txBody>
      </p:sp>
      <p:sp>
        <p:nvSpPr>
          <p:cNvPr id="31" name="Shape 27"/>
          <p:cNvSpPr/>
          <p:nvPr/>
        </p:nvSpPr>
        <p:spPr>
          <a:xfrm>
            <a:off x="6355080" y="4736592"/>
            <a:ext cx="384048" cy="384048"/>
          </a:xfrm>
          <a:prstGeom prst="ellipse">
            <a:avLst/>
          </a:prstGeom>
          <a:solidFill>
            <a:srgbClr val="1E2623"/>
          </a:solidFill>
          <a:ln/>
        </p:spPr>
      </p:sp>
      <p:sp>
        <p:nvSpPr>
          <p:cNvPr id="32" name="Text 28"/>
          <p:cNvSpPr/>
          <p:nvPr/>
        </p:nvSpPr>
        <p:spPr>
          <a:xfrm>
            <a:off x="6355080" y="4736592"/>
            <a:ext cx="384048" cy="384048"/>
          </a:xfrm>
          <a:prstGeom prst="rect">
            <a:avLst/>
          </a:prstGeom>
          <a:noFill/>
          <a:ln/>
        </p:spPr>
        <p:txBody>
          <a:bodyPr wrap="square" rtlCol="0" anchor="ctr"/>
          <a:lstStyle/>
          <a:p>
            <a:pPr marL="0" indent="0" algn="ctr">
              <a:buNone/>
            </a:pPr>
            <a:r>
              <a:rPr lang="en-US" sz="1300" b="1" dirty="0">
                <a:solidFill>
                  <a:srgbClr val="3DDC97"/>
                </a:solidFill>
                <a:latin typeface="Calibri" pitchFamily="34" charset="0"/>
                <a:ea typeface="Calibri" pitchFamily="34" charset="-122"/>
                <a:cs typeface="Calibri" pitchFamily="34" charset="-120"/>
              </a:rPr>
              <a:t>4</a:t>
            </a:r>
            <a:endParaRPr lang="en-US" sz="1300" dirty="0"/>
          </a:p>
        </p:txBody>
      </p:sp>
      <p:sp>
        <p:nvSpPr>
          <p:cNvPr id="33" name="Text 29"/>
          <p:cNvSpPr/>
          <p:nvPr/>
        </p:nvSpPr>
        <p:spPr>
          <a:xfrm>
            <a:off x="6858000" y="4672584"/>
            <a:ext cx="4434840" cy="548640"/>
          </a:xfrm>
          <a:prstGeom prst="rect">
            <a:avLst/>
          </a:prstGeom>
          <a:noFill/>
          <a:ln/>
        </p:spPr>
        <p:txBody>
          <a:bodyPr wrap="square" rtlCol="0" anchor="ctr"/>
          <a:lstStyle/>
          <a:p>
            <a:pPr marL="0" indent="0">
              <a:buNone/>
            </a:pPr>
            <a:r>
              <a:rPr lang="en-US" sz="1200" dirty="0">
                <a:solidFill>
                  <a:srgbClr val="D4DAD7"/>
                </a:solidFill>
                <a:latin typeface="Calibri" pitchFamily="34" charset="0"/>
                <a:ea typeface="Calibri" pitchFamily="34" charset="-122"/>
                <a:cs typeface="Calibri" pitchFamily="34" charset="-120"/>
              </a:rPr>
              <a:t>Complete the account-deletion endpoint (FR14)</a:t>
            </a:r>
            <a:endParaRPr lang="en-US" sz="1200" dirty="0"/>
          </a:p>
        </p:txBody>
      </p:sp>
      <p:sp>
        <p:nvSpPr>
          <p:cNvPr id="34" name="Shape 30"/>
          <p:cNvSpPr/>
          <p:nvPr/>
        </p:nvSpPr>
        <p:spPr>
          <a:xfrm>
            <a:off x="6355080" y="5358384"/>
            <a:ext cx="384048" cy="384048"/>
          </a:xfrm>
          <a:prstGeom prst="ellipse">
            <a:avLst/>
          </a:prstGeom>
          <a:solidFill>
            <a:srgbClr val="1E2623"/>
          </a:solidFill>
          <a:ln/>
        </p:spPr>
      </p:sp>
      <p:sp>
        <p:nvSpPr>
          <p:cNvPr id="35" name="Text 31"/>
          <p:cNvSpPr/>
          <p:nvPr/>
        </p:nvSpPr>
        <p:spPr>
          <a:xfrm>
            <a:off x="6355080" y="5358384"/>
            <a:ext cx="384048" cy="384048"/>
          </a:xfrm>
          <a:prstGeom prst="rect">
            <a:avLst/>
          </a:prstGeom>
          <a:noFill/>
          <a:ln/>
        </p:spPr>
        <p:txBody>
          <a:bodyPr wrap="square" rtlCol="0" anchor="ctr"/>
          <a:lstStyle/>
          <a:p>
            <a:pPr marL="0" indent="0" algn="ctr">
              <a:buNone/>
            </a:pPr>
            <a:r>
              <a:rPr lang="en-US" sz="1300" b="1" dirty="0">
                <a:solidFill>
                  <a:srgbClr val="3DDC97"/>
                </a:solidFill>
                <a:latin typeface="Calibri" pitchFamily="34" charset="0"/>
                <a:ea typeface="Calibri" pitchFamily="34" charset="-122"/>
                <a:cs typeface="Calibri" pitchFamily="34" charset="-120"/>
              </a:rPr>
              <a:t>5</a:t>
            </a:r>
            <a:endParaRPr lang="en-US" sz="1300" dirty="0"/>
          </a:p>
        </p:txBody>
      </p:sp>
      <p:sp>
        <p:nvSpPr>
          <p:cNvPr id="36" name="Text 32"/>
          <p:cNvSpPr/>
          <p:nvPr/>
        </p:nvSpPr>
        <p:spPr>
          <a:xfrm>
            <a:off x="6858000" y="5294376"/>
            <a:ext cx="4434840" cy="548640"/>
          </a:xfrm>
          <a:prstGeom prst="rect">
            <a:avLst/>
          </a:prstGeom>
          <a:noFill/>
          <a:ln/>
        </p:spPr>
        <p:txBody>
          <a:bodyPr wrap="square" rtlCol="0" anchor="ctr"/>
          <a:lstStyle/>
          <a:p>
            <a:pPr marL="0" indent="0">
              <a:buNone/>
            </a:pPr>
            <a:r>
              <a:rPr lang="en-US" sz="1200" dirty="0">
                <a:solidFill>
                  <a:srgbClr val="D4DAD7"/>
                </a:solidFill>
                <a:latin typeface="Calibri" pitchFamily="34" charset="0"/>
                <a:ea typeface="Calibri" pitchFamily="34" charset="-122"/>
                <a:cs typeface="Calibri" pitchFamily="34" charset="-120"/>
              </a:rPr>
              <a:t>Open-set LLM fallback for foods Food-101 cannot name (designed, not built)</a:t>
            </a:r>
            <a:endParaRPr lang="en-US" sz="1200" dirty="0"/>
          </a:p>
        </p:txBody>
      </p:sp>
      <p:sp>
        <p:nvSpPr>
          <p:cNvPr id="37" name="Text 33"/>
          <p:cNvSpPr/>
          <p:nvPr/>
        </p:nvSpPr>
        <p:spPr>
          <a:xfrm>
            <a:off x="1154887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14181A"/>
        </a:solidFill>
        <a:effectLst/>
      </p:bgPr>
    </p:bg>
    <p:spTree>
      <p:nvGrpSpPr>
        <p:cNvPr id="1" name=""/>
        <p:cNvGrpSpPr/>
        <p:nvPr/>
      </p:nvGrpSpPr>
      <p:grpSpPr>
        <a:xfrm>
          <a:off x="0" y="0"/>
          <a:ext cx="0" cy="0"/>
          <a:chOff x="0" y="0"/>
          <a:chExt cx="0" cy="0"/>
        </a:xfrm>
      </p:grpSpPr>
      <p:sp>
        <p:nvSpPr>
          <p:cNvPr id="2" name="Shape 0"/>
          <p:cNvSpPr/>
          <p:nvPr/>
        </p:nvSpPr>
        <p:spPr>
          <a:xfrm>
            <a:off x="-1828800" y="-2011680"/>
            <a:ext cx="5029200" cy="5029200"/>
          </a:xfrm>
          <a:prstGeom prst="ellipse">
            <a:avLst/>
          </a:prstGeom>
          <a:solidFill>
            <a:srgbClr val="1E2623"/>
          </a:solidFill>
          <a:ln/>
        </p:spPr>
      </p:sp>
      <p:sp>
        <p:nvSpPr>
          <p:cNvPr id="3" name="Shape 1"/>
          <p:cNvSpPr/>
          <p:nvPr/>
        </p:nvSpPr>
        <p:spPr>
          <a:xfrm>
            <a:off x="9875520" y="4206240"/>
            <a:ext cx="4572000" cy="4572000"/>
          </a:xfrm>
          <a:prstGeom prst="ellipse">
            <a:avLst/>
          </a:prstGeom>
          <a:solidFill>
            <a:srgbClr val="1E2623"/>
          </a:solidFill>
          <a:ln/>
        </p:spPr>
      </p:sp>
      <p:sp>
        <p:nvSpPr>
          <p:cNvPr id="4" name="Shape 2"/>
          <p:cNvSpPr/>
          <p:nvPr/>
        </p:nvSpPr>
        <p:spPr>
          <a:xfrm>
            <a:off x="5774436" y="914400"/>
            <a:ext cx="640080" cy="640080"/>
          </a:xfrm>
          <a:prstGeom prst="roundRect">
            <a:avLst>
              <a:gd name="adj" fmla="val 25714"/>
            </a:avLst>
          </a:prstGeom>
          <a:solidFill>
            <a:srgbClr val="3DDC97"/>
          </a:solidFill>
          <a:ln/>
        </p:spPr>
      </p:sp>
      <p:sp>
        <p:nvSpPr>
          <p:cNvPr id="5" name="Text 3"/>
          <p:cNvSpPr/>
          <p:nvPr/>
        </p:nvSpPr>
        <p:spPr>
          <a:xfrm>
            <a:off x="5774436" y="914400"/>
            <a:ext cx="640080" cy="640080"/>
          </a:xfrm>
          <a:prstGeom prst="rect">
            <a:avLst/>
          </a:prstGeom>
          <a:noFill/>
          <a:ln/>
        </p:spPr>
        <p:txBody>
          <a:bodyPr wrap="square" rtlCol="0" anchor="ctr"/>
          <a:lstStyle/>
          <a:p>
            <a:pPr marL="0" indent="0" algn="ctr">
              <a:buNone/>
            </a:pPr>
            <a:r>
              <a:rPr lang="en-US" sz="3000" b="1" dirty="0">
                <a:solidFill>
                  <a:srgbClr val="14181A"/>
                </a:solidFill>
                <a:latin typeface="Cambria" pitchFamily="34" charset="0"/>
                <a:ea typeface="Cambria" pitchFamily="34" charset="-122"/>
                <a:cs typeface="Cambria" pitchFamily="34" charset="-120"/>
              </a:rPr>
              <a:t>N</a:t>
            </a:r>
            <a:endParaRPr lang="en-US" sz="3000" dirty="0"/>
          </a:p>
        </p:txBody>
      </p:sp>
      <p:sp>
        <p:nvSpPr>
          <p:cNvPr id="6" name="Text 4"/>
          <p:cNvSpPr/>
          <p:nvPr/>
        </p:nvSpPr>
        <p:spPr>
          <a:xfrm>
            <a:off x="0" y="1874520"/>
            <a:ext cx="12188952" cy="100584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7" name="Text 5"/>
          <p:cNvSpPr/>
          <p:nvPr/>
        </p:nvSpPr>
        <p:spPr>
          <a:xfrm>
            <a:off x="1979676" y="2880360"/>
            <a:ext cx="8229600" cy="640080"/>
          </a:xfrm>
          <a:prstGeom prst="rect">
            <a:avLst/>
          </a:prstGeom>
          <a:noFill/>
          <a:ln/>
        </p:spPr>
        <p:txBody>
          <a:bodyPr wrap="square" rtlCol="0" anchor="ctr"/>
          <a:lstStyle/>
          <a:p>
            <a:pPr marL="0" indent="0" algn="ctr">
              <a:buNone/>
            </a:pPr>
            <a:r>
              <a:rPr lang="en-US" sz="1400" dirty="0">
                <a:solidFill>
                  <a:srgbClr val="C7CFCB"/>
                </a:solidFill>
                <a:latin typeface="Calibri" pitchFamily="34" charset="0"/>
                <a:ea typeface="Calibri" pitchFamily="34" charset="-122"/>
                <a:cs typeface="Calibri" pitchFamily="34" charset="-120"/>
              </a:rPr>
              <a:t>NutriLens turns a photo into a verified, personalised nutrition record — built, tested, and running end-to-end.</a:t>
            </a:r>
            <a:endParaRPr lang="en-US" sz="1400" dirty="0"/>
          </a:p>
        </p:txBody>
      </p:sp>
      <p:sp>
        <p:nvSpPr>
          <p:cNvPr id="8" name="Shape 6"/>
          <p:cNvSpPr/>
          <p:nvPr/>
        </p:nvSpPr>
        <p:spPr>
          <a:xfrm>
            <a:off x="4265676" y="3794760"/>
            <a:ext cx="3657600" cy="0"/>
          </a:xfrm>
          <a:prstGeom prst="line">
            <a:avLst/>
          </a:prstGeom>
          <a:noFill/>
          <a:ln w="12700">
            <a:solidFill>
              <a:srgbClr val="34403B"/>
            </a:solidFill>
            <a:prstDash val="solid"/>
          </a:ln>
        </p:spPr>
      </p:sp>
      <p:sp>
        <p:nvSpPr>
          <p:cNvPr id="9" name="Text 7"/>
          <p:cNvSpPr/>
          <p:nvPr/>
        </p:nvSpPr>
        <p:spPr>
          <a:xfrm>
            <a:off x="0" y="4023360"/>
            <a:ext cx="12188952"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Mohannad Alhemsi</a:t>
            </a:r>
            <a:r>
              <a:rPr lang="en-US" sz="1500" dirty="0">
                <a:solidFill>
                  <a:srgbClr val="6B7280"/>
                </a:solidFill>
                <a:latin typeface="Calibri" pitchFamily="34" charset="0"/>
                <a:ea typeface="Calibri" pitchFamily="34" charset="-122"/>
                <a:cs typeface="Calibri" pitchFamily="34" charset="-120"/>
              </a:rPr>
              <a:t>   &amp;   </a:t>
            </a:r>
            <a:r>
              <a:rPr lang="en-US" sz="1500" b="1" dirty="0">
                <a:solidFill>
                  <a:srgbClr val="FFFFFF"/>
                </a:solidFill>
                <a:latin typeface="Calibri" pitchFamily="34" charset="0"/>
                <a:ea typeface="Calibri" pitchFamily="34" charset="-122"/>
                <a:cs typeface="Calibri" pitchFamily="34" charset="-120"/>
              </a:rPr>
              <a:t>Shatha Alghrair</a:t>
            </a:r>
            <a:endParaRPr lang="en-US" sz="1500" dirty="0"/>
          </a:p>
        </p:txBody>
      </p:sp>
      <p:sp>
        <p:nvSpPr>
          <p:cNvPr id="10" name="Text 8"/>
          <p:cNvSpPr/>
          <p:nvPr/>
        </p:nvSpPr>
        <p:spPr>
          <a:xfrm>
            <a:off x="0" y="4370832"/>
            <a:ext cx="12188952" cy="320040"/>
          </a:xfrm>
          <a:prstGeom prst="rect">
            <a:avLst/>
          </a:prstGeom>
          <a:noFill/>
          <a:ln/>
        </p:spPr>
        <p:txBody>
          <a:bodyPr wrap="square"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Middle East University · Faculty of Information Technology</a:t>
            </a:r>
            <a:endParaRPr lang="en-US" sz="1200" dirty="0"/>
          </a:p>
        </p:txBody>
      </p:sp>
      <p:sp>
        <p:nvSpPr>
          <p:cNvPr id="11" name="Text 9"/>
          <p:cNvSpPr/>
          <p:nvPr/>
        </p:nvSpPr>
        <p:spPr>
          <a:xfrm>
            <a:off x="0" y="5212080"/>
            <a:ext cx="12188952" cy="457200"/>
          </a:xfrm>
          <a:prstGeom prst="rect">
            <a:avLst/>
          </a:prstGeom>
          <a:noFill/>
          <a:ln/>
        </p:spPr>
        <p:txBody>
          <a:bodyPr wrap="square" rtlCol="0" anchor="ctr"/>
          <a:lstStyle/>
          <a:p>
            <a:pPr marL="0" indent="0" algn="ctr">
              <a:buNone/>
            </a:pPr>
            <a:r>
              <a:rPr lang="en-US" sz="1800" b="1" dirty="0">
                <a:solidFill>
                  <a:srgbClr val="3DDC97"/>
                </a:solidFill>
                <a:latin typeface="Cambria" pitchFamily="34" charset="0"/>
                <a:ea typeface="Cambria" pitchFamily="34" charset="-122"/>
                <a:cs typeface="Cambria" pitchFamily="34" charset="-120"/>
              </a:rPr>
              <a:t>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3494</TotalTime>
  <Words>3239</Words>
  <Application>Microsoft Macintosh PowerPoint</Application>
  <PresentationFormat>Widescreen</PresentationFormat>
  <Paragraphs>424</Paragraphs>
  <Slides>24</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mohannad alhemsi</cp:lastModifiedBy>
  <cp:revision>3</cp:revision>
  <dcterms:created xsi:type="dcterms:W3CDTF">2026-08-22T14:33:33Z</dcterms:created>
  <dcterms:modified xsi:type="dcterms:W3CDTF">2026-08-31T21:18:22Z</dcterms:modified>
</cp:coreProperties>
</file>